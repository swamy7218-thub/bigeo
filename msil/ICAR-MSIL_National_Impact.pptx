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ICAR–MSIL national impact slide.
All claims are taken from the MSIL story source material: &gt;1,000 samples analysed (2018–2026); support to Food Safety Authorities, Police, Customs, Animal Husbandry, Forest/Wildlife Departments, Animal Quarantine and DRI; NABL accreditation (ISO/IEC 17025:2017); FSSAI referral / primary laboratory recognition; National Referral Laboratory; NETSCoFAN Lead Centre for Foods of Animal Origin; FAPAS proficiency testing; FSSAI Eat Right Research Team Award; innovations (species-specific PCR, duplex qPCR, HRMA, DNA microarray, ddPCR, miRNA, CRMs); training programmes; CRM initiative toward ISO 17034.
Before presenting: check the sample count and accreditation scope against the latest NABL certificate. If the certificate figure differs, replace '&gt;1,000' with the verified figure and do not mix the two. The 'ICAR' circle is an editable placeholder — replace it with the official ICAR and ICAR–NMRI logos.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image" Target="../media/image-1-22.png"/><Relationship Id="rId23" Type="http://schemas.openxmlformats.org/officeDocument/2006/relationships/image" Target="../media/image-1-23.png"/><Relationship Id="rId24" Type="http://schemas.openxmlformats.org/officeDocument/2006/relationships/image" Target="../media/image-1-24.png"/><Relationship Id="rId25" Type="http://schemas.openxmlformats.org/officeDocument/2006/relationships/image" Target="../media/image-1-25.png"/><Relationship Id="rId26" Type="http://schemas.openxmlformats.org/officeDocument/2006/relationships/slideLayout" Target="../slideLayouts/slideLayout1.xml"/><Relationship Id="rId2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1C44"/>
          </a:solidFill>
          <a:ln w="12700">
            <a:solidFill>
              <a:srgbClr val="0F1C4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164592"/>
            <a:ext cx="3108960" cy="9144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20040" y="219456"/>
            <a:ext cx="804672" cy="80467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9A227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320040" y="219456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ICAR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1298448" y="128016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ICAR–MSIL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3401568" y="155448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Meat Species Identification Laboratory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ICAR–National Meat Research Institute, Hyderabad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1298448" y="603504"/>
            <a:ext cx="6126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Molecular Science to National Food Authenticity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298448" y="932688"/>
            <a:ext cx="6126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6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testing  •  Regulatory support  •  Food authenticity  •  National service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7635240" y="18288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MSIL JOURNEY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7635240" y="429768"/>
            <a:ext cx="914400" cy="548640"/>
          </a:xfrm>
          <a:prstGeom prst="homePlate">
            <a:avLst/>
          </a:prstGeom>
          <a:solidFill>
            <a:srgbClr val="1F4E9A"/>
          </a:solidFill>
          <a:ln w="12700">
            <a:solidFill>
              <a:srgbClr val="1F4E9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680960" y="429768"/>
            <a:ext cx="603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8485632" y="429768"/>
            <a:ext cx="914400" cy="548640"/>
          </a:xfrm>
          <a:prstGeom prst="chevron">
            <a:avLst/>
          </a:prstGeom>
          <a:solidFill>
            <a:srgbClr val="1C6FA8"/>
          </a:solidFill>
          <a:ln w="12700">
            <a:solidFill>
              <a:srgbClr val="1C6FA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686800" y="429768"/>
            <a:ext cx="603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9336024" y="429768"/>
            <a:ext cx="914400" cy="548640"/>
          </a:xfrm>
          <a:prstGeom prst="chevron">
            <a:avLst/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537192" y="429768"/>
            <a:ext cx="603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10186416" y="429768"/>
            <a:ext cx="914400" cy="548640"/>
          </a:xfrm>
          <a:prstGeom prst="chevron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387584" y="429768"/>
            <a:ext cx="603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11036808" y="429768"/>
            <a:ext cx="914400" cy="548640"/>
          </a:xfrm>
          <a:prstGeom prst="chevron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1237976" y="429768"/>
            <a:ext cx="603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1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320040" y="1371600"/>
            <a:ext cx="2971800" cy="406908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19050" dir="5400000">
              <a:srgbClr val="0F1C44">
                <a:alpha val="12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484632" y="148132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</a:t>
            </a:r>
            <a:pPr indent="0" marL="0">
              <a:buNone/>
            </a:pPr>
            <a:r>
              <a:rPr lang="en-US" sz="900" b="1" spc="150" kern="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 &amp; QUALITY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484632" y="171907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MULTI-PLATFORM MOLECULAR TESTING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484632" y="2103120"/>
            <a:ext cx="219456" cy="219456"/>
          </a:xfrm>
          <a:prstGeom prst="ellipse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" y="2144268"/>
            <a:ext cx="137160" cy="137160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795528" y="2084832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PCR / qPCR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484632" y="2395728"/>
            <a:ext cx="219456" cy="219456"/>
          </a:xfrm>
          <a:prstGeom prst="ellipse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" y="2436876"/>
            <a:ext cx="137160" cy="137160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795528" y="2377440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PCR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484632" y="2688336"/>
            <a:ext cx="219456" cy="219456"/>
          </a:xfrm>
          <a:prstGeom prst="ellipse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" y="2729484"/>
            <a:ext cx="137160" cy="137160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795528" y="2670048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Duplex PCR</a:t>
            </a:r>
            <a:endParaRPr lang="en-US" sz="1050" dirty="0"/>
          </a:p>
        </p:txBody>
      </p:sp>
      <p:sp>
        <p:nvSpPr>
          <p:cNvPr id="33" name="Shape 27"/>
          <p:cNvSpPr/>
          <p:nvPr/>
        </p:nvSpPr>
        <p:spPr>
          <a:xfrm>
            <a:off x="484632" y="2980944"/>
            <a:ext cx="219456" cy="219456"/>
          </a:xfrm>
          <a:prstGeom prst="ellipse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780" y="3022092"/>
            <a:ext cx="137160" cy="137160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795528" y="2962656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PCR-RFLP and advanced molecular approaches</a:t>
            </a:r>
            <a:endParaRPr lang="en-US" sz="950" dirty="0"/>
          </a:p>
        </p:txBody>
      </p:sp>
      <p:sp>
        <p:nvSpPr>
          <p:cNvPr id="36" name="Shape 29"/>
          <p:cNvSpPr/>
          <p:nvPr/>
        </p:nvSpPr>
        <p:spPr>
          <a:xfrm>
            <a:off x="484632" y="3291840"/>
            <a:ext cx="2651760" cy="512064"/>
          </a:xfrm>
          <a:prstGeom prst="roundRect">
            <a:avLst>
              <a:gd name="adj" fmla="val 14286"/>
            </a:avLst>
          </a:prstGeom>
          <a:solidFill>
            <a:srgbClr val="1B2A5E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3383280"/>
            <a:ext cx="329184" cy="329184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1033272" y="3310128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17025:2017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NABL Accredited</a:t>
            </a:r>
            <a:endParaRPr lang="en-US" sz="1100" dirty="0"/>
          </a:p>
        </p:txBody>
      </p:sp>
      <p:sp>
        <p:nvSpPr>
          <p:cNvPr id="39" name="Text 31"/>
          <p:cNvSpPr txBox="1"/>
          <p:nvPr/>
        </p:nvSpPr>
        <p:spPr>
          <a:xfrm>
            <a:off x="484632" y="395020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F1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MULTIPLE-SPECIES IDENTIFICATION</a:t>
            </a:r>
            <a:endParaRPr lang="en-US" sz="900" dirty="0"/>
          </a:p>
        </p:txBody>
      </p:sp>
      <p:sp>
        <p:nvSpPr>
          <p:cNvPr id="40" name="Shape 32"/>
          <p:cNvSpPr/>
          <p:nvPr/>
        </p:nvSpPr>
        <p:spPr>
          <a:xfrm>
            <a:off x="484632" y="4224528"/>
            <a:ext cx="850392" cy="237744"/>
          </a:xfrm>
          <a:prstGeom prst="roundRect">
            <a:avLst>
              <a:gd name="adj" fmla="val 50000"/>
            </a:avLst>
          </a:prstGeom>
          <a:solidFill>
            <a:srgbClr val="EAF4F4"/>
          </a:solidFill>
          <a:ln w="9525">
            <a:solidFill>
              <a:srgbClr val="BFE0DF"/>
            </a:solidFill>
            <a:prstDash val="solid"/>
          </a:ln>
        </p:spPr>
      </p:sp>
      <p:sp>
        <p:nvSpPr>
          <p:cNvPr id="41" name="Text 33"/>
          <p:cNvSpPr txBox="1"/>
          <p:nvPr/>
        </p:nvSpPr>
        <p:spPr>
          <a:xfrm>
            <a:off x="484632" y="4224528"/>
            <a:ext cx="850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Cattle</a:t>
            </a:r>
            <a:endParaRPr lang="en-US" sz="900" dirty="0"/>
          </a:p>
        </p:txBody>
      </p:sp>
      <p:sp>
        <p:nvSpPr>
          <p:cNvPr id="42" name="Shape 34"/>
          <p:cNvSpPr/>
          <p:nvPr/>
        </p:nvSpPr>
        <p:spPr>
          <a:xfrm>
            <a:off x="1385316" y="4224528"/>
            <a:ext cx="850392" cy="237744"/>
          </a:xfrm>
          <a:prstGeom prst="roundRect">
            <a:avLst>
              <a:gd name="adj" fmla="val 50000"/>
            </a:avLst>
          </a:prstGeom>
          <a:solidFill>
            <a:srgbClr val="EAF4F4"/>
          </a:solidFill>
          <a:ln w="9525">
            <a:solidFill>
              <a:srgbClr val="BFE0DF"/>
            </a:solidFill>
            <a:prstDash val="solid"/>
          </a:ln>
        </p:spPr>
      </p:sp>
      <p:sp>
        <p:nvSpPr>
          <p:cNvPr id="43" name="Text 35"/>
          <p:cNvSpPr txBox="1"/>
          <p:nvPr/>
        </p:nvSpPr>
        <p:spPr>
          <a:xfrm>
            <a:off x="1385316" y="4224528"/>
            <a:ext cx="850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Buffalo</a:t>
            </a:r>
            <a:endParaRPr lang="en-US" sz="900" dirty="0"/>
          </a:p>
        </p:txBody>
      </p:sp>
      <p:sp>
        <p:nvSpPr>
          <p:cNvPr id="44" name="Shape 36"/>
          <p:cNvSpPr/>
          <p:nvPr/>
        </p:nvSpPr>
        <p:spPr>
          <a:xfrm>
            <a:off x="2286000" y="4224528"/>
            <a:ext cx="850392" cy="237744"/>
          </a:xfrm>
          <a:prstGeom prst="roundRect">
            <a:avLst>
              <a:gd name="adj" fmla="val 50000"/>
            </a:avLst>
          </a:prstGeom>
          <a:solidFill>
            <a:srgbClr val="EAF4F4"/>
          </a:solidFill>
          <a:ln w="9525">
            <a:solidFill>
              <a:srgbClr val="BFE0DF"/>
            </a:solidFill>
            <a:prstDash val="solid"/>
          </a:ln>
        </p:spPr>
      </p:sp>
      <p:sp>
        <p:nvSpPr>
          <p:cNvPr id="45" name="Text 37"/>
          <p:cNvSpPr txBox="1"/>
          <p:nvPr/>
        </p:nvSpPr>
        <p:spPr>
          <a:xfrm>
            <a:off x="2286000" y="4224528"/>
            <a:ext cx="850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Sheep</a:t>
            </a:r>
            <a:endParaRPr lang="en-US" sz="900" dirty="0"/>
          </a:p>
        </p:txBody>
      </p:sp>
      <p:sp>
        <p:nvSpPr>
          <p:cNvPr id="46" name="Shape 38"/>
          <p:cNvSpPr/>
          <p:nvPr/>
        </p:nvSpPr>
        <p:spPr>
          <a:xfrm>
            <a:off x="484632" y="4517136"/>
            <a:ext cx="850392" cy="237744"/>
          </a:xfrm>
          <a:prstGeom prst="roundRect">
            <a:avLst>
              <a:gd name="adj" fmla="val 50000"/>
            </a:avLst>
          </a:prstGeom>
          <a:solidFill>
            <a:srgbClr val="EAF4F4"/>
          </a:solidFill>
          <a:ln w="9525">
            <a:solidFill>
              <a:srgbClr val="BFE0DF"/>
            </a:solidFill>
            <a:prstDash val="solid"/>
          </a:ln>
        </p:spPr>
      </p:sp>
      <p:sp>
        <p:nvSpPr>
          <p:cNvPr id="47" name="Text 39"/>
          <p:cNvSpPr txBox="1"/>
          <p:nvPr/>
        </p:nvSpPr>
        <p:spPr>
          <a:xfrm>
            <a:off x="484632" y="4517136"/>
            <a:ext cx="850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Goat</a:t>
            </a:r>
            <a:endParaRPr lang="en-US" sz="900" dirty="0"/>
          </a:p>
        </p:txBody>
      </p:sp>
      <p:sp>
        <p:nvSpPr>
          <p:cNvPr id="48" name="Shape 40"/>
          <p:cNvSpPr/>
          <p:nvPr/>
        </p:nvSpPr>
        <p:spPr>
          <a:xfrm>
            <a:off x="1385316" y="4517136"/>
            <a:ext cx="850392" cy="237744"/>
          </a:xfrm>
          <a:prstGeom prst="roundRect">
            <a:avLst>
              <a:gd name="adj" fmla="val 50000"/>
            </a:avLst>
          </a:prstGeom>
          <a:solidFill>
            <a:srgbClr val="EAF4F4"/>
          </a:solidFill>
          <a:ln w="9525">
            <a:solidFill>
              <a:srgbClr val="BFE0DF"/>
            </a:solidFill>
            <a:prstDash val="solid"/>
          </a:ln>
        </p:spPr>
      </p:sp>
      <p:sp>
        <p:nvSpPr>
          <p:cNvPr id="49" name="Text 41"/>
          <p:cNvSpPr txBox="1"/>
          <p:nvPr/>
        </p:nvSpPr>
        <p:spPr>
          <a:xfrm>
            <a:off x="1385316" y="4517136"/>
            <a:ext cx="850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Pig</a:t>
            </a:r>
            <a:endParaRPr lang="en-US" sz="900" dirty="0"/>
          </a:p>
        </p:txBody>
      </p:sp>
      <p:sp>
        <p:nvSpPr>
          <p:cNvPr id="50" name="Shape 42"/>
          <p:cNvSpPr/>
          <p:nvPr/>
        </p:nvSpPr>
        <p:spPr>
          <a:xfrm>
            <a:off x="2286000" y="4517136"/>
            <a:ext cx="850392" cy="237744"/>
          </a:xfrm>
          <a:prstGeom prst="roundRect">
            <a:avLst>
              <a:gd name="adj" fmla="val 50000"/>
            </a:avLst>
          </a:prstGeom>
          <a:solidFill>
            <a:srgbClr val="EAF4F4"/>
          </a:solidFill>
          <a:ln w="9525">
            <a:solidFill>
              <a:srgbClr val="BFE0DF"/>
            </a:solidFill>
            <a:prstDash val="solid"/>
          </a:ln>
        </p:spPr>
      </p:sp>
      <p:sp>
        <p:nvSpPr>
          <p:cNvPr id="51" name="Text 43"/>
          <p:cNvSpPr txBox="1"/>
          <p:nvPr/>
        </p:nvSpPr>
        <p:spPr>
          <a:xfrm>
            <a:off x="2286000" y="4517136"/>
            <a:ext cx="850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Chicken</a:t>
            </a:r>
            <a:endParaRPr lang="en-US" sz="900" dirty="0"/>
          </a:p>
        </p:txBody>
      </p:sp>
      <p:sp>
        <p:nvSpPr>
          <p:cNvPr id="52" name="Shape 44"/>
          <p:cNvSpPr/>
          <p:nvPr/>
        </p:nvSpPr>
        <p:spPr>
          <a:xfrm>
            <a:off x="484632" y="4809744"/>
            <a:ext cx="850392" cy="237744"/>
          </a:xfrm>
          <a:prstGeom prst="roundRect">
            <a:avLst>
              <a:gd name="adj" fmla="val 50000"/>
            </a:avLst>
          </a:prstGeom>
          <a:solidFill>
            <a:srgbClr val="EAF4F4"/>
          </a:solidFill>
          <a:ln w="9525">
            <a:solidFill>
              <a:srgbClr val="BFE0DF"/>
            </a:solidFill>
            <a:prstDash val="solid"/>
          </a:ln>
        </p:spPr>
      </p:sp>
      <p:sp>
        <p:nvSpPr>
          <p:cNvPr id="53" name="Text 45"/>
          <p:cNvSpPr txBox="1"/>
          <p:nvPr/>
        </p:nvSpPr>
        <p:spPr>
          <a:xfrm>
            <a:off x="484632" y="4809744"/>
            <a:ext cx="850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Turkey</a:t>
            </a:r>
            <a:endParaRPr lang="en-US" sz="900" dirty="0"/>
          </a:p>
        </p:txBody>
      </p:sp>
      <p:sp>
        <p:nvSpPr>
          <p:cNvPr id="54" name="Shape 46"/>
          <p:cNvSpPr/>
          <p:nvPr/>
        </p:nvSpPr>
        <p:spPr>
          <a:xfrm>
            <a:off x="1385316" y="4809744"/>
            <a:ext cx="850392" cy="237744"/>
          </a:xfrm>
          <a:prstGeom prst="roundRect">
            <a:avLst>
              <a:gd name="adj" fmla="val 50000"/>
            </a:avLst>
          </a:prstGeom>
          <a:solidFill>
            <a:srgbClr val="EAF4F4"/>
          </a:solidFill>
          <a:ln w="9525">
            <a:solidFill>
              <a:srgbClr val="BFE0DF"/>
            </a:solidFill>
            <a:prstDash val="solid"/>
          </a:ln>
        </p:spPr>
      </p:sp>
      <p:sp>
        <p:nvSpPr>
          <p:cNvPr id="55" name="Text 47"/>
          <p:cNvSpPr txBox="1"/>
          <p:nvPr/>
        </p:nvSpPr>
        <p:spPr>
          <a:xfrm>
            <a:off x="1385316" y="4809744"/>
            <a:ext cx="850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Donkey</a:t>
            </a:r>
            <a:endParaRPr lang="en-US" sz="900" dirty="0"/>
          </a:p>
        </p:txBody>
      </p:sp>
      <p:sp>
        <p:nvSpPr>
          <p:cNvPr id="56" name="Shape 48"/>
          <p:cNvSpPr/>
          <p:nvPr/>
        </p:nvSpPr>
        <p:spPr>
          <a:xfrm>
            <a:off x="2286000" y="4809744"/>
            <a:ext cx="850392" cy="237744"/>
          </a:xfrm>
          <a:prstGeom prst="roundRect">
            <a:avLst>
              <a:gd name="adj" fmla="val 50000"/>
            </a:avLst>
          </a:prstGeom>
          <a:solidFill>
            <a:srgbClr val="EAF4F4"/>
          </a:solidFill>
          <a:ln w="9525">
            <a:solidFill>
              <a:srgbClr val="BFE0DF"/>
            </a:solidFill>
            <a:prstDash val="solid"/>
          </a:ln>
        </p:spPr>
      </p:sp>
      <p:sp>
        <p:nvSpPr>
          <p:cNvPr id="57" name="Text 49"/>
          <p:cNvSpPr txBox="1"/>
          <p:nvPr/>
        </p:nvSpPr>
        <p:spPr>
          <a:xfrm>
            <a:off x="2286000" y="4809744"/>
            <a:ext cx="850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Mithun</a:t>
            </a:r>
            <a:endParaRPr lang="en-US" sz="900" dirty="0"/>
          </a:p>
        </p:txBody>
      </p:sp>
      <p:sp>
        <p:nvSpPr>
          <p:cNvPr id="58" name="Shape 50"/>
          <p:cNvSpPr/>
          <p:nvPr/>
        </p:nvSpPr>
        <p:spPr>
          <a:xfrm>
            <a:off x="484632" y="5102352"/>
            <a:ext cx="850392" cy="237744"/>
          </a:xfrm>
          <a:prstGeom prst="roundRect">
            <a:avLst>
              <a:gd name="adj" fmla="val 50000"/>
            </a:avLst>
          </a:prstGeom>
          <a:solidFill>
            <a:srgbClr val="EAF4F4"/>
          </a:solidFill>
          <a:ln w="9525">
            <a:solidFill>
              <a:srgbClr val="BFE0DF"/>
            </a:solidFill>
            <a:prstDash val="solid"/>
          </a:ln>
        </p:spPr>
      </p:sp>
      <p:sp>
        <p:nvSpPr>
          <p:cNvPr id="59" name="Text 51"/>
          <p:cNvSpPr txBox="1"/>
          <p:nvPr/>
        </p:nvSpPr>
        <p:spPr>
          <a:xfrm>
            <a:off x="484632" y="5102352"/>
            <a:ext cx="850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Camel</a:t>
            </a:r>
            <a:endParaRPr lang="en-US" sz="900" dirty="0"/>
          </a:p>
        </p:txBody>
      </p:sp>
      <p:sp>
        <p:nvSpPr>
          <p:cNvPr id="60" name="Shape 52"/>
          <p:cNvSpPr/>
          <p:nvPr/>
        </p:nvSpPr>
        <p:spPr>
          <a:xfrm>
            <a:off x="1385316" y="5102352"/>
            <a:ext cx="1773936" cy="237744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9525">
            <a:solidFill>
              <a:srgbClr val="2E8B57"/>
            </a:solidFill>
            <a:prstDash val="solid"/>
          </a:ln>
        </p:spPr>
      </p:sp>
      <p:sp>
        <p:nvSpPr>
          <p:cNvPr id="61" name="Text 53"/>
          <p:cNvSpPr txBox="1"/>
          <p:nvPr/>
        </p:nvSpPr>
        <p:spPr>
          <a:xfrm>
            <a:off x="1385316" y="5102352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Wildlife &amp; others</a:t>
            </a:r>
            <a:endParaRPr lang="en-US" sz="900" dirty="0"/>
          </a:p>
        </p:txBody>
      </p:sp>
      <p:sp>
        <p:nvSpPr>
          <p:cNvPr id="62" name="Shape 54"/>
          <p:cNvSpPr/>
          <p:nvPr/>
        </p:nvSpPr>
        <p:spPr>
          <a:xfrm>
            <a:off x="3456432" y="1371600"/>
            <a:ext cx="4754880" cy="1938528"/>
          </a:xfrm>
          <a:prstGeom prst="roundRect">
            <a:avLst>
              <a:gd name="adj" fmla="val 3774"/>
            </a:avLst>
          </a:prstGeom>
          <a:solidFill>
            <a:srgbClr val="1B2A5E"/>
          </a:solidFill>
          <a:ln w="9525">
            <a:solidFill>
              <a:srgbClr val="1B2A5E"/>
            </a:solidFill>
            <a:prstDash val="solid"/>
          </a:ln>
          <a:effectLst>
            <a:outerShdw sx="100000" sy="100000" kx="0" ky="0" algn="bl" rotWithShape="0" blurRad="76200" dist="19050" dir="5400000">
              <a:srgbClr val="0F1C44">
                <a:alpha val="12000"/>
              </a:srgbClr>
            </a:outerShdw>
          </a:effectLst>
        </p:spPr>
      </p:sp>
      <p:pic>
        <p:nvPicPr>
          <p:cNvPr id="6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0368" y="1426464"/>
            <a:ext cx="2926080" cy="1417320"/>
          </a:xfrm>
          <a:prstGeom prst="rect">
            <a:avLst/>
          </a:prstGeom>
        </p:spPr>
      </p:pic>
      <p:sp>
        <p:nvSpPr>
          <p:cNvPr id="64" name="Text 55"/>
          <p:cNvSpPr txBox="1"/>
          <p:nvPr/>
        </p:nvSpPr>
        <p:spPr>
          <a:xfrm>
            <a:off x="3621024" y="148132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</a:t>
            </a:r>
            <a:pPr indent="0" marL="0">
              <a:buNone/>
            </a:pPr>
            <a:r>
              <a:rPr lang="en-US" sz="900" b="1" spc="150" kern="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SERVICE</a:t>
            </a:r>
            <a:endParaRPr lang="en-US" sz="900" dirty="0"/>
          </a:p>
        </p:txBody>
      </p:sp>
      <p:sp>
        <p:nvSpPr>
          <p:cNvPr id="65" name="Text 56"/>
          <p:cNvSpPr txBox="1"/>
          <p:nvPr/>
        </p:nvSpPr>
        <p:spPr>
          <a:xfrm>
            <a:off x="3593592" y="1737360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&gt;1,000</a:t>
            </a:r>
            <a:endParaRPr lang="en-US" sz="4200" dirty="0"/>
          </a:p>
        </p:txBody>
      </p:sp>
      <p:sp>
        <p:nvSpPr>
          <p:cNvPr id="66" name="Text 57"/>
          <p:cNvSpPr txBox="1"/>
          <p:nvPr/>
        </p:nvSpPr>
        <p:spPr>
          <a:xfrm>
            <a:off x="3621024" y="2377440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6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ANALYSED</a:t>
            </a:r>
            <a:endParaRPr lang="en-US" sz="1100" dirty="0"/>
          </a:p>
        </p:txBody>
      </p:sp>
      <p:sp>
        <p:nvSpPr>
          <p:cNvPr id="67" name="Text 58"/>
          <p:cNvSpPr txBox="1"/>
          <p:nvPr/>
        </p:nvSpPr>
        <p:spPr>
          <a:xfrm>
            <a:off x="3621024" y="2596896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3C7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2018–2026</a:t>
            </a:r>
            <a:endParaRPr lang="en-US" sz="1700" dirty="0"/>
          </a:p>
        </p:txBody>
      </p:sp>
      <p:sp>
        <p:nvSpPr>
          <p:cNvPr id="68" name="Shape 59"/>
          <p:cNvSpPr/>
          <p:nvPr/>
        </p:nvSpPr>
        <p:spPr>
          <a:xfrm>
            <a:off x="5760720" y="1609344"/>
            <a:ext cx="987552" cy="548640"/>
          </a:xfrm>
          <a:prstGeom prst="line">
            <a:avLst/>
          </a:prstGeom>
          <a:noFill/>
          <a:ln w="15875">
            <a:solidFill>
              <a:srgbClr val="13A3A3">
                <a:alpha val="80000"/>
              </a:srgbClr>
            </a:solidFill>
            <a:prstDash val="solid"/>
          </a:ln>
        </p:spPr>
      </p:sp>
      <p:sp>
        <p:nvSpPr>
          <p:cNvPr id="69" name="Shape 60"/>
          <p:cNvSpPr/>
          <p:nvPr/>
        </p:nvSpPr>
        <p:spPr>
          <a:xfrm>
            <a:off x="6748272" y="1609344"/>
            <a:ext cx="0" cy="548640"/>
          </a:xfrm>
          <a:prstGeom prst="line">
            <a:avLst/>
          </a:prstGeom>
          <a:noFill/>
          <a:ln w="15875">
            <a:solidFill>
              <a:srgbClr val="13A3A3">
                <a:alpha val="80000"/>
              </a:srgbClr>
            </a:solidFill>
            <a:prstDash val="solid"/>
          </a:ln>
        </p:spPr>
      </p:sp>
      <p:sp>
        <p:nvSpPr>
          <p:cNvPr id="70" name="Shape 61"/>
          <p:cNvSpPr/>
          <p:nvPr/>
        </p:nvSpPr>
        <p:spPr>
          <a:xfrm flipV="1">
            <a:off x="6748272" y="1609344"/>
            <a:ext cx="987552" cy="548640"/>
          </a:xfrm>
          <a:prstGeom prst="line">
            <a:avLst/>
          </a:prstGeom>
          <a:noFill/>
          <a:ln w="15875">
            <a:solidFill>
              <a:srgbClr val="13A3A3">
                <a:alpha val="80000"/>
              </a:srgbClr>
            </a:solidFill>
            <a:prstDash val="solid"/>
          </a:ln>
        </p:spPr>
      </p:sp>
      <p:sp>
        <p:nvSpPr>
          <p:cNvPr id="71" name="Shape 62"/>
          <p:cNvSpPr/>
          <p:nvPr/>
        </p:nvSpPr>
        <p:spPr>
          <a:xfrm>
            <a:off x="5760720" y="2157984"/>
            <a:ext cx="987552" cy="0"/>
          </a:xfrm>
          <a:prstGeom prst="line">
            <a:avLst/>
          </a:prstGeom>
          <a:noFill/>
          <a:ln w="15875">
            <a:solidFill>
              <a:srgbClr val="13A3A3">
                <a:alpha val="80000"/>
              </a:srgbClr>
            </a:solidFill>
            <a:prstDash val="solid"/>
          </a:ln>
        </p:spPr>
      </p:sp>
      <p:sp>
        <p:nvSpPr>
          <p:cNvPr id="72" name="Shape 63"/>
          <p:cNvSpPr/>
          <p:nvPr/>
        </p:nvSpPr>
        <p:spPr>
          <a:xfrm>
            <a:off x="6748272" y="2157984"/>
            <a:ext cx="987552" cy="0"/>
          </a:xfrm>
          <a:prstGeom prst="line">
            <a:avLst/>
          </a:prstGeom>
          <a:noFill/>
          <a:ln w="15875">
            <a:solidFill>
              <a:srgbClr val="13A3A3">
                <a:alpha val="80000"/>
              </a:srgbClr>
            </a:solidFill>
            <a:prstDash val="solid"/>
          </a:ln>
        </p:spPr>
      </p:sp>
      <p:sp>
        <p:nvSpPr>
          <p:cNvPr id="73" name="Shape 64"/>
          <p:cNvSpPr/>
          <p:nvPr/>
        </p:nvSpPr>
        <p:spPr>
          <a:xfrm flipV="1">
            <a:off x="6236208" y="2157984"/>
            <a:ext cx="512064" cy="548640"/>
          </a:xfrm>
          <a:prstGeom prst="line">
            <a:avLst/>
          </a:prstGeom>
          <a:noFill/>
          <a:ln w="15875">
            <a:solidFill>
              <a:srgbClr val="13A3A3">
                <a:alpha val="80000"/>
              </a:srgbClr>
            </a:solidFill>
            <a:prstDash val="solid"/>
          </a:ln>
        </p:spPr>
      </p:sp>
      <p:sp>
        <p:nvSpPr>
          <p:cNvPr id="74" name="Shape 65"/>
          <p:cNvSpPr/>
          <p:nvPr/>
        </p:nvSpPr>
        <p:spPr>
          <a:xfrm>
            <a:off x="6748272" y="2157984"/>
            <a:ext cx="512064" cy="548640"/>
          </a:xfrm>
          <a:prstGeom prst="line">
            <a:avLst/>
          </a:prstGeom>
          <a:noFill/>
          <a:ln w="15875">
            <a:solidFill>
              <a:srgbClr val="13A3A3">
                <a:alpha val="80000"/>
              </a:srgbClr>
            </a:solidFill>
            <a:prstDash val="solid"/>
          </a:ln>
        </p:spPr>
      </p:sp>
      <p:sp>
        <p:nvSpPr>
          <p:cNvPr id="75" name="Shape 66"/>
          <p:cNvSpPr/>
          <p:nvPr/>
        </p:nvSpPr>
        <p:spPr>
          <a:xfrm>
            <a:off x="6446520" y="1856232"/>
            <a:ext cx="603504" cy="603504"/>
          </a:xfrm>
          <a:prstGeom prst="ellipse">
            <a:avLst/>
          </a:prstGeom>
          <a:solidFill>
            <a:srgbClr val="0E8C8C"/>
          </a:solidFill>
          <a:ln w="25400">
            <a:solidFill>
              <a:srgbClr val="E3C766"/>
            </a:solidFill>
            <a:prstDash val="solid"/>
          </a:ln>
        </p:spPr>
      </p:sp>
      <p:sp>
        <p:nvSpPr>
          <p:cNvPr id="76" name="Text 67"/>
          <p:cNvSpPr txBox="1"/>
          <p:nvPr/>
        </p:nvSpPr>
        <p:spPr>
          <a:xfrm>
            <a:off x="6446520" y="185623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MSIL</a:t>
            </a:r>
            <a:endParaRPr lang="en-US" sz="1100" dirty="0"/>
          </a:p>
        </p:txBody>
      </p:sp>
      <p:sp>
        <p:nvSpPr>
          <p:cNvPr id="77" name="Shape 68"/>
          <p:cNvSpPr/>
          <p:nvPr/>
        </p:nvSpPr>
        <p:spPr>
          <a:xfrm>
            <a:off x="5312664" y="1444752"/>
            <a:ext cx="896112" cy="329184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9525">
            <a:solidFill>
              <a:srgbClr val="D6E4F5"/>
            </a:solidFill>
            <a:prstDash val="solid"/>
          </a:ln>
        </p:spPr>
      </p:sp>
      <p:sp>
        <p:nvSpPr>
          <p:cNvPr id="78" name="Text 69"/>
          <p:cNvSpPr txBox="1"/>
          <p:nvPr/>
        </p:nvSpPr>
        <p:spPr>
          <a:xfrm>
            <a:off x="5340096" y="1444752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1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Safety Authorities</a:t>
            </a:r>
            <a:endParaRPr lang="en-US" sz="750" dirty="0"/>
          </a:p>
        </p:txBody>
      </p:sp>
      <p:sp>
        <p:nvSpPr>
          <p:cNvPr id="79" name="Shape 70"/>
          <p:cNvSpPr/>
          <p:nvPr/>
        </p:nvSpPr>
        <p:spPr>
          <a:xfrm>
            <a:off x="6300216" y="1444752"/>
            <a:ext cx="896112" cy="329184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9525">
            <a:solidFill>
              <a:srgbClr val="D6E4F5"/>
            </a:solidFill>
            <a:prstDash val="solid"/>
          </a:ln>
        </p:spPr>
      </p:sp>
      <p:sp>
        <p:nvSpPr>
          <p:cNvPr id="80" name="Text 71"/>
          <p:cNvSpPr txBox="1"/>
          <p:nvPr/>
        </p:nvSpPr>
        <p:spPr>
          <a:xfrm>
            <a:off x="6327648" y="1444752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1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</a:t>
            </a:r>
            <a:endParaRPr lang="en-US" sz="750" dirty="0"/>
          </a:p>
        </p:txBody>
      </p:sp>
      <p:sp>
        <p:nvSpPr>
          <p:cNvPr id="81" name="Shape 72"/>
          <p:cNvSpPr/>
          <p:nvPr/>
        </p:nvSpPr>
        <p:spPr>
          <a:xfrm>
            <a:off x="7287768" y="1444752"/>
            <a:ext cx="896112" cy="329184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9525">
            <a:solidFill>
              <a:srgbClr val="D6E4F5"/>
            </a:solidFill>
            <a:prstDash val="solid"/>
          </a:ln>
        </p:spPr>
      </p:sp>
      <p:sp>
        <p:nvSpPr>
          <p:cNvPr id="82" name="Text 73"/>
          <p:cNvSpPr txBox="1"/>
          <p:nvPr/>
        </p:nvSpPr>
        <p:spPr>
          <a:xfrm>
            <a:off x="7315200" y="1444752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1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Customs</a:t>
            </a:r>
            <a:endParaRPr lang="en-US" sz="750" dirty="0"/>
          </a:p>
        </p:txBody>
      </p:sp>
      <p:sp>
        <p:nvSpPr>
          <p:cNvPr id="83" name="Shape 74"/>
          <p:cNvSpPr/>
          <p:nvPr/>
        </p:nvSpPr>
        <p:spPr>
          <a:xfrm>
            <a:off x="5312664" y="1993392"/>
            <a:ext cx="896112" cy="329184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9525">
            <a:solidFill>
              <a:srgbClr val="D6E4F5"/>
            </a:solidFill>
            <a:prstDash val="solid"/>
          </a:ln>
        </p:spPr>
      </p:sp>
      <p:sp>
        <p:nvSpPr>
          <p:cNvPr id="84" name="Text 75"/>
          <p:cNvSpPr txBox="1"/>
          <p:nvPr/>
        </p:nvSpPr>
        <p:spPr>
          <a:xfrm>
            <a:off x="5340096" y="1993392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1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 Husbandry</a:t>
            </a:r>
            <a:endParaRPr lang="en-US" sz="750" dirty="0"/>
          </a:p>
        </p:txBody>
      </p:sp>
      <p:sp>
        <p:nvSpPr>
          <p:cNvPr id="85" name="Shape 76"/>
          <p:cNvSpPr/>
          <p:nvPr/>
        </p:nvSpPr>
        <p:spPr>
          <a:xfrm>
            <a:off x="7287768" y="1993392"/>
            <a:ext cx="896112" cy="329184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9525">
            <a:solidFill>
              <a:srgbClr val="D6E4F5"/>
            </a:solidFill>
            <a:prstDash val="solid"/>
          </a:ln>
        </p:spPr>
      </p:sp>
      <p:sp>
        <p:nvSpPr>
          <p:cNvPr id="86" name="Text 77"/>
          <p:cNvSpPr txBox="1"/>
          <p:nvPr/>
        </p:nvSpPr>
        <p:spPr>
          <a:xfrm>
            <a:off x="7315200" y="1993392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1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 Quarantine</a:t>
            </a:r>
            <a:endParaRPr lang="en-US" sz="750" dirty="0"/>
          </a:p>
        </p:txBody>
      </p:sp>
      <p:sp>
        <p:nvSpPr>
          <p:cNvPr id="87" name="Shape 78"/>
          <p:cNvSpPr/>
          <p:nvPr/>
        </p:nvSpPr>
        <p:spPr>
          <a:xfrm>
            <a:off x="5788152" y="2542032"/>
            <a:ext cx="896112" cy="329184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9525">
            <a:solidFill>
              <a:srgbClr val="D6E4F5"/>
            </a:solidFill>
            <a:prstDash val="solid"/>
          </a:ln>
        </p:spPr>
      </p:sp>
      <p:sp>
        <p:nvSpPr>
          <p:cNvPr id="88" name="Text 79"/>
          <p:cNvSpPr txBox="1"/>
          <p:nvPr/>
        </p:nvSpPr>
        <p:spPr>
          <a:xfrm>
            <a:off x="5815584" y="2542032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1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 / Wildlife Depts.</a:t>
            </a:r>
            <a:endParaRPr lang="en-US" sz="750" dirty="0"/>
          </a:p>
        </p:txBody>
      </p:sp>
      <p:sp>
        <p:nvSpPr>
          <p:cNvPr id="89" name="Shape 80"/>
          <p:cNvSpPr/>
          <p:nvPr/>
        </p:nvSpPr>
        <p:spPr>
          <a:xfrm>
            <a:off x="6812280" y="2542032"/>
            <a:ext cx="896112" cy="329184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9525">
            <a:solidFill>
              <a:srgbClr val="D6E4F5"/>
            </a:solidFill>
            <a:prstDash val="solid"/>
          </a:ln>
        </p:spPr>
      </p:sp>
      <p:sp>
        <p:nvSpPr>
          <p:cNvPr id="90" name="Text 81"/>
          <p:cNvSpPr txBox="1"/>
          <p:nvPr/>
        </p:nvSpPr>
        <p:spPr>
          <a:xfrm>
            <a:off x="6839712" y="2542032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1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Directorate of Revenue Intelligence</a:t>
            </a:r>
            <a:endParaRPr lang="en-US" sz="750" dirty="0"/>
          </a:p>
        </p:txBody>
      </p:sp>
      <p:sp>
        <p:nvSpPr>
          <p:cNvPr id="91" name="Text 82"/>
          <p:cNvSpPr txBox="1"/>
          <p:nvPr/>
        </p:nvSpPr>
        <p:spPr>
          <a:xfrm>
            <a:off x="3621024" y="2980944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D6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evidence supporting regulatory, enforcement and forensic investigations</a:t>
            </a:r>
            <a:endParaRPr lang="en-US" sz="950" dirty="0"/>
          </a:p>
        </p:txBody>
      </p:sp>
      <p:sp>
        <p:nvSpPr>
          <p:cNvPr id="92" name="Text 83"/>
          <p:cNvSpPr txBox="1"/>
          <p:nvPr/>
        </p:nvSpPr>
        <p:spPr>
          <a:xfrm>
            <a:off x="3474720" y="343814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</a:t>
            </a:r>
            <a:pPr indent="0" marL="0">
              <a:buNone/>
            </a:pPr>
            <a:r>
              <a:rPr lang="en-US" sz="900" b="1" spc="150" kern="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MSIL DELIVERS</a:t>
            </a:r>
            <a:endParaRPr lang="en-US" sz="900" dirty="0"/>
          </a:p>
        </p:txBody>
      </p:sp>
      <p:sp>
        <p:nvSpPr>
          <p:cNvPr id="93" name="Shape 84"/>
          <p:cNvSpPr/>
          <p:nvPr/>
        </p:nvSpPr>
        <p:spPr>
          <a:xfrm>
            <a:off x="6382512" y="3419856"/>
            <a:ext cx="182880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E8C8C"/>
            </a:solidFill>
            <a:prstDash val="solid"/>
          </a:ln>
        </p:spPr>
      </p:sp>
      <p:pic>
        <p:nvPicPr>
          <p:cNvPr id="9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3952" y="3465576"/>
            <a:ext cx="164592" cy="164592"/>
          </a:xfrm>
          <a:prstGeom prst="rect">
            <a:avLst/>
          </a:prstGeom>
        </p:spPr>
      </p:pic>
      <p:sp>
        <p:nvSpPr>
          <p:cNvPr id="95" name="Text 85"/>
          <p:cNvSpPr txBox="1"/>
          <p:nvPr/>
        </p:nvSpPr>
        <p:spPr>
          <a:xfrm>
            <a:off x="6675120" y="3419856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GENDER IDENTIFICATION</a:t>
            </a:r>
            <a:endParaRPr lang="en-US" sz="800" dirty="0"/>
          </a:p>
        </p:txBody>
      </p:sp>
      <p:sp>
        <p:nvSpPr>
          <p:cNvPr id="96" name="Shape 86"/>
          <p:cNvSpPr/>
          <p:nvPr/>
        </p:nvSpPr>
        <p:spPr>
          <a:xfrm>
            <a:off x="3456432" y="3767328"/>
            <a:ext cx="1536192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19050" dir="5400000">
              <a:srgbClr val="0F1C44">
                <a:alpha val="12000"/>
              </a:srgbClr>
            </a:outerShdw>
          </a:effectLst>
        </p:spPr>
      </p:sp>
      <p:sp>
        <p:nvSpPr>
          <p:cNvPr id="97" name="Shape 87"/>
          <p:cNvSpPr/>
          <p:nvPr/>
        </p:nvSpPr>
        <p:spPr>
          <a:xfrm>
            <a:off x="3547872" y="3977640"/>
            <a:ext cx="402336" cy="402336"/>
          </a:xfrm>
          <a:prstGeom prst="ellipse">
            <a:avLst/>
          </a:prstGeom>
          <a:solidFill>
            <a:srgbClr val="1F4E9A"/>
          </a:solidFill>
          <a:ln w="12700">
            <a:solidFill>
              <a:srgbClr val="1F4E9A"/>
            </a:solidFill>
            <a:prstDash val="solid"/>
          </a:ln>
        </p:spPr>
      </p:sp>
      <p:pic>
        <p:nvPicPr>
          <p:cNvPr id="9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48456" y="4078224"/>
            <a:ext cx="201168" cy="201168"/>
          </a:xfrm>
          <a:prstGeom prst="rect">
            <a:avLst/>
          </a:prstGeom>
        </p:spPr>
      </p:pic>
      <p:sp>
        <p:nvSpPr>
          <p:cNvPr id="99" name="Text 88"/>
          <p:cNvSpPr txBox="1"/>
          <p:nvPr/>
        </p:nvSpPr>
        <p:spPr>
          <a:xfrm>
            <a:off x="4023360" y="3822192"/>
            <a:ext cx="8961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MEAT SPECIES IDENTIFICATION</a:t>
            </a:r>
            <a:endParaRPr lang="en-US" sz="850" dirty="0"/>
          </a:p>
        </p:txBody>
      </p:sp>
      <p:sp>
        <p:nvSpPr>
          <p:cNvPr id="100" name="Shape 89"/>
          <p:cNvSpPr/>
          <p:nvPr/>
        </p:nvSpPr>
        <p:spPr>
          <a:xfrm>
            <a:off x="5065776" y="3767328"/>
            <a:ext cx="1536192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19050" dir="5400000">
              <a:srgbClr val="0F1C44">
                <a:alpha val="12000"/>
              </a:srgbClr>
            </a:outerShdw>
          </a:effectLst>
        </p:spPr>
      </p:sp>
      <p:sp>
        <p:nvSpPr>
          <p:cNvPr id="101" name="Shape 90"/>
          <p:cNvSpPr/>
          <p:nvPr/>
        </p:nvSpPr>
        <p:spPr>
          <a:xfrm>
            <a:off x="5157216" y="3977640"/>
            <a:ext cx="402336" cy="402336"/>
          </a:xfrm>
          <a:prstGeom prst="ellipse">
            <a:avLst/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pic>
        <p:nvPicPr>
          <p:cNvPr id="10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57800" y="4078224"/>
            <a:ext cx="201168" cy="201168"/>
          </a:xfrm>
          <a:prstGeom prst="rect">
            <a:avLst/>
          </a:prstGeom>
        </p:spPr>
      </p:pic>
      <p:sp>
        <p:nvSpPr>
          <p:cNvPr id="103" name="Text 91"/>
          <p:cNvSpPr txBox="1"/>
          <p:nvPr/>
        </p:nvSpPr>
        <p:spPr>
          <a:xfrm>
            <a:off x="5632704" y="3822192"/>
            <a:ext cx="8961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ADULTERATION &amp; SUBSTITUTION DETECTION</a:t>
            </a:r>
            <a:endParaRPr lang="en-US" sz="850" dirty="0"/>
          </a:p>
        </p:txBody>
      </p:sp>
      <p:sp>
        <p:nvSpPr>
          <p:cNvPr id="104" name="Shape 92"/>
          <p:cNvSpPr/>
          <p:nvPr/>
        </p:nvSpPr>
        <p:spPr>
          <a:xfrm>
            <a:off x="6675120" y="3767328"/>
            <a:ext cx="1536192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19050" dir="5400000">
              <a:srgbClr val="0F1C44">
                <a:alpha val="12000"/>
              </a:srgbClr>
            </a:outerShdw>
          </a:effectLst>
        </p:spPr>
      </p:sp>
      <p:sp>
        <p:nvSpPr>
          <p:cNvPr id="105" name="Shape 93"/>
          <p:cNvSpPr/>
          <p:nvPr/>
        </p:nvSpPr>
        <p:spPr>
          <a:xfrm>
            <a:off x="6766560" y="3977640"/>
            <a:ext cx="402336" cy="402336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pic>
        <p:nvPicPr>
          <p:cNvPr id="10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67144" y="4078224"/>
            <a:ext cx="201168" cy="201168"/>
          </a:xfrm>
          <a:prstGeom prst="rect">
            <a:avLst/>
          </a:prstGeom>
        </p:spPr>
      </p:pic>
      <p:sp>
        <p:nvSpPr>
          <p:cNvPr id="107" name="Text 94"/>
          <p:cNvSpPr txBox="1"/>
          <p:nvPr/>
        </p:nvSpPr>
        <p:spPr>
          <a:xfrm>
            <a:off x="7242048" y="3822192"/>
            <a:ext cx="8961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MISLABELLING DETECTION</a:t>
            </a:r>
            <a:endParaRPr lang="en-US" sz="850" dirty="0"/>
          </a:p>
        </p:txBody>
      </p:sp>
      <p:sp>
        <p:nvSpPr>
          <p:cNvPr id="108" name="Shape 95"/>
          <p:cNvSpPr/>
          <p:nvPr/>
        </p:nvSpPr>
        <p:spPr>
          <a:xfrm>
            <a:off x="3456432" y="4681728"/>
            <a:ext cx="1536192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19050" dir="5400000">
              <a:srgbClr val="0F1C44">
                <a:alpha val="12000"/>
              </a:srgbClr>
            </a:outerShdw>
          </a:effectLst>
        </p:spPr>
      </p:sp>
      <p:sp>
        <p:nvSpPr>
          <p:cNvPr id="109" name="Shape 96"/>
          <p:cNvSpPr/>
          <p:nvPr/>
        </p:nvSpPr>
        <p:spPr>
          <a:xfrm>
            <a:off x="3547872" y="4892040"/>
            <a:ext cx="402336" cy="402336"/>
          </a:xfrm>
          <a:prstGeom prst="ellipse">
            <a:avLst/>
          </a:prstGeom>
          <a:solidFill>
            <a:srgbClr val="1F4E9A"/>
          </a:solidFill>
          <a:ln w="12700">
            <a:solidFill>
              <a:srgbClr val="1F4E9A"/>
            </a:solidFill>
            <a:prstDash val="solid"/>
          </a:ln>
        </p:spPr>
      </p:sp>
      <p:pic>
        <p:nvPicPr>
          <p:cNvPr id="11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48456" y="4992624"/>
            <a:ext cx="201168" cy="201168"/>
          </a:xfrm>
          <a:prstGeom prst="rect">
            <a:avLst/>
          </a:prstGeom>
        </p:spPr>
      </p:pic>
      <p:sp>
        <p:nvSpPr>
          <p:cNvPr id="111" name="Text 97"/>
          <p:cNvSpPr txBox="1"/>
          <p:nvPr/>
        </p:nvSpPr>
        <p:spPr>
          <a:xfrm>
            <a:off x="4023360" y="4736592"/>
            <a:ext cx="8961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HALAL CONFORMITY</a:t>
            </a:r>
            <a:endParaRPr lang="en-US" sz="850" dirty="0"/>
          </a:p>
          <a:p>
            <a:pPr indent="0" marL="0">
              <a:buNone/>
            </a:pPr>
            <a:r>
              <a:rPr lang="en-US" sz="8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Porcine DNA detection</a:t>
            </a:r>
            <a:endParaRPr lang="en-US" sz="850" dirty="0"/>
          </a:p>
        </p:txBody>
      </p:sp>
      <p:sp>
        <p:nvSpPr>
          <p:cNvPr id="112" name="Shape 98"/>
          <p:cNvSpPr/>
          <p:nvPr/>
        </p:nvSpPr>
        <p:spPr>
          <a:xfrm>
            <a:off x="5065776" y="4681728"/>
            <a:ext cx="1536192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19050" dir="5400000">
              <a:srgbClr val="0F1C44">
                <a:alpha val="12000"/>
              </a:srgbClr>
            </a:outerShdw>
          </a:effectLst>
        </p:spPr>
      </p:sp>
      <p:sp>
        <p:nvSpPr>
          <p:cNvPr id="113" name="Shape 99"/>
          <p:cNvSpPr/>
          <p:nvPr/>
        </p:nvSpPr>
        <p:spPr>
          <a:xfrm>
            <a:off x="5157216" y="4892040"/>
            <a:ext cx="402336" cy="402336"/>
          </a:xfrm>
          <a:prstGeom prst="ellipse">
            <a:avLst/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pic>
        <p:nvPicPr>
          <p:cNvPr id="1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257800" y="4992624"/>
            <a:ext cx="201168" cy="201168"/>
          </a:xfrm>
          <a:prstGeom prst="rect">
            <a:avLst/>
          </a:prstGeom>
        </p:spPr>
      </p:pic>
      <p:sp>
        <p:nvSpPr>
          <p:cNvPr id="115" name="Text 100"/>
          <p:cNvSpPr txBox="1"/>
          <p:nvPr/>
        </p:nvSpPr>
        <p:spPr>
          <a:xfrm>
            <a:off x="5632704" y="4736592"/>
            <a:ext cx="8961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WILDLIFE SPECIES IDENTIFICATION</a:t>
            </a:r>
            <a:endParaRPr lang="en-US" sz="850" dirty="0"/>
          </a:p>
        </p:txBody>
      </p:sp>
      <p:sp>
        <p:nvSpPr>
          <p:cNvPr id="116" name="Shape 101"/>
          <p:cNvSpPr/>
          <p:nvPr/>
        </p:nvSpPr>
        <p:spPr>
          <a:xfrm>
            <a:off x="6675120" y="4681728"/>
            <a:ext cx="1536192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19050" dir="5400000">
              <a:srgbClr val="0F1C44">
                <a:alpha val="12000"/>
              </a:srgbClr>
            </a:outerShdw>
          </a:effectLst>
        </p:spPr>
      </p:sp>
      <p:sp>
        <p:nvSpPr>
          <p:cNvPr id="117" name="Shape 102"/>
          <p:cNvSpPr/>
          <p:nvPr/>
        </p:nvSpPr>
        <p:spPr>
          <a:xfrm>
            <a:off x="6766560" y="4892040"/>
            <a:ext cx="402336" cy="402336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pic>
        <p:nvPicPr>
          <p:cNvPr id="118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67144" y="4992624"/>
            <a:ext cx="201168" cy="201168"/>
          </a:xfrm>
          <a:prstGeom prst="rect">
            <a:avLst/>
          </a:prstGeom>
        </p:spPr>
      </p:pic>
      <p:sp>
        <p:nvSpPr>
          <p:cNvPr id="119" name="Text 103"/>
          <p:cNvSpPr txBox="1"/>
          <p:nvPr/>
        </p:nvSpPr>
        <p:spPr>
          <a:xfrm>
            <a:off x="7242048" y="4736592"/>
            <a:ext cx="8961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VEGAN FOOD AUTHENTICATION</a:t>
            </a:r>
            <a:endParaRPr lang="en-US" sz="850" dirty="0"/>
          </a:p>
        </p:txBody>
      </p:sp>
      <p:sp>
        <p:nvSpPr>
          <p:cNvPr id="120" name="Shape 104"/>
          <p:cNvSpPr/>
          <p:nvPr/>
        </p:nvSpPr>
        <p:spPr>
          <a:xfrm>
            <a:off x="8366760" y="1371600"/>
            <a:ext cx="3502152" cy="2029968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19050" dir="5400000">
              <a:srgbClr val="0F1C44">
                <a:alpha val="12000"/>
              </a:srgbClr>
            </a:outerShdw>
          </a:effectLst>
        </p:spPr>
      </p:sp>
      <p:sp>
        <p:nvSpPr>
          <p:cNvPr id="121" name="Text 105"/>
          <p:cNvSpPr txBox="1"/>
          <p:nvPr/>
        </p:nvSpPr>
        <p:spPr>
          <a:xfrm>
            <a:off x="8531352" y="148132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</a:t>
            </a:r>
            <a:pPr indent="0" marL="0">
              <a:buNone/>
            </a:pPr>
            <a:r>
              <a:rPr lang="en-US" sz="900" b="1" spc="150" kern="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INNOVATION</a:t>
            </a:r>
            <a:endParaRPr lang="en-US" sz="900" dirty="0"/>
          </a:p>
        </p:txBody>
      </p:sp>
      <p:sp>
        <p:nvSpPr>
          <p:cNvPr id="122" name="Shape 106"/>
          <p:cNvSpPr/>
          <p:nvPr/>
        </p:nvSpPr>
        <p:spPr>
          <a:xfrm>
            <a:off x="8723376" y="2157984"/>
            <a:ext cx="2734056" cy="0"/>
          </a:xfrm>
          <a:prstGeom prst="line">
            <a:avLst/>
          </a:prstGeom>
          <a:noFill/>
          <a:ln w="22225">
            <a:solidFill>
              <a:srgbClr val="0E8C8C"/>
            </a:solidFill>
            <a:prstDash val="solid"/>
            <a:tailEnd type="triangle"/>
          </a:ln>
        </p:spPr>
      </p:sp>
      <p:sp>
        <p:nvSpPr>
          <p:cNvPr id="123" name="Shape 107"/>
          <p:cNvSpPr/>
          <p:nvPr/>
        </p:nvSpPr>
        <p:spPr>
          <a:xfrm>
            <a:off x="8769096" y="2093976"/>
            <a:ext cx="128016" cy="12801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E8C8C"/>
            </a:solidFill>
            <a:prstDash val="solid"/>
          </a:ln>
        </p:spPr>
      </p:sp>
      <p:sp>
        <p:nvSpPr>
          <p:cNvPr id="124" name="Text 108"/>
          <p:cNvSpPr txBox="1"/>
          <p:nvPr/>
        </p:nvSpPr>
        <p:spPr>
          <a:xfrm>
            <a:off x="8421624" y="173736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1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Species-specific PCR</a:t>
            </a:r>
            <a:endParaRPr lang="en-US" sz="750" dirty="0"/>
          </a:p>
        </p:txBody>
      </p:sp>
      <p:sp>
        <p:nvSpPr>
          <p:cNvPr id="125" name="Shape 109"/>
          <p:cNvSpPr/>
          <p:nvPr/>
        </p:nvSpPr>
        <p:spPr>
          <a:xfrm>
            <a:off x="9203436" y="2093976"/>
            <a:ext cx="128016" cy="12801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E8C8C"/>
            </a:solidFill>
            <a:prstDash val="solid"/>
          </a:ln>
        </p:spPr>
      </p:sp>
      <p:sp>
        <p:nvSpPr>
          <p:cNvPr id="126" name="Text 110"/>
          <p:cNvSpPr txBox="1"/>
          <p:nvPr/>
        </p:nvSpPr>
        <p:spPr>
          <a:xfrm>
            <a:off x="8855964" y="226771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1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Duplex qPCR</a:t>
            </a:r>
            <a:endParaRPr lang="en-US" sz="750" dirty="0"/>
          </a:p>
        </p:txBody>
      </p:sp>
      <p:sp>
        <p:nvSpPr>
          <p:cNvPr id="127" name="Shape 111"/>
          <p:cNvSpPr/>
          <p:nvPr/>
        </p:nvSpPr>
        <p:spPr>
          <a:xfrm>
            <a:off x="9637776" y="2093976"/>
            <a:ext cx="128016" cy="12801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E8C8C"/>
            </a:solidFill>
            <a:prstDash val="solid"/>
          </a:ln>
        </p:spPr>
      </p:sp>
      <p:sp>
        <p:nvSpPr>
          <p:cNvPr id="128" name="Text 112"/>
          <p:cNvSpPr txBox="1"/>
          <p:nvPr/>
        </p:nvSpPr>
        <p:spPr>
          <a:xfrm>
            <a:off x="9290304" y="173736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1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HRMA</a:t>
            </a:r>
            <a:endParaRPr lang="en-US" sz="750" dirty="0"/>
          </a:p>
        </p:txBody>
      </p:sp>
      <p:sp>
        <p:nvSpPr>
          <p:cNvPr id="129" name="Shape 113"/>
          <p:cNvSpPr/>
          <p:nvPr/>
        </p:nvSpPr>
        <p:spPr>
          <a:xfrm>
            <a:off x="10072116" y="2093976"/>
            <a:ext cx="128016" cy="12801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E8C8C"/>
            </a:solidFill>
            <a:prstDash val="solid"/>
          </a:ln>
        </p:spPr>
      </p:sp>
      <p:sp>
        <p:nvSpPr>
          <p:cNvPr id="130" name="Text 114"/>
          <p:cNvSpPr txBox="1"/>
          <p:nvPr/>
        </p:nvSpPr>
        <p:spPr>
          <a:xfrm>
            <a:off x="9724644" y="226771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1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Microarray</a:t>
            </a:r>
            <a:endParaRPr lang="en-US" sz="750" dirty="0"/>
          </a:p>
        </p:txBody>
      </p:sp>
      <p:sp>
        <p:nvSpPr>
          <p:cNvPr id="131" name="Shape 115"/>
          <p:cNvSpPr/>
          <p:nvPr/>
        </p:nvSpPr>
        <p:spPr>
          <a:xfrm>
            <a:off x="10506456" y="2093976"/>
            <a:ext cx="128016" cy="12801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E8C8C"/>
            </a:solidFill>
            <a:prstDash val="solid"/>
          </a:ln>
        </p:spPr>
      </p:sp>
      <p:sp>
        <p:nvSpPr>
          <p:cNvPr id="132" name="Text 116"/>
          <p:cNvSpPr txBox="1"/>
          <p:nvPr/>
        </p:nvSpPr>
        <p:spPr>
          <a:xfrm>
            <a:off x="10158984" y="173736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1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ddPCR</a:t>
            </a:r>
            <a:endParaRPr lang="en-US" sz="750" dirty="0"/>
          </a:p>
        </p:txBody>
      </p:sp>
      <p:sp>
        <p:nvSpPr>
          <p:cNvPr id="133" name="Shape 117"/>
          <p:cNvSpPr/>
          <p:nvPr/>
        </p:nvSpPr>
        <p:spPr>
          <a:xfrm>
            <a:off x="10940796" y="2093976"/>
            <a:ext cx="128016" cy="12801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E8C8C"/>
            </a:solidFill>
            <a:prstDash val="solid"/>
          </a:ln>
        </p:spPr>
      </p:sp>
      <p:sp>
        <p:nvSpPr>
          <p:cNvPr id="134" name="Text 118"/>
          <p:cNvSpPr txBox="1"/>
          <p:nvPr/>
        </p:nvSpPr>
        <p:spPr>
          <a:xfrm>
            <a:off x="10593324" y="226771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1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miRNA</a:t>
            </a:r>
            <a:endParaRPr lang="en-US" sz="750" dirty="0"/>
          </a:p>
        </p:txBody>
      </p:sp>
      <p:sp>
        <p:nvSpPr>
          <p:cNvPr id="135" name="Shape 119"/>
          <p:cNvSpPr/>
          <p:nvPr/>
        </p:nvSpPr>
        <p:spPr>
          <a:xfrm>
            <a:off x="11347704" y="2066544"/>
            <a:ext cx="182880" cy="182880"/>
          </a:xfrm>
          <a:prstGeom prst="ellipse">
            <a:avLst/>
          </a:prstGeom>
          <a:solidFill>
            <a:srgbClr val="C9A227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136" name="Text 120"/>
          <p:cNvSpPr txBox="1"/>
          <p:nvPr/>
        </p:nvSpPr>
        <p:spPr>
          <a:xfrm>
            <a:off x="11027664" y="173736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A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CRMs</a:t>
            </a:r>
            <a:endParaRPr lang="en-US" sz="750" dirty="0"/>
          </a:p>
        </p:txBody>
      </p:sp>
      <p:sp>
        <p:nvSpPr>
          <p:cNvPr id="137" name="Text 121"/>
          <p:cNvSpPr txBox="1"/>
          <p:nvPr/>
        </p:nvSpPr>
        <p:spPr>
          <a:xfrm>
            <a:off x="8531352" y="2596896"/>
            <a:ext cx="3227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 |  Surveillance  |  Quantification  |  Food Safety  |  Standardization</a:t>
            </a:r>
            <a:endParaRPr lang="en-US" sz="700" dirty="0"/>
          </a:p>
        </p:txBody>
      </p:sp>
      <p:pic>
        <p:nvPicPr>
          <p:cNvPr id="138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531352" y="2898648"/>
            <a:ext cx="109728" cy="109728"/>
          </a:xfrm>
          <a:prstGeom prst="rect">
            <a:avLst/>
          </a:prstGeom>
        </p:spPr>
      </p:pic>
      <p:sp>
        <p:nvSpPr>
          <p:cNvPr id="139" name="Text 122"/>
          <p:cNvSpPr txBox="1"/>
          <p:nvPr/>
        </p:nvSpPr>
        <p:spPr>
          <a:xfrm>
            <a:off x="8686800" y="283464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Buffalo adulteration quantification by ddPCR</a:t>
            </a:r>
            <a:endParaRPr lang="en-US" sz="750" dirty="0"/>
          </a:p>
        </p:txBody>
      </p:sp>
      <p:pic>
        <p:nvPicPr>
          <p:cNvPr id="140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158984" y="2898648"/>
            <a:ext cx="109728" cy="109728"/>
          </a:xfrm>
          <a:prstGeom prst="rect">
            <a:avLst/>
          </a:prstGeom>
        </p:spPr>
      </p:pic>
      <p:sp>
        <p:nvSpPr>
          <p:cNvPr id="141" name="Text 123"/>
          <p:cNvSpPr txBox="1"/>
          <p:nvPr/>
        </p:nvSpPr>
        <p:spPr>
          <a:xfrm>
            <a:off x="10314432" y="283464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Sheep–goat duplex real-time PCR</a:t>
            </a:r>
            <a:endParaRPr lang="en-US" sz="750" dirty="0"/>
          </a:p>
        </p:txBody>
      </p:sp>
      <p:pic>
        <p:nvPicPr>
          <p:cNvPr id="142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531352" y="3172968"/>
            <a:ext cx="109728" cy="109728"/>
          </a:xfrm>
          <a:prstGeom prst="rect">
            <a:avLst/>
          </a:prstGeom>
        </p:spPr>
      </p:pic>
      <p:sp>
        <p:nvSpPr>
          <p:cNvPr id="143" name="Text 124"/>
          <p:cNvSpPr txBox="1"/>
          <p:nvPr/>
        </p:nvSpPr>
        <p:spPr>
          <a:xfrm>
            <a:off x="8686800" y="310896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Wildlife / complex-food authentication</a:t>
            </a:r>
            <a:endParaRPr lang="en-US" sz="750" dirty="0"/>
          </a:p>
        </p:txBody>
      </p:sp>
      <p:pic>
        <p:nvPicPr>
          <p:cNvPr id="144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158984" y="3172968"/>
            <a:ext cx="109728" cy="109728"/>
          </a:xfrm>
          <a:prstGeom prst="rect">
            <a:avLst/>
          </a:prstGeom>
        </p:spPr>
      </p:pic>
      <p:sp>
        <p:nvSpPr>
          <p:cNvPr id="145" name="Text 125"/>
          <p:cNvSpPr txBox="1"/>
          <p:nvPr/>
        </p:nvSpPr>
        <p:spPr>
          <a:xfrm>
            <a:off x="10314432" y="310896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Reference Materials</a:t>
            </a:r>
            <a:endParaRPr lang="en-US" sz="750" dirty="0"/>
          </a:p>
        </p:txBody>
      </p:sp>
      <p:sp>
        <p:nvSpPr>
          <p:cNvPr id="146" name="Shape 126"/>
          <p:cNvSpPr/>
          <p:nvPr/>
        </p:nvSpPr>
        <p:spPr>
          <a:xfrm>
            <a:off x="8366760" y="3511296"/>
            <a:ext cx="350215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19050" dir="5400000">
              <a:srgbClr val="0F1C44">
                <a:alpha val="12000"/>
              </a:srgbClr>
            </a:outerShdw>
          </a:effectLst>
        </p:spPr>
      </p:sp>
      <p:sp>
        <p:nvSpPr>
          <p:cNvPr id="147" name="Shape 127"/>
          <p:cNvSpPr/>
          <p:nvPr/>
        </p:nvSpPr>
        <p:spPr>
          <a:xfrm>
            <a:off x="8503920" y="3648456"/>
            <a:ext cx="438912" cy="438912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pic>
        <p:nvPicPr>
          <p:cNvPr id="148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604504" y="3749040"/>
            <a:ext cx="237744" cy="237744"/>
          </a:xfrm>
          <a:prstGeom prst="rect">
            <a:avLst/>
          </a:prstGeom>
        </p:spPr>
      </p:pic>
      <p:sp>
        <p:nvSpPr>
          <p:cNvPr id="149" name="Text 128"/>
          <p:cNvSpPr txBox="1"/>
          <p:nvPr/>
        </p:nvSpPr>
        <p:spPr>
          <a:xfrm>
            <a:off x="9043416" y="3584448"/>
            <a:ext cx="2715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</a:t>
            </a:r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0F1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CAPACITY BUILDING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training on meat speciation, authenticity, FSSAI methods and hands-on molecular techniques</a:t>
            </a:r>
            <a:endParaRPr lang="en-US" sz="900" dirty="0"/>
          </a:p>
        </p:txBody>
      </p:sp>
      <p:sp>
        <p:nvSpPr>
          <p:cNvPr id="150" name="Shape 129"/>
          <p:cNvSpPr/>
          <p:nvPr/>
        </p:nvSpPr>
        <p:spPr>
          <a:xfrm>
            <a:off x="8366760" y="4334256"/>
            <a:ext cx="3502152" cy="1106424"/>
          </a:xfrm>
          <a:prstGeom prst="homePlate">
            <a:avLst/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  <a:effectLst>
            <a:outerShdw sx="100000" sy="100000" kx="0" ky="0" algn="bl" rotWithShape="0" blurRad="76200" dist="19050" dir="5400000">
              <a:srgbClr val="0F1C44">
                <a:alpha val="12000"/>
              </a:srgbClr>
            </a:outerShdw>
          </a:effectLst>
        </p:spPr>
      </p:sp>
      <p:sp>
        <p:nvSpPr>
          <p:cNvPr id="151" name="Text 130"/>
          <p:cNvSpPr txBox="1"/>
          <p:nvPr/>
        </p:nvSpPr>
        <p:spPr>
          <a:xfrm>
            <a:off x="8549640" y="442569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 ➜</a:t>
            </a:r>
            <a:endParaRPr lang="en-US" sz="900" dirty="0"/>
          </a:p>
        </p:txBody>
      </p:sp>
      <p:sp>
        <p:nvSpPr>
          <p:cNvPr id="152" name="Text 131"/>
          <p:cNvSpPr txBox="1"/>
          <p:nvPr/>
        </p:nvSpPr>
        <p:spPr>
          <a:xfrm>
            <a:off x="8549640" y="462686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CERTIFIED REFERENCE MATERIALS</a:t>
            </a:r>
            <a:endParaRPr lang="en-US" sz="1350" dirty="0"/>
          </a:p>
        </p:txBody>
      </p:sp>
      <p:sp>
        <p:nvSpPr>
          <p:cNvPr id="153" name="Text 132"/>
          <p:cNvSpPr txBox="1"/>
          <p:nvPr/>
        </p:nvSpPr>
        <p:spPr>
          <a:xfrm>
            <a:off x="8549640" y="49103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E6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Strengthening standardization, comparability and quality assurance in molecular meat species testing</a:t>
            </a:r>
            <a:endParaRPr lang="en-US" sz="750" dirty="0"/>
          </a:p>
        </p:txBody>
      </p:sp>
      <p:sp>
        <p:nvSpPr>
          <p:cNvPr id="154" name="Shape 133"/>
          <p:cNvSpPr/>
          <p:nvPr/>
        </p:nvSpPr>
        <p:spPr>
          <a:xfrm>
            <a:off x="8549640" y="5193792"/>
            <a:ext cx="1234440" cy="18288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55" name="Text 134"/>
          <p:cNvSpPr txBox="1"/>
          <p:nvPr/>
        </p:nvSpPr>
        <p:spPr>
          <a:xfrm>
            <a:off x="8549640" y="519379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17034 pathway</a:t>
            </a:r>
            <a:endParaRPr lang="en-US" sz="800" dirty="0"/>
          </a:p>
        </p:txBody>
      </p:sp>
      <p:sp>
        <p:nvSpPr>
          <p:cNvPr id="156" name="Shape 135"/>
          <p:cNvSpPr/>
          <p:nvPr/>
        </p:nvSpPr>
        <p:spPr>
          <a:xfrm>
            <a:off x="320040" y="5550408"/>
            <a:ext cx="11548872" cy="530352"/>
          </a:xfrm>
          <a:prstGeom prst="roundRect">
            <a:avLst>
              <a:gd name="adj" fmla="val 13793"/>
            </a:avLst>
          </a:prstGeom>
          <a:solidFill>
            <a:srgbClr val="0F1C44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57" name="Text 136"/>
          <p:cNvSpPr txBox="1"/>
          <p:nvPr/>
        </p:nvSpPr>
        <p:spPr>
          <a:xfrm>
            <a:off x="484632" y="5550408"/>
            <a:ext cx="1051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</a:t>
            </a:r>
            <a:endParaRPr lang="en-US" sz="900" dirty="0"/>
          </a:p>
          <a:p>
            <a:pPr indent="0" marL="0">
              <a:buNone/>
            </a:pPr>
            <a:r>
              <a:rPr lang="en-US" sz="900" b="1" spc="150" kern="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</a:t>
            </a:r>
            <a:endParaRPr lang="en-US" sz="900" dirty="0"/>
          </a:p>
        </p:txBody>
      </p:sp>
      <p:sp>
        <p:nvSpPr>
          <p:cNvPr id="158" name="Shape 137"/>
          <p:cNvSpPr/>
          <p:nvPr/>
        </p:nvSpPr>
        <p:spPr>
          <a:xfrm>
            <a:off x="1600200" y="5660136"/>
            <a:ext cx="0" cy="310896"/>
          </a:xfrm>
          <a:prstGeom prst="line">
            <a:avLst/>
          </a:prstGeom>
          <a:noFill/>
          <a:ln w="9525">
            <a:solidFill>
              <a:srgbClr val="C9A227">
                <a:alpha val="60000"/>
              </a:srgbClr>
            </a:solidFill>
            <a:prstDash val="solid"/>
          </a:ln>
        </p:spPr>
      </p:sp>
      <p:pic>
        <p:nvPicPr>
          <p:cNvPr id="159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709928" y="5705856"/>
            <a:ext cx="219456" cy="219456"/>
          </a:xfrm>
          <a:prstGeom prst="rect">
            <a:avLst/>
          </a:prstGeom>
        </p:spPr>
      </p:pic>
      <p:sp>
        <p:nvSpPr>
          <p:cNvPr id="160" name="Text 138"/>
          <p:cNvSpPr txBox="1"/>
          <p:nvPr/>
        </p:nvSpPr>
        <p:spPr>
          <a:xfrm>
            <a:off x="2002536" y="5586984"/>
            <a:ext cx="12207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NABL Accredited</a:t>
            </a:r>
            <a:endParaRPr lang="en-US" sz="850" dirty="0"/>
          </a:p>
        </p:txBody>
      </p:sp>
      <p:sp>
        <p:nvSpPr>
          <p:cNvPr id="161" name="Shape 139"/>
          <p:cNvSpPr/>
          <p:nvPr/>
        </p:nvSpPr>
        <p:spPr>
          <a:xfrm>
            <a:off x="3296412" y="5660136"/>
            <a:ext cx="0" cy="310896"/>
          </a:xfrm>
          <a:prstGeom prst="line">
            <a:avLst/>
          </a:prstGeom>
          <a:noFill/>
          <a:ln w="9525">
            <a:solidFill>
              <a:srgbClr val="C9A227">
                <a:alpha val="60000"/>
              </a:srgbClr>
            </a:solidFill>
            <a:prstDash val="solid"/>
          </a:ln>
        </p:spPr>
      </p:sp>
      <p:pic>
        <p:nvPicPr>
          <p:cNvPr id="16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406140" y="5705856"/>
            <a:ext cx="219456" cy="219456"/>
          </a:xfrm>
          <a:prstGeom prst="rect">
            <a:avLst/>
          </a:prstGeom>
        </p:spPr>
      </p:pic>
      <p:sp>
        <p:nvSpPr>
          <p:cNvPr id="163" name="Text 140"/>
          <p:cNvSpPr txBox="1"/>
          <p:nvPr/>
        </p:nvSpPr>
        <p:spPr>
          <a:xfrm>
            <a:off x="3698748" y="5586984"/>
            <a:ext cx="12207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FSSAI Referral / Primary Laboratory Recognition</a:t>
            </a:r>
            <a:endParaRPr lang="en-US" sz="850" dirty="0"/>
          </a:p>
        </p:txBody>
      </p:sp>
      <p:sp>
        <p:nvSpPr>
          <p:cNvPr id="164" name="Shape 141"/>
          <p:cNvSpPr/>
          <p:nvPr/>
        </p:nvSpPr>
        <p:spPr>
          <a:xfrm>
            <a:off x="4992624" y="5660136"/>
            <a:ext cx="0" cy="310896"/>
          </a:xfrm>
          <a:prstGeom prst="line">
            <a:avLst/>
          </a:prstGeom>
          <a:noFill/>
          <a:ln w="9525">
            <a:solidFill>
              <a:srgbClr val="C9A227">
                <a:alpha val="60000"/>
              </a:srgbClr>
            </a:solidFill>
            <a:prstDash val="solid"/>
          </a:ln>
        </p:spPr>
      </p:sp>
      <p:pic>
        <p:nvPicPr>
          <p:cNvPr id="165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102352" y="5705856"/>
            <a:ext cx="219456" cy="219456"/>
          </a:xfrm>
          <a:prstGeom prst="rect">
            <a:avLst/>
          </a:prstGeom>
        </p:spPr>
      </p:pic>
      <p:sp>
        <p:nvSpPr>
          <p:cNvPr id="166" name="Text 142"/>
          <p:cNvSpPr txBox="1"/>
          <p:nvPr/>
        </p:nvSpPr>
        <p:spPr>
          <a:xfrm>
            <a:off x="5394960" y="5586984"/>
            <a:ext cx="12207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Referral Laboratory</a:t>
            </a:r>
            <a:endParaRPr lang="en-US" sz="850" dirty="0"/>
          </a:p>
        </p:txBody>
      </p:sp>
      <p:sp>
        <p:nvSpPr>
          <p:cNvPr id="167" name="Shape 143"/>
          <p:cNvSpPr/>
          <p:nvPr/>
        </p:nvSpPr>
        <p:spPr>
          <a:xfrm>
            <a:off x="6688836" y="5660136"/>
            <a:ext cx="0" cy="310896"/>
          </a:xfrm>
          <a:prstGeom prst="line">
            <a:avLst/>
          </a:prstGeom>
          <a:noFill/>
          <a:ln w="9525">
            <a:solidFill>
              <a:srgbClr val="C9A227">
                <a:alpha val="60000"/>
              </a:srgbClr>
            </a:solidFill>
            <a:prstDash val="solid"/>
          </a:ln>
        </p:spPr>
      </p:sp>
      <p:pic>
        <p:nvPicPr>
          <p:cNvPr id="168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798564" y="5705856"/>
            <a:ext cx="219456" cy="219456"/>
          </a:xfrm>
          <a:prstGeom prst="rect">
            <a:avLst/>
          </a:prstGeom>
        </p:spPr>
      </p:pic>
      <p:sp>
        <p:nvSpPr>
          <p:cNvPr id="169" name="Text 144"/>
          <p:cNvSpPr txBox="1"/>
          <p:nvPr/>
        </p:nvSpPr>
        <p:spPr>
          <a:xfrm>
            <a:off x="7091172" y="5586984"/>
            <a:ext cx="12207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NETSCoFAN – Lead Centre for Foods of Animal Origin</a:t>
            </a:r>
            <a:endParaRPr lang="en-US" sz="850" dirty="0"/>
          </a:p>
        </p:txBody>
      </p:sp>
      <p:sp>
        <p:nvSpPr>
          <p:cNvPr id="170" name="Shape 145"/>
          <p:cNvSpPr/>
          <p:nvPr/>
        </p:nvSpPr>
        <p:spPr>
          <a:xfrm>
            <a:off x="8385048" y="5660136"/>
            <a:ext cx="0" cy="310896"/>
          </a:xfrm>
          <a:prstGeom prst="line">
            <a:avLst/>
          </a:prstGeom>
          <a:noFill/>
          <a:ln w="9525">
            <a:solidFill>
              <a:srgbClr val="C9A227">
                <a:alpha val="60000"/>
              </a:srgbClr>
            </a:solidFill>
            <a:prstDash val="solid"/>
          </a:ln>
        </p:spPr>
      </p:sp>
      <p:pic>
        <p:nvPicPr>
          <p:cNvPr id="171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494776" y="5705856"/>
            <a:ext cx="219456" cy="219456"/>
          </a:xfrm>
          <a:prstGeom prst="rect">
            <a:avLst/>
          </a:prstGeom>
        </p:spPr>
      </p:pic>
      <p:sp>
        <p:nvSpPr>
          <p:cNvPr id="172" name="Text 146"/>
          <p:cNvSpPr txBox="1"/>
          <p:nvPr/>
        </p:nvSpPr>
        <p:spPr>
          <a:xfrm>
            <a:off x="8787384" y="5586984"/>
            <a:ext cx="12207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FAPAS Proficiency Testing</a:t>
            </a:r>
            <a:endParaRPr lang="en-US" sz="850" dirty="0"/>
          </a:p>
        </p:txBody>
      </p:sp>
      <p:sp>
        <p:nvSpPr>
          <p:cNvPr id="173" name="Shape 147"/>
          <p:cNvSpPr/>
          <p:nvPr/>
        </p:nvSpPr>
        <p:spPr>
          <a:xfrm>
            <a:off x="10081260" y="5660136"/>
            <a:ext cx="0" cy="310896"/>
          </a:xfrm>
          <a:prstGeom prst="line">
            <a:avLst/>
          </a:prstGeom>
          <a:noFill/>
          <a:ln w="9525">
            <a:solidFill>
              <a:srgbClr val="C9A227">
                <a:alpha val="60000"/>
              </a:srgbClr>
            </a:solidFill>
            <a:prstDash val="solid"/>
          </a:ln>
        </p:spPr>
      </p:sp>
      <p:pic>
        <p:nvPicPr>
          <p:cNvPr id="174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190988" y="5705856"/>
            <a:ext cx="219456" cy="219456"/>
          </a:xfrm>
          <a:prstGeom prst="rect">
            <a:avLst/>
          </a:prstGeom>
        </p:spPr>
      </p:pic>
      <p:sp>
        <p:nvSpPr>
          <p:cNvPr id="175" name="Text 148"/>
          <p:cNvSpPr txBox="1"/>
          <p:nvPr/>
        </p:nvSpPr>
        <p:spPr>
          <a:xfrm>
            <a:off x="10483596" y="5586984"/>
            <a:ext cx="12207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FSSAI Eat Right Research Team Award</a:t>
            </a:r>
            <a:endParaRPr lang="en-US" sz="850" dirty="0"/>
          </a:p>
        </p:txBody>
      </p:sp>
      <p:sp>
        <p:nvSpPr>
          <p:cNvPr id="176" name="Text 149"/>
          <p:cNvSpPr txBox="1"/>
          <p:nvPr/>
        </p:nvSpPr>
        <p:spPr>
          <a:xfrm>
            <a:off x="548640" y="618134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pPr algn="ctr" indent="0" marL="0">
              <a:buNone/>
            </a:pPr>
            <a:r>
              <a:rPr lang="en-US" sz="1300" i="1" dirty="0">
                <a:solidFill>
                  <a:srgbClr val="0F1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research laboratory to nationally recognised testing facility — advancing authenticity, accountability, food safety and scientific integrity.</a:t>
            </a:r>
            <a:pPr algn="ctr" indent="0" marL="0">
              <a:buNone/>
            </a:pPr>
            <a:r>
              <a:rPr lang="en-US" sz="1600" b="1" i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”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ICAR-MSIL: From Molecular Science to National Food Authenticity</dc:title>
  <dc:subject>PptxGenJS Presentation</dc:subject>
  <dc:creator>ICAR-National Meat Research Institute, Hyderabad</dc:creator>
  <cp:lastModifiedBy>ICAR-National Meat Research Institute, Hyderabad</cp:lastModifiedBy>
  <cp:revision>1</cp:revision>
  <dcterms:created xsi:type="dcterms:W3CDTF">2026-09-25T06:57:47Z</dcterms:created>
  <dcterms:modified xsi:type="dcterms:W3CDTF">2026-09-25T06:57:47Z</dcterms:modified>
</cp:coreProperties>
</file>