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50800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BiGeo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00D4FF"/>
                </a:solidFill>
                <a:latin typeface="Calibri"/>
              </a:rPr>
              <a:t>Rural India's Last-Mile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800M people. Zero addressable locations. Until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194560"/>
            <a:ext cx="5029200" cy="109728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3317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Calibri"/>
              </a:rPr>
              <a:t>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514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Rural RTO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566160"/>
            <a:ext cx="5029200" cy="109728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703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22C55E"/>
                </a:solidFill>
                <a:latin typeface="Calibri"/>
              </a:rPr>
              <a:t>&lt;2s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886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Address 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4937760"/>
            <a:ext cx="5029200" cy="109728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0749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00D4FF"/>
                </a:solidFill>
                <a:latin typeface="Calibri"/>
              </a:rPr>
              <a:t>800M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257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Unaddressed Indians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Swamy  |  admin@bigeo.in  |  bigeo.in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alibri"/>
              </a:rPr>
              <a:t>India's ₹2,800 Crore Address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27% of rural deliveries fail — not because of logistics, but because the address doesn't exist anywhere digital.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49039" cy="40233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FF6B35"/>
                </a:solidFill>
                <a:latin typeface="Calibri"/>
              </a:rPr>
              <a:t>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Rural RTO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vs 8–12% in metros.
Shiprocket 2023–24 report.
Caused by unresolvable addresses.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749039" cy="40233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749039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F87171"/>
                </a:solidFill>
                <a:latin typeface="Calibri"/>
              </a:rPr>
              <a:t>₹180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06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Wasted Per Failed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On a ₹400 COD order, reverse logistics
eats 45% of the order value before
the product even returns.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749039" cy="40233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749039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82880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00D4FF"/>
                </a:solidFill>
                <a:latin typeface="Calibri"/>
              </a:rPr>
              <a:t>800M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606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Indians with No Digital 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01752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No structured house number, street name,
or mappable GPS coordinate.
Invisible to every logistics system today.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69280"/>
            <a:ext cx="11430000" cy="777240"/>
          </a:xfrm>
          <a:prstGeom prst="rect">
            <a:avLst/>
          </a:prstGeom>
          <a:solidFill>
            <a:srgbClr val="120A00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  <a:latin typeface="Calibri"/>
              </a:rPr>
              <a:t>"Near banyan tree, behind Raju shop, Yellareddyguda, Siddipet" — a real address. Google Maps returns nothing.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Google Maps, HERE, MapMyIndia — All Fail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Every major mapping provider has a critical blind spot: unstructured rural addresses.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411480"/>
          </a:xfrm>
          <a:prstGeom prst="rect">
            <a:avLst/>
          </a:prstGeom>
          <a:solidFill>
            <a:srgbClr val="14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544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Urban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Rural 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Rural Unstructured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5544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Logistics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11430000" cy="5943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Google 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031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Excellent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Good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✗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1031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24328"/>
            <a:ext cx="11430000" cy="59436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6148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HERE Maps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76148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Excellent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6148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Calibri"/>
              </a:rPr>
              <a:t>~ 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614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✗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7614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82696"/>
            <a:ext cx="11430000" cy="5943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19856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MapMyIndia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41985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Good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41985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Calibri"/>
              </a:rPr>
              <a:t>~ 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41985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✗ Fails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419856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  <a:latin typeface="Calibri"/>
              </a:rPr>
              <a:t>~ Limited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41064"/>
            <a:ext cx="11430000" cy="59436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7822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India 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0782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Good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0782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Good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7822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✗ Fails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07822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Calibri"/>
              </a:rPr>
              <a:t>✗ No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99431"/>
            <a:ext cx="11430000" cy="594360"/>
          </a:xfrm>
          <a:prstGeom prst="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599431"/>
            <a:ext cx="3810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36591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BiGeo VAAHAN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736591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Good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736591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Good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736591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0.92 conf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736591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✓ Production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Nobody has cracked Tier 3/4 rural addresses at production API quality. Until BiGeo.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Calibri"/>
              </a:rPr>
              <a:t>BiGeo VAAHAN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Send us any Indian address. Get GPS + structured data back in under 2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solidFill>
            <a:srgbClr val="030712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POST /parse
{"address": "Near banyan tree,
Yellareddyguda, Siddipet, Telangana"}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22C55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63040"/>
            <a:ext cx="5120640" cy="2743200"/>
          </a:xfrm>
          <a:prstGeom prst="rect">
            <a:avLst/>
          </a:prstGeom>
          <a:solidFill>
            <a:srgbClr val="030712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08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  <a:latin typeface="Calibri"/>
              </a:rPr>
              <a:t>RESPONSE  200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{
  "village": "Yellareddyguda",
  "mandal":  "Siddipet",
  "district":"Siddipet",
  "state":   "Telangana",
  "pincode": "502103",
  "lat": 18.10344,
  "lng": 78.84707,
  "confidence": 0.95,
  "gps_source": "here-maps"
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34840"/>
            <a:ext cx="2743200" cy="12801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Calibri"/>
              </a:rPr>
              <a:t>&lt;2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End-to-end latency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434840"/>
            <a:ext cx="2743200" cy="12801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5720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0.95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0292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Confidence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434840"/>
            <a:ext cx="2743200" cy="12801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alibri"/>
              </a:rPr>
              <a:t>800M+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Addressable rural Indians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4434840"/>
            <a:ext cx="2743200" cy="12801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5720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1M+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50292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Locations in knowledge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Live at: v34s17v3h2.execute-api.ap-south-1.amazonaws.com/v1/parse  |  Demo key: demo-public-readonly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The Data Nobody Assembled Before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5 government datasets. 3 months of ETL. 1M+ locations indexed. Not downloadable from anywhere.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749039" cy="19202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749039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815K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PMGSY GeoSadak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Rural habitation GPS points
from Ministry of Rural Dev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749039" cy="19202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749039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689K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23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LGD Village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Villages across all
36 states + 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3749039" cy="19202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91640"/>
            <a:ext cx="3749039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74520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6B35"/>
                </a:solidFill>
                <a:latin typeface="Calibri"/>
              </a:rPr>
              <a:t>165K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231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India Post Pincode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Post offices with
verified lat/lon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977639"/>
            <a:ext cx="3749039" cy="19202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3977639"/>
            <a:ext cx="3749039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4160519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A78BFA"/>
                </a:solidFill>
                <a:latin typeface="Calibri"/>
              </a:rPr>
              <a:t>19,559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70915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DynamoDB Pincode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029199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Pincodes with GPS centroids
live in production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977639"/>
            <a:ext cx="3749039" cy="19202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0" y="3977639"/>
            <a:ext cx="3749039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4160519"/>
            <a:ext cx="3291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BBF24"/>
                </a:solidFill>
                <a:latin typeface="Calibri"/>
              </a:rPr>
              <a:t>1M+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70915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AWS Bedrock KB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029199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Locations vector-indexed
semantic search &lt;500ms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4-Layer Resolution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Every address passes through four validation stages before we return a GPS coordinate.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743200" cy="40233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920240"/>
            <a:ext cx="73152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7090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Vector search across 1M+
PMGSY habitations + India Post
locations in AWS Bedrock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737360"/>
            <a:ext cx="2743200" cy="40233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73736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920240"/>
            <a:ext cx="73152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920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7090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7889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LLM DISAMBIGUATION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2461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Claude Sonnet reads the address
in context, ranks candidates,
resolves ambiguity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737360"/>
            <a:ext cx="2743200" cy="40233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1737360"/>
            <a:ext cx="27432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0336" y="1920240"/>
            <a:ext cx="731520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920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7090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7889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GPS ENRICHMENT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2461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HERE Maps validates.
19,559 pincode centroids
as guaranteed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474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98864" y="1737360"/>
            <a:ext cx="2743200" cy="40233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98864" y="1737360"/>
            <a:ext cx="2743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04704" y="1920240"/>
            <a:ext cx="731520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4704" y="1920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7090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27889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STRUCTURED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32461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village / mandal / district
state / pincode / lat / lng
confidence / gps_source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5989320"/>
            <a:ext cx="3931920" cy="502920"/>
          </a:xfrm>
          <a:prstGeom prst="rect">
            <a:avLst/>
          </a:prstGeom>
          <a:solidFill>
            <a:srgbClr val="0A140A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60807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&lt; 2 seconds end-to-end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What's Live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Production on AWS ap-south-1. Not a prototype.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00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VAAHAN API — Production (AWS Lambda + API Gateway)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POST /parse — single address, &lt;2s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POST /parse/bulk — up to 1,000 addresses/request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POST /register — API key provisioning +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GET /health — uptime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AWS Bedrock KB: 1M+ locations (PMGSY + India Post)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HERE Maps GPS + 19,559 pincode centroid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DynamoDB — API keys, usage, villages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Mixpanel analytics on every parse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5486400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08760"/>
            <a:ext cx="5486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India Address Graph — Geocoding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649,529 villages loaded (LGD directory)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6,932 subdistricts indexed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165,627 post offices with coordinates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FastAPI + PostgreSQL/PostGIS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Forward geocode: locality_match ≥ 0.75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Reverse geocode: nearest pincode via KNN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5780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Trigram GIN indexes for fuzzy village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60720"/>
            <a:ext cx="5120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▸ 19,559 pincodes in DynamoDB with GPS centroids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Live API — Try It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solidFill>
            <a:srgbClr val="030712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https://v34s17v3h2.execute-api.ap-south-1.amazonaws.com/v1/parse   |   Key: demo-public-readonly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749039" cy="43891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749039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3474720" cy="109728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H.No 3-12, near Govt School,
Narsapur, Medak 502313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30752"/>
            <a:ext cx="3474720" cy="13716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76472"/>
            <a:ext cx="3291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village: Narsapur
lat: 17.772  lng: 78.299
confidence: 0.78
gps_source: pincode-centroid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3749039" cy="43891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920240"/>
            <a:ext cx="3749039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0116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INPUT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286000"/>
            <a:ext cx="3474720" cy="109728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33172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Opp water tank, Bhoompally
village, Siddipet Telangana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56432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730752"/>
            <a:ext cx="3474720" cy="13716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776472"/>
            <a:ext cx="3291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village: Bhoompally
lat: 18.103  lng: 78.847
confidence: 0.80
gps_source: here-maps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20240"/>
            <a:ext cx="3749039" cy="43891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920240"/>
            <a:ext cx="3749039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01168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286000"/>
            <a:ext cx="3474720" cy="109728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33172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Opp ZP school, Chinnakodur,
Siddipet 502103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56432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alibri"/>
              </a:rPr>
              <a:t>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3730752"/>
            <a:ext cx="3474720" cy="13716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776472"/>
            <a:ext cx="3291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  <a:latin typeface="Calibri"/>
              </a:rPr>
              <a:t>village: Chinnakodur
lat: 17.996  lng: 78.815
confidence: 0.92
gps_source: here-maps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Test live at bigeo.in  |  Full docs at bigeo.in/docs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BiGeo is the only player purpose-built for unstructured rural Indian addresses.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194560" cy="4846320"/>
          </a:xfrm>
          <a:prstGeom prst="rect">
            <a:avLst/>
          </a:prstGeom>
          <a:solidFill>
            <a:srgbClr val="0A140A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1945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BiGeo VAAHAN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✓ Production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0087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✓ Rural unstructured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48456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✓ 1M+ locations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06824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✓ ₹3/1K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65192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✓ Confidence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6624" y="1691640"/>
            <a:ext cx="2194560" cy="48463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06624" y="1691640"/>
            <a:ext cx="219456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3784" y="18288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Google Maps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3784" y="23317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Urban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3784" y="2990087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Rural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784" y="3648456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No India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3784" y="4306824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Premium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3784" y="4965192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No 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7488" y="1691640"/>
            <a:ext cx="2194560" cy="48463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7488" y="1691640"/>
            <a:ext cx="219456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4648" y="18288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HERE Maps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23317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Urban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2990087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Rural limited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648456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Generic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4306824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Enterprise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4965192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No India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1691640"/>
            <a:ext cx="2194560" cy="48463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88352" y="1691640"/>
            <a:ext cx="219456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8288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MapMyIndia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23317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Urban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990087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No unstructured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5512" y="3648456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Limited rural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4306824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Licensing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4965192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No bulk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9216" y="1691640"/>
            <a:ext cx="2194560" cy="48463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29216" y="1691640"/>
            <a:ext cx="219456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66376" y="18288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OSM / Nominatim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6376" y="23317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Incomplete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66376" y="2990087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No rural hab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6376" y="3648456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DIY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66376" y="4306824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Free but broken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66376" y="4965192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• No SLA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No other vendor resolves unstructured rural addresses at production API quality with a confidence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 Paying Verticals, Same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One infrastructure layer. Three distinct revenue streams.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E-Commerce &amp;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Operations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  <a:latin typeface="Calibri"/>
              </a:rPr>
              <a:t>PAIN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27% rural RTO costs ₹180/order in reverse logistics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  <a:latin typeface="Calibri"/>
              </a:rPr>
              <a:t>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Reduce RTO to &lt;10%. ROI in under 3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Buyers: Delhivery, Shadowfax, Porter, Meesho sellers, ONDC merchants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3749039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7373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Rural Fintech &amp; Banking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488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Credit Risk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603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  <a:latin typeface="Calibri"/>
              </a:rPr>
              <a:t>PAIN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78892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No structured address = no KYC = no loan disbursement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832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  <a:latin typeface="Calibri"/>
              </a:rPr>
              <a:t>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61188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Address verification for KYC, loans, insurance claims.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Buyers: Aye Finance, Spice Money, Avail Finance, Rural MFIs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55448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554480"/>
            <a:ext cx="3749039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7373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Government &amp; eGov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488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NIC / State IT Director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5603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87171"/>
                </a:solidFill>
                <a:latin typeface="Calibri"/>
              </a:rPr>
              <a:t>PAIN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8892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PM-KISAN, PM Awas beneficiaries can't be geocoded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3832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  <a:latin typeface="Calibri"/>
              </a:rPr>
              <a:t>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1188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Geocode beneficiaries for welfare scheme delivery.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062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Buyers: State NIC offices, CSC centres, eGovernance vendors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TAM That's Not Going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ONDC mandate is making rural address resolution a compliance requirement, not a nice-to-have.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34747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6616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 i="0">
                <a:solidFill>
                  <a:srgbClr val="FF6B35"/>
                </a:solidFill>
                <a:latin typeface="Calibri"/>
              </a:rPr>
              <a:t>₹2,800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Annual reverse logistics waste
from rural COD failures (2025)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566160" cy="34747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5661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 i="0">
                <a:solidFill>
                  <a:srgbClr val="22C55E"/>
                </a:solidFill>
                <a:latin typeface="Calibri"/>
              </a:rPr>
              <a:t>$1.89B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8036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India Location-based Services
Market size (2025, MarketsandMarkets)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566160" cy="34747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2024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 i="0">
                <a:solidFill>
                  <a:srgbClr val="00D4FF"/>
                </a:solidFill>
                <a:latin typeface="Calibri"/>
              </a:rPr>
              <a:t>800M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8036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Rural Indians with no
structured digital address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40680"/>
            <a:ext cx="3749039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3383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ONDC has 9.4L+ monthly transactions in tier-2/3 cities, all requiring address parsing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5440680"/>
            <a:ext cx="3749039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5532120"/>
            <a:ext cx="3383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India logistics market: $250B by 2030 (Bain &amp; Company) — rural last-mile is the bottleneck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5440680"/>
            <a:ext cx="3749039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5532120"/>
            <a:ext cx="3383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Direct Benefit Transfer: ₹38L Cr disbursed — all require geocoded beneficiary addresses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₹3 per 1,000 API calls. 72% gross margin. Scales to zero marginal cost after 10M calls/month.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03520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035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Pricing Tiers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029200" cy="685800"/>
          </a:xfrm>
          <a:prstGeom prst="rect">
            <a:avLst/>
          </a:prstGeom>
          <a:solidFill>
            <a:srgbClr val="12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317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₹5 / 1K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Up to 100K calls/mo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5029200" cy="685800"/>
          </a:xfrm>
          <a:prstGeom prst="rect">
            <a:avLst/>
          </a:prstGeom>
          <a:solidFill>
            <a:srgbClr val="12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108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₹3.5 / 1K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100K – 1M calls/mo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5029200" cy="685800"/>
          </a:xfrm>
          <a:prstGeom prst="rect">
            <a:avLst/>
          </a:prstGeom>
          <a:solidFill>
            <a:srgbClr val="12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8862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₹3 / 1K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1M – 10M calls/mo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5029200" cy="685800"/>
          </a:xfrm>
          <a:prstGeom prst="rect">
            <a:avLst/>
          </a:prstGeom>
          <a:solidFill>
            <a:srgbClr val="12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6634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Custom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10M+ calls/mo, SLA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508760"/>
            <a:ext cx="5669280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508760"/>
            <a:ext cx="5669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6916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Gross Margin — 1M Calls/Month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4028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Revenue (₹3/1K × 1M)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2402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22C55E"/>
                </a:solidFill>
                <a:latin typeface="Calibri"/>
              </a:rPr>
              <a:t>₹3,000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8892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AWS Lambda + API GW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7889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87171"/>
                </a:solidFill>
                <a:latin typeface="Calibri"/>
              </a:rPr>
              <a:t>– ₹200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337559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Bedrock / HERE Maps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33755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87171"/>
                </a:solidFill>
                <a:latin typeface="Calibri"/>
              </a:rPr>
              <a:t>– ₹450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886199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DynamoDB reads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88619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87171"/>
                </a:solidFill>
                <a:latin typeface="Calibri"/>
              </a:rPr>
              <a:t>– ₹80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43484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Bandwidth / misc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4348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87171"/>
                </a:solidFill>
                <a:latin typeface="Calibri"/>
              </a:rPr>
              <a:t>– ₹120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937760"/>
            <a:ext cx="5394960" cy="9525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98348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Gross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9834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22C55E"/>
                </a:solidFill>
                <a:latin typeface="Calibri"/>
              </a:rPr>
              <a:t>₹2,150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5486400"/>
            <a:ext cx="5394960" cy="9525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532120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Gross Margin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5321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FBBF24"/>
                </a:solidFill>
                <a:latin typeface="Calibri"/>
              </a:rPr>
              <a:t>72%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At 100M calls/month (Delhivery scale): ₹2.15 Cr/month gross margin from a single customer.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 Weeks In — Here's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Production infra live. Data loaded. Conversations started.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00" cy="49377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✓  VAAHAN API live on AWS (ap-south-1)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✓  Bulk endpoint: 1,000 addresses/request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✓  649K villages + 1M+ GPS points loaded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✓  HERE Maps GPS enrichment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✓  API key registration + email provisioning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✓  bigeo.in website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✓  5 warm conversations with logistics/fintech ops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✓  $10,000 AWS credits 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5486400" cy="49377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08760"/>
            <a:ext cx="5486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45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NEXT 60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574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◻  10K failed-delivery address pilot with logistics 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◻  Google Maps enabled (GCP billing activation)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◻  India Address Graph deployed to production (AWS ECS)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03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◻  First paying customer (₹2–5/call, 1M+ calls/mo target)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◻  DPIIT startup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00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◻  NVIDIA Inception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492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◻  Series of blog posts on rural address resolution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Operators, engineers, and domain experts who've lived the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834640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8346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828800"/>
            <a:ext cx="100584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7090F"/>
                </a:solidFill>
                <a:latin typeface="Calibri"/>
              </a:rPr>
              <a:t>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Swamy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46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  <a:latin typeface="Calibri"/>
              </a:rPr>
              <a:t>Founder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5760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TSIC Entrepreneurship Fellow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33087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BeVisioneers (Mercedes-Benz Foundation)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608576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Perplexity AI — Builders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084064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MeitY Genesis + IIM Udaipur Incubation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55955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Background: rural supply chain + AI product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554480"/>
            <a:ext cx="2834640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554480"/>
            <a:ext cx="28346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828800"/>
            <a:ext cx="1005840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82880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7090F"/>
                </a:solidFill>
                <a:latin typeface="Calibri"/>
              </a:rPr>
              <a:t>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Sai Smaran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246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Co-founder &amp; 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65760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Ex-AT&amp;T — telecom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133087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Distributed systems &amp; API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608576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AWS-certified solutions architect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084064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Led teams shipping at 10M+ req/day scale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554480"/>
            <a:ext cx="2834640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554480"/>
            <a:ext cx="283464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0" y="1828800"/>
            <a:ext cx="1005840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182880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7090F"/>
                </a:solidFill>
                <a:latin typeface="Calibri"/>
              </a:rPr>
              <a:t>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926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Akhil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246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Co-founder &amp; Legal / 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65760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Electronics Engineering + Law dual degree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33087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Regulatory &amp; compliance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608576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Startup legal structuring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084064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DPIIT recognition process lead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1554480"/>
            <a:ext cx="2834640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89720" y="1554480"/>
            <a:ext cx="283464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04120" y="1828800"/>
            <a:ext cx="100584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182880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7090F"/>
                </a:solidFill>
                <a:latin typeface="Calibri"/>
              </a:rPr>
              <a:t>SY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926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Shanmukha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246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  <a:latin typeface="Calibri"/>
              </a:rPr>
              <a:t>Co-founder &amp; 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65760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SDE at Verizon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133087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Python / FastAPI / PostGIS specialist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608576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India Address Graph architecture owner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084064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Calibri"/>
              </a:rPr>
              <a:t>• ETL pipelines for 1M+ records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Incubated at IIM Udaipur via MeitY Genesis  |  $10,000 AWS credits active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Pricing &amp; 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Land with a pilot. Prove RTO reduction. Expand to full fleet.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743200" cy="292608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468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Free 10K-address pilot
with logistics ops team
Prove RTO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926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691640"/>
            <a:ext cx="2743200" cy="292608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6916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874519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286000"/>
            <a:ext cx="2468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Measure RTO before/after
27% → target &lt;12%
Calculate ₹ saved per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26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691640"/>
            <a:ext cx="2743200" cy="292608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691640"/>
            <a:ext cx="27432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874519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286000"/>
            <a:ext cx="2468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Convert to paid contract
₹3–5/call, 1M+ calls/month
Annual commit discount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2926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691640"/>
            <a:ext cx="2743200" cy="292608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691640"/>
            <a:ext cx="2743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1874519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286000"/>
            <a:ext cx="2468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Add 2nd vertical (fintech)
Cross-sell bulk + webhook
Enterprise SLA tier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11430000" cy="16459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83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Target first customers: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4924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Shadowfax (rural-first)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34924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Porter (B2B logistics)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34924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Ecom Express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852159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Aye Finance (NBFC)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852159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Spice Money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852159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Any state NIC office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The ONDC Mandate is Our Tailwind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ONDC Beckn v1.2 requires structured location data for every order. Rural merchants can't comply without BiGeo.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743200" cy="16459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9.4L+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2468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Monthly ONDC transactions
in tier-2/3 cities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691640"/>
            <a:ext cx="2743200" cy="16459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691640"/>
            <a:ext cx="27432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874519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alibri"/>
              </a:rPr>
              <a:t>7.5M+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468880"/>
            <a:ext cx="2468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Sellers onboarded
to ONDC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691640"/>
            <a:ext cx="2743200" cy="16459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69164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874519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Calibri"/>
              </a:rPr>
              <a:t>₹0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68880"/>
            <a:ext cx="2468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Cost to mandate structured
address — it's a spec requirement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691640"/>
            <a:ext cx="2743200" cy="164592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691640"/>
            <a:ext cx="2743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874519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Day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468880"/>
            <a:ext cx="2468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BiGeo compliance layer
ready for any BAP/BPP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11430000" cy="26517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11430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ONDC Integration 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14800"/>
            <a:ext cx="2468880" cy="164592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0624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E5E7EB"/>
                </a:solidFill>
                <a:latin typeface="Calibri"/>
              </a:rPr>
              <a:t>BAP receives order
with rural address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754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39" y="4114800"/>
            <a:ext cx="2468880" cy="164592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9" y="420624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E5E7EB"/>
                </a:solidFill>
                <a:latin typeface="Calibri"/>
              </a:rPr>
              <a:t>BAP calls
BiGeo /parse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79" y="4754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114800"/>
            <a:ext cx="2468880" cy="164592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20624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E5E7EB"/>
                </a:solidFill>
                <a:latin typeface="Calibri"/>
              </a:rPr>
              <a:t>BiGeo returns GPS +
structured location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754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59" y="4114800"/>
            <a:ext cx="2468880" cy="164592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19" y="420624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E5E7EB"/>
                </a:solidFill>
                <a:latin typeface="Calibri"/>
              </a:rPr>
              <a:t>BPP / logistics
provider completes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Result: every ONDC rural order becomes deliverable. BiGeo = compliance infrastructure.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12 months to market leadership in rural Indian address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NOW – 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First paying customer 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India Address Graph → production (AWS ECS)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Google Maps cross-validation enabled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DPIIT startup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34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10K address pilot with logistics partner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749039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737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402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3 paying customers (logistics + fintech)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260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Expand KB to 5M locations (state shapefiles)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118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IndicBERT NER for 22-language address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976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Webhook / async bulk API (100K address jobs)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9834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First fintech KYC integration 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554480"/>
            <a:ext cx="3749039" cy="502920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554480"/>
            <a:ext cx="3749039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37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Q1–Q2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402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10 enterprise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260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ONDC compliance layer productised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118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Reverse geocode (GPS → village/pincode)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Real-time delivery tracking enrichment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834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Series A readiness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We're Looking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22C55E"/>
                </a:solidFill>
                <a:latin typeface="Calibri"/>
              </a:rPr>
              <a:t>Pre-seed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₹1 – 2 Crore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alibri"/>
              </a:rPr>
              <a:t>Use of Funds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5080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47872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Load state shapefiles, PMGSY habitation CSV,
expand Bedrock KB to 5M locations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5080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GTM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53712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Pilot 3 logistics companies,
convert 1 to paid contract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03520"/>
            <a:ext cx="50800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2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First hire: backend engineer
(ETL pipelines + API reliability)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alibri"/>
              </a:rPr>
              <a:t>What investors 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960120"/>
            <a:ext cx="548640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96012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051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Data moat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37160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1M+ indexed Indian locations no competitor has assembled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103120"/>
            <a:ext cx="548640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103120"/>
            <a:ext cx="50800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194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API in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1460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Live on AWS, responding in &lt;2s, ready to sign customers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46120"/>
            <a:ext cx="548640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246120"/>
            <a:ext cx="5080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337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Regulatory tailwind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65760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ONDC mandate converts us from nice-to-have →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389120"/>
            <a:ext cx="5486400" cy="100584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389120"/>
            <a:ext cx="50800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480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Massive TAM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80060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$1.89B LBS market + ₹2,800 Cr logistics waste we unlock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577840"/>
            <a:ext cx="5486400" cy="10515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6692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Swamy  —  Founder &amp; CEO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98932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  <a:latin typeface="Calibri"/>
              </a:rPr>
              <a:t>admin@bigeo.in   |   bigeo.in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2636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API: v34s17v3h2.execute-api.ap-south-1.amazonaws.com/v1/parse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