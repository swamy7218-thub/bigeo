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74920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5074920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16736" y="5074920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46504" y="5074920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76272" y="5074920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06039" y="5074920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35808" y="5074920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65576" y="5074920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95344" y="5074920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25112" y="5074920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79" y="5074920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84648" y="5074920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14416" y="5074920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44183" y="5074920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3952" y="5074920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03720" y="5074920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33488" y="5074920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63255" y="5074920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93023" y="5074920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22792" y="5074920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52559" y="5074920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82328" y="5074920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12096" y="5074920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41863" y="5074920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71632" y="5074920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201400" y="5074920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5458968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6968" y="5458968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16736" y="5458968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746504" y="5458968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76272" y="5458968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606039" y="5458968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035808" y="5458968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465576" y="5458968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895344" y="5458968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25112" y="5458968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54879" y="5458968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184648" y="5458968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14416" y="5458968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4183" y="5458968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73952" y="5458968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03720" y="5458968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33488" y="5458968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63255" y="5458968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93023" y="5458968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22792" y="5458968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52559" y="5458968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482328" y="5458968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12096" y="5458968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341863" y="5458968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71632" y="5458968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01400" y="5458968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57200" y="5843016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86968" y="5843016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316736" y="5843016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746504" y="5843016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76272" y="5843016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606039" y="5843016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035808" y="5843016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465576" y="5843016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895344" y="5843016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325112" y="5843016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754879" y="5843016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184648" y="5843016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614416" y="5843016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44183" y="5843016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473952" y="5843016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03720" y="5843016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333488" y="5843016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763255" y="5843016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193023" y="5843016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622792" y="5843016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052559" y="5843016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482328" y="5843016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12096" y="5843016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341863" y="5843016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771632" y="5843016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201400" y="5843016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57200" y="6227064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86968" y="6227064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316736" y="6227064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746504" y="6227064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176272" y="6227064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606039" y="6227064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035808" y="6227064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465576" y="6227064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895344" y="6227064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25112" y="6227064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754879" y="6227064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184648" y="6227064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614416" y="6227064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044183" y="6227064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473952" y="6227064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903720" y="6227064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333488" y="6227064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763255" y="6227064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193023" y="6227064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622792" y="6227064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052559" y="6227064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482328" y="6227064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912096" y="6227064"/>
            <a:ext cx="146304" cy="1463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341863" y="6227064"/>
            <a:ext cx="146304" cy="146304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771632" y="6227064"/>
            <a:ext cx="146304" cy="146304"/>
          </a:xfrm>
          <a:prstGeom prst="ellipse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201400" y="6227064"/>
            <a:ext cx="146304" cy="146304"/>
          </a:xfrm>
          <a:prstGeom prst="ellipse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31520" y="7772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93B0"/>
                </a:solidFill>
                <a:latin typeface="Calibri"/>
              </a:rPr>
              <a:t>LITERATURE REVIEW · GAP ANALYSIS · RESEARCH DIRECTIONS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1520" y="1280160"/>
            <a:ext cx="10881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Single-Dye (FAM) Amplitude Multiplexing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in ddPCR for Meat &amp; Cultivated-Meat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7240" y="3977639"/>
            <a:ext cx="2194560" cy="4445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31520" y="42062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9D6DF"/>
                </a:solidFill>
                <a:latin typeface="Calibri"/>
              </a:rPr>
              <a:t>A deep review, gap analysis, and a ranked set of novel research directions —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prepared for supervisor discussion.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A93B0"/>
                </a:solidFill>
                <a:latin typeface="Calibri"/>
              </a:rPr>
              <a:t>Food-authentication / cultivated-meat molecular QC programme   ·   Compiled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HOW THIS DECK IS ORGANISED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761488" cy="14173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761488" cy="82296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9293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8A2B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86000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Scope &amp; honesty caveat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060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How the evidence was gathered — and the verification limit you must respect.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783080"/>
            <a:ext cx="2761488" cy="14173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783080"/>
            <a:ext cx="2761488" cy="82296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293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8A2B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286000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The three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6060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The spine: what single-FAM amplitude multiplexing can and cannot do today.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2761488" cy="14173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2761488" cy="82296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19293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8A2B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286000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Literature landscape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060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Amplitude foundations · single-FAM methods · classifiers · meat ddPCR · cultivated-meat QC.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783080"/>
            <a:ext cx="2761488" cy="14173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1783080"/>
            <a:ext cx="2761488" cy="82296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19293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8A2B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286000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Limitations &amp;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26060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The hard 2–3 tier ceiling, missing metrics, and the untested degraded matrices.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83280"/>
            <a:ext cx="2761488" cy="14173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383280"/>
            <a:ext cx="2761488" cy="82296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5295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8A2B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3886200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The cultivated-meat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42062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Why species DNA can't answer 'cultured or conventional?' — the Bos taurus limit.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3383280"/>
            <a:ext cx="2761488" cy="14173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0" y="3383280"/>
            <a:ext cx="2761488" cy="82296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21024" y="35295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8A2B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1024" y="3886200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Ten research ideas → ranking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1024" y="42062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Scored, novelty-checked (GREEN/YELLOW/RED), narrowed to a top three.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383280"/>
            <a:ext cx="2761488" cy="14173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383280"/>
            <a:ext cx="2761488" cy="82296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7104" y="35295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8A2B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7104" y="3886200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Recommended 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42062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A de-risked two-phase programme with a guaranteed low-risk deliverable.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3383280"/>
            <a:ext cx="2761488" cy="14173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26880" y="3383280"/>
            <a:ext cx="2761488" cy="82296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73184" y="35295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8A2B"/>
                </a:solidFill>
                <a:latin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73184" y="3886200"/>
            <a:ext cx="2487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Must-read papers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73184" y="42062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The 15–20 DOIs to read before the meeting.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SECTION 0 — READ THIS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Scope, method &amp; an honest verification caveat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5943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E08A2B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0F243E"/>
                </a:solidFill>
                <a:latin typeface="Calibri"/>
              </a:rPr>
              <a:t>Comprehensive search sweep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 across PubMed/PMC, Scholar, Crossref, Nature, MDPI, ScienceDirect, Wiley, Springer, ACS, Oxford, Frontiers, AIP, bioRxiv.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E08A2B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0F243E"/>
                </a:solidFill>
                <a:latin typeface="Calibri"/>
              </a:rPr>
              <a:t>Vendor literature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 (Bio-Rad, QIAGEN, Stilla) and </a:t>
            </a:r>
            <a:r>
              <a:rPr sz="1400" b="1" i="0">
                <a:solidFill>
                  <a:srgbClr val="0F243E"/>
                </a:solidFill>
                <a:latin typeface="Calibri"/>
              </a:rPr>
              <a:t>regulatory docs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 (FDA, USDA-FSIS, SFA, FSANZ, EFSA/EU, UK FSA).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E08A2B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0F243E"/>
                </a:solidFill>
                <a:latin typeface="Calibri"/>
              </a:rPr>
              <a:t>Per-paper fields captured: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 targets · channels · single-dye? · FAM? · how amplitude was generated · probe conc. · platform · matrix · result · limitation · what was NOT investigated.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737360"/>
            <a:ext cx="4983480" cy="4160520"/>
          </a:xfrm>
          <a:prstGeom prst="rect">
            <a:avLst/>
          </a:prstGeom>
          <a:solidFill>
            <a:srgbClr val="FC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416052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76288" y="1847088"/>
            <a:ext cx="4599432" cy="3941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F243E"/>
                </a:solidFill>
                <a:latin typeface="Calibri"/>
              </a:rPr>
              <a:t>⚠  Verification honesty note</a:t>
            </a:r>
          </a:p>
          <a:p>
            <a:pPr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Full-text fetches were blocked by network egress, so metadata was verified from search-index data.
</a:t>
            </a:r>
            <a:r>
              <a:rPr sz="1200" b="1" i="0">
                <a:solidFill>
                  <a:srgbClr val="2E933C"/>
                </a:solidFill>
                <a:latin typeface="Calibri"/>
              </a:rPr>
              <a:t>HIGH confidence: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titles, journals, years, DOIs encoded in result URLs.
</a:t>
            </a:r>
            <a:r>
              <a:rPr sz="1200" b="1" i="0">
                <a:solidFill>
                  <a:srgbClr val="D19A00"/>
                </a:solidFill>
                <a:latin typeface="Calibri"/>
              </a:rPr>
              <a:t>MEDIUM: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author lists from snippets — marked UNVERIFIED where uncorroborated.
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A few DOIs flagged inferred/UNVERIFIED (collected in §9).
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No DOI, author, journal, or year was fabricated.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Open each starred/flagged DOI once from an unrestricted network before citing in a manuscript or grant.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3B0"/>
                </a:solidFill>
                <a:latin typeface="Calibri"/>
              </a:rPr>
              <a:t>BOTTOM LINE UP 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Three findings that define the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611880" cy="4343400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611880" cy="7772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19072"/>
            <a:ext cx="2606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Amplitude multiplexing is real but shallow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154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6EEF3"/>
                </a:solidFill>
                <a:latin typeface="Calibri"/>
              </a:rPr>
              <a:t>Peer-reviewed work robustly shows only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2 (occasionally 3) separable amplitude tiers</a:t>
            </a:r>
            <a:r>
              <a:rPr sz="1250" b="0" i="0">
                <a:solidFill>
                  <a:srgbClr val="E6EEF3"/>
                </a:solidFill>
                <a:latin typeface="Calibri"/>
              </a:rPr>
              <a:t> per dye/channel. All higher-order plexing (QX600, QIAcuity, Stilla 12–15-plex) escapes to more colours — not more tiers.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43400"/>
            <a:ext cx="3154680" cy="19050"/>
          </a:xfrm>
          <a:prstGeom prst="rect">
            <a:avLst/>
          </a:prstGeom>
          <a:solidFill>
            <a:srgbClr val="33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8A2B"/>
                </a:solidFill>
                <a:latin typeface="Calibri"/>
              </a:rPr>
              <a:t>No</a:t>
            </a:r>
            <a:r>
              <a:rPr sz="1250" b="0" i="0">
                <a:solidFill>
                  <a:srgbClr val="C9D6DF"/>
                </a:solidFill>
                <a:latin typeface="Calibri"/>
              </a:rPr>
              <a:t> accepted inter-cluster distance metric · </a:t>
            </a:r>
            <a:r>
              <a:rPr sz="1250" b="1" i="0">
                <a:solidFill>
                  <a:srgbClr val="E08A2B"/>
                </a:solidFill>
                <a:latin typeface="Calibri"/>
              </a:rPr>
              <a:t>No</a:t>
            </a:r>
            <a:r>
              <a:rPr sz="1250" b="0" i="0">
                <a:solidFill>
                  <a:srgbClr val="C9D6DF"/>
                </a:solidFill>
                <a:latin typeface="Calibri"/>
              </a:rPr>
              <a:t> cross-instrument reproducibility study · </a:t>
            </a:r>
            <a:r>
              <a:rPr sz="1250" b="1" i="0">
                <a:solidFill>
                  <a:srgbClr val="E08A2B"/>
                </a:solidFill>
                <a:latin typeface="Calibri"/>
              </a:rPr>
              <a:t>No</a:t>
            </a:r>
            <a:r>
              <a:rPr sz="1250" b="0" i="0">
                <a:solidFill>
                  <a:srgbClr val="C9D6DF"/>
                </a:solidFill>
                <a:latin typeface="Calibri"/>
              </a:rPr>
              <a:t> validated ≥3-tier classifier.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611880" cy="4343400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00200"/>
            <a:ext cx="3611880" cy="7772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0992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719072"/>
            <a:ext cx="2606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Single-channel meat multiplexing is only just emerging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60320"/>
            <a:ext cx="3154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6EEF3"/>
                </a:solidFill>
                <a:latin typeface="Calibri"/>
              </a:rPr>
              <a:t>Meat-species ddPCR is mature. But He 2022 packs 3 species into FAM (across a 2-channel quintuplex); Xi 2026 does 4 meats in one channel — on a bespoke biochip.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4343400"/>
            <a:ext cx="3154680" cy="19050"/>
          </a:xfrm>
          <a:prstGeom prst="rect">
            <a:avLst/>
          </a:prstGeom>
          <a:solidFill>
            <a:srgbClr val="33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48056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6DF"/>
                </a:solidFill>
                <a:latin typeface="Calibri"/>
              </a:rPr>
              <a:t>A validated single-FAM ≥3-species assay on a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standard commercial platform</a:t>
            </a:r>
            <a:r>
              <a:rPr sz="1250" b="0" i="0">
                <a:solidFill>
                  <a:srgbClr val="C9D6DF"/>
                </a:solidFill>
                <a:latin typeface="Calibri"/>
              </a:rPr>
              <a:t>, tied to single-copy nuclear mass-fraction and stress-tested on cooked/canned meat, </a:t>
            </a:r>
            <a:r>
              <a:rPr sz="1250" b="1" i="0">
                <a:solidFill>
                  <a:srgbClr val="E08A2B"/>
                </a:solidFill>
                <a:latin typeface="Calibri"/>
              </a:rPr>
              <a:t>does not yet exist.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600200"/>
            <a:ext cx="3611880" cy="4343400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600200"/>
            <a:ext cx="3611880" cy="7772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70992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719072"/>
            <a:ext cx="2606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ddPCR has never touched cultivated-meat cell QC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60320"/>
            <a:ext cx="3154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6EEF3"/>
                </a:solidFill>
                <a:latin typeface="Calibri"/>
              </a:rPr>
              <a:t>Identity, purity, differentiation, contamination all run on flow cytometry, RT-qPCR, scRNA-seq, IHC, karyotyping — the field openly lacks standardized quantitative assays.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4343400"/>
            <a:ext cx="3154680" cy="19050"/>
          </a:xfrm>
          <a:prstGeom prst="rect">
            <a:avLst/>
          </a:prstGeom>
          <a:solidFill>
            <a:srgbClr val="33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48056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6DF"/>
                </a:solidFill>
                <a:latin typeface="Calibri"/>
              </a:rPr>
              <a:t>Yet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every enabling ddPCR precedent already exists</a:t>
            </a:r>
            <a:r>
              <a:rPr sz="1250" b="0" i="0">
                <a:solidFill>
                  <a:srgbClr val="C9D6DF"/>
                </a:solidFill>
                <a:latin typeface="Calibri"/>
              </a:rPr>
              <a:t> in adjacent stem-cell manufacturing (residual-cell RT-ddPCR, CNV ddPCR, mycoplasma ddPCR).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2A93B0"/>
                </a:solidFill>
                <a:latin typeface="Calibri"/>
              </a:rPr>
              <a:t>These three facts are the spine of every research idea that follows.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1371600"/>
          </a:xfrm>
          <a:prstGeom prst="rect">
            <a:avLst/>
          </a:prstGeom>
          <a:solidFill>
            <a:srgbClr val="1A5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E0EA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607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The literature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9EAF0"/>
                </a:solidFill>
                <a:latin typeface="Calibri"/>
              </a:rPr>
              <a:t>Topics A–K: amplitude foundations · single-FAM methods · classifiers · meat ddPCR · cultivated-meat cell QC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606040"/>
            <a:ext cx="201168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FE0E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TOPICS A–D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How amplitude multiplexing works — and its ceiling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110642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3657600"/>
                <a:gridCol w="44805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Key papers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Probe-concentration ratios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Miotke 2014 · Nyaruaba 2020/21 · Dobnik 2016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Cluster height scales with cleaved-probe amount — the primary amplitude lever.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Amplicon length (intercalating dye)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McDermott 2013 (EvaGreen)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Longer amplicon binds more dye → higher amplitude; dye is not sequence-specific.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Probe + intercalating dye combined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Zhang 2022 (single channel)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FAM probe + EvaGreen widens the gap — a workaround for poor 2-tier separation.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Colour / colour-combination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Madic 2016 · Stilla preprint 2023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11–15-plex comes from unique colour pairs — NOT from more amplitude tiers.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166360"/>
            <a:ext cx="11064240" cy="960120"/>
          </a:xfrm>
          <a:prstGeom prst="rect">
            <a:avLst/>
          </a:prstGeom>
          <a:solidFill>
            <a:srgbClr val="FC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166360"/>
            <a:ext cx="82296" cy="96012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680192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243E"/>
                </a:solidFill>
                <a:latin typeface="Calibri"/>
              </a:rPr>
              <a:t>The hard ceiling</a:t>
            </a:r>
          </a:p>
          <a:p>
            <a:pPr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The Stilla colour-combination preprint states amplitude multiplexing </a:t>
            </a:r>
            <a:r>
              <a:rPr sz="1200" b="1" i="1">
                <a:solidFill>
                  <a:srgbClr val="0F243E"/>
                </a:solidFill>
                <a:latin typeface="Calibri"/>
              </a:rPr>
              <a:t>“has proven difficult, limiting such multiplexing to two or three targets per optical colour channel,”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 and suffers sample-to-sample intensity variation → misclassification. This ceiling is the constraint every research idea is designed around.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TOPIC B — SINGLE-DYE / SINGLE-FAM MULTIPLEXING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The canonical single-FAM amplitude papers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37360"/>
          <a:ext cx="11064240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2286000"/>
                <a:gridCol w="4114800"/>
                <a:gridCol w="10972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Targets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Amplitude generation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Tiers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Miotke 2014 · Anal Chem
(canonical single-FAM CNV/SNV)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 (CNV+SNV)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Different probe concentrations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4008" marR="64008" marT="18288" marB="18288">
                    <a:solidFill>
                      <a:srgbClr val="E7EF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Nyaruaba 2020 · Microorganisms
(best-documented method detail)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 (M. tuberculosis IS)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Primer + probe conc.; shows temp / target load shift clusters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4008" marR="64008" marT="18288" marB="18288">
                    <a:solidFill>
                      <a:srgbClr val="E7EF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Nyaruaba 2021 · Exp Rev Mol Diag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multiple (SARS-CoV-2)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Probe-mix + amplitude coding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64008" marR="64008" marT="18288" marB="18288">
                    <a:solidFill>
                      <a:srgbClr val="E7EF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Zhang 2022 · Anal Chim Acta
(single fluorescence channel)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 (chr18/chr21)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FAM probe + EvaGreen to widen gap; notes ≥3 thresholds needed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4008" marR="64008" marT="18288" marB="18288">
                    <a:solidFill>
                      <a:srgbClr val="E7EF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Every rigorous single-FAM study lands at 2 tiers. Zhang explicitly notes ≥3 intensity thresholds are </a:t>
            </a:r>
            <a:r>
              <a:rPr sz="1300" b="1" i="1">
                <a:solidFill>
                  <a:srgbClr val="0F243E"/>
                </a:solidFill>
                <a:latin typeface="Calibri"/>
              </a:rPr>
              <a:t>needed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 — but does not deliver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TOPIC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Cluster separation &amp; automated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59436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08A2B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0F243E"/>
                </a:solidFill>
                <a:latin typeface="Calibri"/>
              </a:rPr>
              <a:t>A decade of tools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 — definetherain, ddpcRquant, ddpcr, twoddpcr, umbra, ddPCRclust, dPCP, Polytect.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08A2B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0F243E"/>
                </a:solidFill>
                <a:latin typeface="Calibri"/>
              </a:rPr>
              <a:t>But validated mostly for binary or 2-colour / 4-cluster layouts.</a:t>
            </a:r>
          </a:p>
          <a:p>
            <a:pPr algn="l" lvl="1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A93B0"/>
                </a:solidFill>
                <a:latin typeface="Calibri"/>
              </a:rPr>
              <a:t>–  </a:t>
            </a:r>
            <a:r>
              <a:rPr sz="1250" b="1" i="0">
                <a:solidFill>
                  <a:srgbClr val="1F6F8B"/>
                </a:solidFill>
                <a:latin typeface="Calibri"/>
              </a:rPr>
              <a:t>ddPCRclust &amp; dPCP</a:t>
            </a:r>
            <a:r>
              <a:rPr sz="1250" b="0" i="0">
                <a:solidFill>
                  <a:srgbClr val="1A1A2E"/>
                </a:solidFill>
                <a:latin typeface="Calibri"/>
              </a:rPr>
              <a:t> reach up to 4 targets on Bio-Rad amplitude geometry — the closest to multi-tier.</a:t>
            </a:r>
          </a:p>
          <a:p>
            <a:pPr algn="l" lvl="1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A93B0"/>
                </a:solidFill>
                <a:latin typeface="Calibri"/>
              </a:rPr>
              <a:t>–  </a:t>
            </a:r>
            <a:r>
              <a:rPr sz="1250" b="1" i="0">
                <a:solidFill>
                  <a:srgbClr val="1F6F8B"/>
                </a:solidFill>
                <a:latin typeface="Calibri"/>
              </a:rPr>
              <a:t>The 2024 benchmark (Chen)</a:t>
            </a:r>
            <a:r>
              <a:rPr sz="1250" b="0" i="0">
                <a:solidFill>
                  <a:srgbClr val="1A1A2E"/>
                </a:solidFill>
                <a:latin typeface="Calibri"/>
              </a:rPr>
              <a:t> ran head-to-head on </a:t>
            </a:r>
            <a:r>
              <a:rPr sz="1250" b="1" i="1">
                <a:solidFill>
                  <a:srgbClr val="0F243E"/>
                </a:solidFill>
                <a:latin typeface="Calibri"/>
              </a:rPr>
              <a:t>duplex</a:t>
            </a:r>
            <a:r>
              <a:rPr sz="1250" b="0" i="0">
                <a:solidFill>
                  <a:srgbClr val="1A1A2E"/>
                </a:solidFill>
                <a:latin typeface="Calibri"/>
              </a:rPr>
              <a:t> data — telling.</a:t>
            </a:r>
          </a:p>
          <a:p>
            <a:pPr algn="l" lvl="1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A93B0"/>
                </a:solidFill>
                <a:latin typeface="Calibri"/>
              </a:rPr>
              <a:t>–  </a:t>
            </a:r>
            <a:r>
              <a:rPr sz="1250" b="1" i="0">
                <a:solidFill>
                  <a:srgbClr val="1F6F8B"/>
                </a:solidFill>
                <a:latin typeface="Calibri"/>
              </a:rPr>
              <a:t>Polytect 2025</a:t>
            </a:r>
            <a:r>
              <a:rPr sz="1250" b="0" i="0">
                <a:solidFill>
                  <a:srgbClr val="1A1A2E"/>
                </a:solidFill>
                <a:latin typeface="Calibri"/>
              </a:rPr>
              <a:t> extends beyond 2-colour; notes prior methods were “limited to single- or dual-color data.”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08A2B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0F243E"/>
                </a:solidFill>
                <a:latin typeface="Calibri"/>
              </a:rPr>
              <a:t>Closest thing to a separation statistic: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 Lievens 2016 resolution </a:t>
            </a:r>
            <a:r>
              <a:rPr sz="1350" b="1" i="0">
                <a:solidFill>
                  <a:srgbClr val="1F6F8B"/>
                </a:solidFill>
                <a:latin typeface="Calibri"/>
              </a:rPr>
              <a:t>Rs = peak-position difference / combined peak widths.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737360"/>
            <a:ext cx="4937760" cy="1965960"/>
          </a:xfrm>
          <a:prstGeom prst="rect">
            <a:avLst/>
          </a:prstGeom>
          <a:solidFill>
            <a:srgbClr val="FC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737360"/>
            <a:ext cx="82296" cy="196596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8" y="1847088"/>
            <a:ext cx="4553712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243E"/>
                </a:solidFill>
                <a:latin typeface="Calibri"/>
              </a:rPr>
              <a:t>The methodological vacuum</a:t>
            </a:r>
          </a:p>
          <a:p>
            <a:pPr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Dedicated, validated automation for 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≥3 amplitude tiers in one single-dye channel is thin.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 dMIQE 2020 standardizes reporting — not amplitude separability. No community-adopted separation metric exists.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3886200"/>
            <a:ext cx="4937760" cy="19659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3886200"/>
            <a:ext cx="82296" cy="1965960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3995928"/>
            <a:ext cx="4553712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243E"/>
                </a:solidFill>
                <a:latin typeface="Calibri"/>
              </a:rPr>
              <a:t>Why gating fails (De Korne-Elenbaas 2024)</a:t>
            </a:r>
          </a:p>
          <a:p>
            <a:pPr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Manual partition classification is inaccurate because fluorescence intensity varies with 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reaction efficiency, random noise, and partition-volume variability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 — direct support for the misclassification limitation.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TOPIC F — MEAT-SPECIES MULTIPLEX DDPCR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Mature field — and the closest prior 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5806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E08A2B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F6F8B"/>
                </a:solidFill>
                <a:latin typeface="Calibri"/>
              </a:rPr>
              <a:t>Floren 2015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 — first dedicated meat-species ddPCR; calibration-free absolute quant, CV &lt;5%.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E08A2B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F6F8B"/>
                </a:solidFill>
                <a:latin typeface="Calibri"/>
              </a:rPr>
              <a:t>Cai 2017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 — β-actin </a:t>
            </a:r>
            <a:r>
              <a:rPr sz="1350" b="1" i="0">
                <a:solidFill>
                  <a:srgbClr val="0F243E"/>
                </a:solidFill>
                <a:latin typeface="Calibri"/>
              </a:rPr>
              <a:t>single-copy nuclear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 target; superior to multi-copy mtDNA for quantification.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E08A2B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F6F8B"/>
                </a:solidFill>
                <a:latin typeface="Calibri"/>
              </a:rPr>
              <a:t>Shehata 2017 · Basanisi 2020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 — 4–6 species panels with copy-number controls (mtDNA).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E08A2B"/>
                </a:solidFill>
                <a:latin typeface="Calibri"/>
              </a:rPr>
              <a:t>●  </a:t>
            </a:r>
            <a:r>
              <a:rPr sz="1350" b="1" i="0">
                <a:solidFill>
                  <a:srgbClr val="1F6F8B"/>
                </a:solidFill>
                <a:latin typeface="Calibri"/>
              </a:rPr>
              <a:t>Xu 2022 · Griffiths 2023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 — single-copy nuclear LOD 0.1%; </a:t>
            </a:r>
            <a:r>
              <a:rPr sz="1350" b="1" i="0">
                <a:solidFill>
                  <a:srgbClr val="0F243E"/>
                </a:solidFill>
                <a:latin typeface="Calibri"/>
              </a:rPr>
              <a:t>MSTN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 as a broad cross-species reference.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737360"/>
            <a:ext cx="5074920" cy="19659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5074920" cy="4572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013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⭐  He 2022 · Foods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43E"/>
                </a:solidFill>
                <a:latin typeface="Calibri"/>
              </a:rPr>
              <a:t>Quintuple ddPCR — 5 species, 2 channels; 3 share the FAM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788920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The closest existing case of FAM amplitude multiplexing of meat species. But 5 species is near the ceiling; amplitude tuning not openly reported; processed-meat degradation not the focus.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840480"/>
            <a:ext cx="5074920" cy="214884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3840480"/>
            <a:ext cx="5074920" cy="457200"/>
          </a:xfrm>
          <a:prstGeom prst="rect">
            <a:avLst/>
          </a:prstGeom>
          <a:solidFill>
            <a:srgbClr val="0F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90448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⭐⭐  Xi 2026 · Nanotech Prec Eng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3891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43E"/>
                </a:solidFill>
                <a:latin typeface="Calibri"/>
              </a:rPr>
              <a:t>4 meats in ONE fluorescence channel (barcode decoding)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846320"/>
            <a:ext cx="47091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The clearest published single-channel meat discrimination — but on a </a:t>
            </a:r>
            <a:r>
              <a:rPr sz="1150" b="1" i="0">
                <a:solidFill>
                  <a:srgbClr val="0F243E"/>
                </a:solidFill>
                <a:latin typeface="Calibri"/>
              </a:rPr>
              <a:t>bespoke self-digitalization biochip, not a commercial ddPCR platform.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Transfer to standard droplet workflow and degraded/canned meat: not investigated.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TOPIC G — PROCESSED / COOKED / DEGRADED MEAT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The evidence that quantification survives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110642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834640"/>
                <a:gridCol w="5120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Matrix stress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Ren 2017 · PLoS ONE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Thermal + ultra-high-pressure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Nuclear RPA1 single-copy; bias &lt;9% over 5–80%. Core processed-meat paper.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Temisak 2021 · IJFST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Autoclaved meat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Converts copies → meat mass-fraction (%); LOD ~0.01%. Needs genome factors.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He (Y) 2023 · Front Sust Food Syst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Raw + processed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6-species panel; 1% adulteration accurately quantified.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Griffiths 2023 · Foods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Food / feed + reference material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7 new dPCR species assays; modified MSTN as broad single-copy reference.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Khairil Mokhtar 2024 · FAC-A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Pork–chicken mixtures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QIAcuity nanoplate; explicit multi-copy vs single-copy / mito vs nuclear comparison.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8A2B"/>
                </a:solidFill>
                <a:latin typeface="Calibri"/>
              </a:rPr>
              <a:t>Takeaway: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processed-meat quantification is solved for singleplex/duplex — but no one has tested whether ≥3 </a:t>
            </a:r>
            <a:r>
              <a:rPr sz="1300" b="1" i="1">
                <a:solidFill>
                  <a:srgbClr val="0F243E"/>
                </a:solidFill>
                <a:latin typeface="Calibri"/>
              </a:rPr>
              <a:t>amplitude tiers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 survive cooking/canning.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TOPICS H–K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Cultivated-meat cell QC: an empty field for ddPCR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1064240" cy="86868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55648"/>
            <a:ext cx="10680192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F243E"/>
                </a:solidFill>
                <a:latin typeface="Calibri"/>
              </a:rPr>
              <a:t>Headline finding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ddPCR / RT-ddPCR / amplitude multiplexing has </a:t>
            </a:r>
            <a:r>
              <a:rPr sz="1250" b="1" i="0">
                <a:solidFill>
                  <a:srgbClr val="C0392B"/>
                </a:solidFill>
                <a:latin typeface="Calibri"/>
              </a:rPr>
              <a:t>NEVER been reported</a:t>
            </a:r>
            <a:r>
              <a:rPr sz="1250" b="0" i="0">
                <a:solidFill>
                  <a:srgbClr val="1A1A2E"/>
                </a:solidFill>
                <a:latin typeface="Calibri"/>
              </a:rPr>
              <a:t> for cultivated-meat cell identity, purity, differentiation, or contamination QC — while every enabling precedent exists in neighbouring fields.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97480"/>
            <a:ext cx="5440680" cy="32461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1635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Cultivated meat runs on non-ddPCR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00400"/>
            <a:ext cx="5074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1" i="0">
                <a:solidFill>
                  <a:srgbClr val="1F6F8B"/>
                </a:solidFill>
                <a:latin typeface="Calibri"/>
              </a:rPr>
              <a:t>Naraoka 2024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— flow cytometry + qPCR (most on-point QC paper).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1" i="0">
                <a:solidFill>
                  <a:srgbClr val="1F6F8B"/>
                </a:solidFill>
                <a:latin typeface="Calibri"/>
              </a:rPr>
              <a:t>Messmer 2023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— scRNA-seq + qPCR of bovine muscle heterogeneity.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1" i="0">
                <a:solidFill>
                  <a:srgbClr val="1F6F8B"/>
                </a:solidFill>
                <a:latin typeface="Calibri"/>
              </a:rPr>
              <a:t>Stout 2023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— immortalized bovine line by karyotype only (missed ddPCR transgene use case).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1" i="0">
                <a:solidFill>
                  <a:srgbClr val="1F6F8B"/>
                </a:solidFill>
                <a:latin typeface="Calibri"/>
              </a:rPr>
              <a:t>Bennie 2025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— risk-based banking; </a:t>
            </a:r>
            <a:r>
              <a:rPr sz="1150" b="1" i="0">
                <a:solidFill>
                  <a:srgbClr val="0F243E"/>
                </a:solidFill>
                <a:latin typeface="Calibri"/>
              </a:rPr>
              <a:t>prescribes no ddPCR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, flags absent standardized assays.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2697480"/>
            <a:ext cx="5440680" cy="3246120"/>
          </a:xfrm>
          <a:prstGeom prst="rect">
            <a:avLst/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81635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933C"/>
                </a:solidFill>
                <a:latin typeface="Calibri"/>
              </a:rPr>
              <a:t>The ddPCR precedents you would adapt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200400"/>
            <a:ext cx="5074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1" i="0">
                <a:solidFill>
                  <a:srgbClr val="2E933C"/>
                </a:solidFill>
                <a:latin typeface="Calibri"/>
              </a:rPr>
              <a:t>Kuroda 2015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— RT-ddPCR LIN28 detects 0.001% undifferentiated cells (residual-cell template).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1" i="0">
                <a:solidFill>
                  <a:srgbClr val="2E933C"/>
                </a:solidFill>
                <a:latin typeface="Calibri"/>
              </a:rPr>
              <a:t>Multisite 2024 (szae058)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— validated RT-ddPCR purity assay (ESRG/LIN28A).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1" i="0">
                <a:solidFill>
                  <a:srgbClr val="2E933C"/>
                </a:solidFill>
                <a:latin typeface="Calibri"/>
              </a:rPr>
              <a:t>Becker 2024 · Park 2024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— ddPCR CNV / genomic-stability in hPSC (stability template).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1" i="0">
                <a:solidFill>
                  <a:srgbClr val="0F243E"/>
                </a:solidFill>
                <a:latin typeface="Calibri"/>
              </a:rPr>
              <a:t>Design insight: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myoblast &amp; fibroblast share one genome → lineage needs </a:t>
            </a:r>
            <a:r>
              <a:rPr sz="1150" b="1" i="0">
                <a:solidFill>
                  <a:srgbClr val="0F243E"/>
                </a:solidFill>
                <a:latin typeface="Calibri"/>
              </a:rPr>
              <a:t>RT-ddPCR (expression) or methylation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, not gDNA.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PART 3 — 18 DOCUMENTED LIMITATIONS, DISTILLED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Current limits of single-FAM amplitude ddPCR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40680" cy="19659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96596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9280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8A2B"/>
                </a:solidFill>
                <a:latin typeface="Calibri"/>
              </a:rPr>
              <a:t>The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860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2–3 reliable tiers per dye — no clean ≥4-tier demonstration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Probe concentration is the main lever (0.5×/1× is vendor convention, not a standard)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Target &amp; primer concentration, amplicon length all shift cluster 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783080"/>
            <a:ext cx="5440680" cy="19659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783080"/>
            <a:ext cx="82296" cy="196596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89280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8B"/>
                </a:solidFill>
                <a:latin typeface="Calibri"/>
              </a:rPr>
              <a:t>No agreed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2860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No accepted minimum inter-cluster distance (Rs &amp; ±3×SD are the nearest)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The circulated “resolution ≥ 2.5” figure could NOT be sourced — do not cite it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dMIQE 2020 standardizes reporting, not amplitude separability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13632"/>
            <a:ext cx="5440680" cy="19659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913632"/>
            <a:ext cx="82296" cy="1965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0233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Untested in hard matrices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416552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Degradation / autoclaving (~100 bp fragments) vs tier separation: essentially untested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Food inhibitors (fat, collagen, spices, Maillard) on amplitude gating: uncharacterized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No cross-instrument reproducibility study of amplitude coding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3913632"/>
            <a:ext cx="5440680" cy="19659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3913632"/>
            <a:ext cx="82296" cy="1965960"/>
          </a:xfrm>
          <a:prstGeom prst="rect">
            <a:avLst/>
          </a:prstGeom>
          <a:solidFill>
            <a:srgbClr val="2E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40233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933C"/>
                </a:solidFill>
                <a:latin typeface="Calibri"/>
              </a:rPr>
              <a:t>Weak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416552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Classifiers validated mostly for binary / 2-colour layouts; 2024 benchmark used duplex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Manual gating is operator-dependent; ~10% rain → ~10% quantification variation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E08A2B"/>
                </a:solidFill>
                <a:latin typeface="Calibri"/>
              </a:rPr>
              <a:t>●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Validated automation for ≥3 tiers in one channel is thin (ddPCRclust, dPCP closest)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8A2B"/>
                </a:solidFill>
                <a:latin typeface="Calibri"/>
              </a:rPr>
              <a:t>Exploitable gaps: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the missing separation metric, the untested degraded/complex matrices, and ≥3-tier automation.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PART 4 — REAL QC PROBLEMS IN CULTIVATED-MEAT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Where the molecular tooling gaps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11064240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3383280"/>
                <a:gridCol w="4297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QC problem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Current tooling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Rapid molecular QC gap</a:t>
                      </a:r>
                    </a:p>
                  </a:txBody>
                  <a:tcPr anchor="ctr" marL="64008" marR="64008" marT="18288" marB="18288">
                    <a:solidFill>
                      <a:srgbClr val="1F6F8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Cell identity / line authentication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STR (human/mouse only), WGS, karyotype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No livestock STR/SNP registry; no rapid identity assay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Muscle / adipogenic differentiation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IF/IHC, qPCR, omics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No rapid quantitative differentiation or muscle:fat:connective index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Fibroblast contamination / potency loss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Flow, qPCR, scRNA-seq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No rapid molecular purity/potency assay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Mycoplasma / microbial contamination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Culture, PCR/NGS (11.2% batch failure)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No rapid at-line screen within release window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Genomic stability / CNV drift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Karyotype, WGS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No rapid CNV/stability screen (Becker 2024 shows ddPCR could)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Conventional vs cultivated authentication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No validated assay exists (Checkmeat 2023)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6F8B"/>
                </a:solidFill>
                <a:latin typeface="Calibri"/>
              </a:rPr>
              <a:t>ddPCR could plausibly own the purity, stability, mycoplasma, and clonality legs — none are addressed today.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PART 4 — THE STRUCTURAL OBSTACLE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The Bos taurus limitation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1064240" cy="105156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55648"/>
            <a:ext cx="10680192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F243E"/>
                </a:solidFill>
                <a:latin typeface="Calibri"/>
              </a:rPr>
              <a:t>The problem, stated plainly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Cultivated beef and conventional beef are </a:t>
            </a:r>
            <a:r>
              <a:rPr sz="1250" b="1" i="0">
                <a:solidFill>
                  <a:srgbClr val="0F243E"/>
                </a:solidFill>
                <a:latin typeface="Calibri"/>
              </a:rPr>
              <a:t>both Bos taurus and carry the same nuclear genome.</a:t>
            </a:r>
            <a:r>
              <a:rPr sz="1250" b="0" i="0">
                <a:solidFill>
                  <a:srgbClr val="1A1A2E"/>
                </a:solidFill>
                <a:latin typeface="Calibri"/>
              </a:rPr>
              <a:t> The entire species-authentication toolbox answers “which species?” and </a:t>
            </a:r>
            <a:r>
              <a:rPr sz="1250" b="1" i="0">
                <a:solidFill>
                  <a:srgbClr val="C0392B"/>
                </a:solidFill>
                <a:latin typeface="Calibri"/>
              </a:rPr>
              <a:t>cannot answer “farm-grown or cultured?” for the same species</a:t>
            </a:r>
            <a:r>
              <a:rPr sz="1250" b="0" i="0">
                <a:solidFill>
                  <a:srgbClr val="1A1A2E"/>
                </a:solidFill>
                <a:latin typeface="Calibri"/>
              </a:rPr>
              <a:t>. The Checkmeat review (2023) confirms this is an open problem with no validated assay.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80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43E"/>
                </a:solidFill>
                <a:latin typeface="Calibri"/>
              </a:rPr>
              <a:t>Candidate distinguishing signatures — do NOT over-promise any single DNA marker: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246120"/>
          <a:ext cx="1106424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720"/>
                <a:gridCol w="53035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Candidate signature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Feasibility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Immortalization transgene (TERT/CDK4/SV40LT)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HIGH for engineered lines · ZERO for non-GM (Pasitka 2025)</a:t>
                      </a:r>
                    </a:p>
                  </a:txBody>
                  <a:tcPr anchor="ctr" marL="64008" marR="64008" marT="18288" marB="18288">
                    <a:solidFill>
                      <a:srgbClr val="FCF3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DNA-methylation / epigenetic signature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MEDIUM–HIGH conceptually · OPEN (no meat assay)</a:t>
                      </a:r>
                    </a:p>
                  </a:txBody>
                  <a:tcPr anchor="ctr" marL="64008" marR="64008" marT="18288" marB="18288">
                    <a:solidFill>
                      <a:srgbClr val="EAF3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Media/process residues + absence of vet-drug/gut-microbiome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MEDIUM–HIGH · most promising near-term (orthogonal panel)</a:t>
                      </a:r>
                    </a:p>
                  </a:txBody>
                  <a:tcPr anchor="ctr" marL="64008" marR="64008" marT="18288" marB="18288">
                    <a:solidFill>
                      <a:srgbClr val="EAF3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Clonality / limited diversity (SNP/STR)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MEDIUM · needs a reference genotype registry that doesn't exist</a:t>
                      </a:r>
                    </a:p>
                  </a:txBody>
                  <a:tcPr anchor="ctr" marL="64008" marR="64008" marT="18288" marB="18288">
                    <a:solidFill>
                      <a:srgbClr val="FCF3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Telomerase reactivation · mito:nuclear ratio · maturity deficit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LOW–MEDIUM · context-dependent / moving targets</a:t>
                      </a:r>
                    </a:p>
                  </a:txBody>
                  <a:tcPr anchor="ctr" marL="64008" marR="64008" marT="18288" marB="18288">
                    <a:solidFill>
                      <a:srgbClr val="E7EF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263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8A2B"/>
                </a:solidFill>
                <a:latin typeface="Calibri"/>
              </a:rPr>
              <a:t>Consequence: </a:t>
            </a:r>
            <a:r>
              <a:rPr sz="1250" b="0" i="0">
                <a:solidFill>
                  <a:srgbClr val="1A1A2E"/>
                </a:solidFill>
                <a:latin typeface="Calibri"/>
              </a:rPr>
              <a:t>the defensible route is RNA/methylation or an orthogonal composite panel — not one DNA marker. High-risk / high-reward, not a first project.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1371600"/>
          </a:xfrm>
          <a:prstGeom prst="rect">
            <a:avLst/>
          </a:prstGeom>
          <a:solidFill>
            <a:srgbClr val="1A5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E0EA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607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Ten research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9EAF0"/>
                </a:solidFill>
                <a:latin typeface="Calibri"/>
              </a:rPr>
              <a:t>Single-FAM amplitude multiplexing × ddPCR × meat / cultivated meat / organoids — each on a 20-field template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606040"/>
            <a:ext cx="201168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FE0E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PART 5 — THE TEN IDEAS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From food-auth-native to moonshot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828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Meat FAM-barcode + processed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13969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≥3 species in one FAM channel, mass-fraction %, cooked/canned robustness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56816"/>
            <a:ext cx="960120" cy="347472"/>
          </a:xfrm>
          <a:prstGeom prst="rect">
            <a:avLst/>
          </a:prstGeom>
          <a:solidFill>
            <a:srgbClr val="2E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99339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15184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15184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98064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706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Myogenic identity index (RT-ddPCR)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017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PAX7→MYOD1→MYOG trajectory of cultivated cells in one channel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2834640"/>
            <a:ext cx="960120" cy="347472"/>
          </a:xfrm>
          <a:prstGeom prst="rect">
            <a:avLst/>
          </a:prstGeom>
          <a:solidFill>
            <a:srgbClr val="D1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287121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93008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93008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75888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5844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Fibroblast/stromal purity assay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89534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Myogenic:fibroblast purity by single-FAM RT-ddPCR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3712464"/>
            <a:ext cx="960120" cy="347472"/>
          </a:xfrm>
          <a:prstGeom prst="rect">
            <a:avLst/>
          </a:prstGeom>
          <a:solidFill>
            <a:srgbClr val="D1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7490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70832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370832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53712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4622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Tri-lineage ratio QC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77316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Muscle : fat : connective ratio in co-cultures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4590288"/>
            <a:ext cx="960120" cy="347472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6268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MED-HI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48656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248656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431536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534009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Immortalized-line stability panel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565099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CNV / transgene-copy drift across passage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5468112"/>
            <a:ext cx="960120" cy="347472"/>
          </a:xfrm>
          <a:prstGeom prst="rect">
            <a:avLst/>
          </a:prstGeom>
          <a:solidFill>
            <a:srgbClr val="D1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550468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8" y="1737360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44768" y="1737360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192024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1696" y="1828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Cultivated-vs-conventional discriminator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1696" y="213969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Non-species signatures (clonality, heteroplasmy)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88168" y="1956816"/>
            <a:ext cx="96012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88168" y="199339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44768" y="2615184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44768" y="2615184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4768" y="2798064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1696" y="2706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Mycoplasma / microbial release MPX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1696" y="3017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Rapid contamination screen for release testing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88168" y="2834640"/>
            <a:ext cx="960120" cy="347472"/>
          </a:xfrm>
          <a:prstGeom prst="rect">
            <a:avLst/>
          </a:prstGeom>
          <a:solidFill>
            <a:srgbClr val="2E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88168" y="287121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LOW-MED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44768" y="3493008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44768" y="3493008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3675888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11696" y="35844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Amplitude-degradation benchmark + metric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11696" y="389534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Standardized separation index + ≥3-tier classifier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88168" y="3712464"/>
            <a:ext cx="960120" cy="347472"/>
          </a:xfrm>
          <a:prstGeom prst="rect">
            <a:avLst/>
          </a:prstGeom>
          <a:solidFill>
            <a:srgbClr val="2E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88168" y="37490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44768" y="4370832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44768" y="4370832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44768" y="4553712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11696" y="44622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Muscle-maturation index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11696" y="477316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Embryonic (MYH3) vs adult MyHC ratio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88168" y="4590288"/>
            <a:ext cx="960120" cy="347472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88168" y="46268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MED-HI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44768" y="5248656"/>
            <a:ext cx="5486400" cy="78638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44768" y="5248656"/>
            <a:ext cx="457200" cy="78638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44768" y="5431536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11696" y="534009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E"/>
                </a:solidFill>
                <a:latin typeface="Calibri"/>
              </a:rPr>
              <a:t>Cultivated-product blend assay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11696" y="565099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Calibri"/>
              </a:rPr>
              <a:t>Quantify conventional-into-cultivated mixing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88168" y="5468112"/>
            <a:ext cx="96012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88168" y="550468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Risk badge = experimental/sample risk. Pure-methods food-auth ideas (1, 8) are low-risk; cultivated-meat applications (2, 3) trade feasibility for novelty; discrimination moonshots (6, 10) are highest value, least feasible.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PART 6 — SCORED 1–5 PER CRITERION (MAX 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Ranking the ten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64240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3794760"/>
                <a:gridCol w="1051560"/>
                <a:gridCol w="1005840"/>
                <a:gridCol w="1234440"/>
                <a:gridCol w="1234440"/>
                <a:gridCol w="118872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Novelty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Publish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Feasibility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Cost/Time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ddPCR fit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64008" marR="64008" marT="18288" marB="18288">
                    <a:solidFill>
                      <a:srgbClr val="0F24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Meat FAM-barcode + processed %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 / 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64008" marR="64008" marT="18288" marB="18288">
                    <a:solidFill>
                      <a:srgbClr val="EAF3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Amplitude-degradation benchmark + metric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 / 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64008" marR="64008" marT="18288" marB="18288">
                    <a:solidFill>
                      <a:srgbClr val="EAF3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Fibroblast/stromal purity assay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Mycoplasma/microbial release MPX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 / 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Myogenic identity index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64008" marR="64008" marT="18288" marB="18288">
                    <a:solidFill>
                      <a:srgbClr val="F3F6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Immortalized-line stability panel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Tri-lineage ratio QC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 / 2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Cultivated-vs-conventional discriminator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 / 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64008" marR="64008" marT="18288" marB="18288">
                    <a:solidFill>
                      <a:srgbClr val="FBEC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Maturation index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 / 2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64008" marR="64008" marT="18288" marB="18288">
                    <a:solidFill>
                      <a:srgbClr val="FBEC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Cultivated-product blend assay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 / 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64008" marR="64008" marT="18288" marB="18288">
                    <a:solidFill>
                      <a:srgbClr val="FBECE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8A2B"/>
                </a:solidFill>
                <a:latin typeface="Calibri"/>
              </a:rPr>
              <a:t>Top 3 selected: </a:t>
            </a:r>
            <a:r>
              <a:rPr sz="1300" b="1" i="0">
                <a:solidFill>
                  <a:srgbClr val="0F243E"/>
                </a:solidFill>
                <a:latin typeface="Calibri"/>
              </a:rPr>
              <a:t>Idea 1 (meat barcode) · Idea 8 (metric) · Idea 3 (purity assay)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 — the two feasible methods projects plus the highest-impact application.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PART 7 — GREEN / YELLOW / RED NOVELTY VERDICTS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Top-3 novelty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1">
                <a:solidFill>
                  <a:srgbClr val="5B6B7B"/>
                </a:solidFill>
                <a:latin typeface="Calibri"/>
              </a:rPr>
              <a:t>A “GREEN” means “no closely matching paper surfaced across many targeted queries,” not “proven absent.” </a:t>
            </a:r>
            <a:r>
              <a:rPr sz="1150" b="0" i="1">
                <a:solidFill>
                  <a:srgbClr val="5B6B7B"/>
                </a:solidFill>
                <a:latin typeface="Calibri"/>
              </a:rPr>
              <a:t>Verdicts are bounded by the egress-blocked verification — confirm with a full-text pass.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48840"/>
            <a:ext cx="3611880" cy="36576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48840"/>
            <a:ext cx="3611880" cy="502920"/>
          </a:xfrm>
          <a:prstGeom prst="rect">
            <a:avLst/>
          </a:prstGeom>
          <a:solidFill>
            <a:srgbClr val="D1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1576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43E"/>
                </a:solidFill>
                <a:latin typeface="Calibri"/>
              </a:rPr>
              <a:t>Idea 1 — Meat FAM barcode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3113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VERDICT: YELLOW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83280"/>
            <a:ext cx="32461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Single-channel meat multiplex already exists (He 2022, Xi 2026); targets &amp; amplitude coding are published.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
Novel only if framed around 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processing-robustness + the separation metric + automation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 — not “single-channel meat multiplex” per 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148840"/>
            <a:ext cx="3611880" cy="36576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148840"/>
            <a:ext cx="3611880" cy="502920"/>
          </a:xfrm>
          <a:prstGeom prst="rect">
            <a:avLst/>
          </a:prstGeom>
          <a:solidFill>
            <a:srgbClr val="2E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71576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43E"/>
                </a:solidFill>
                <a:latin typeface="Calibri"/>
              </a:rPr>
              <a:t>Idea 8 — Degradation benchmark +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23113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VERDICT: 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383280"/>
            <a:ext cx="32461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Amplitude MPX and Rs exist, but only for 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binary calling on intact DNA.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
A systematic degradation/inhibitor map + a validated open separability index fills an 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explicit vacuum (§3.18).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 Lower “wow,” high certainty.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2148840"/>
            <a:ext cx="3611880" cy="36576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2148840"/>
            <a:ext cx="3611880" cy="502920"/>
          </a:xfrm>
          <a:prstGeom prst="rect">
            <a:avLst/>
          </a:prstGeom>
          <a:solidFill>
            <a:srgbClr val="2E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71576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43E"/>
                </a:solidFill>
                <a:latin typeface="Calibri"/>
              </a:rPr>
              <a:t>Idea 3 — Fibroblast purity RT-ddPCR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23113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VERDICT: 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383280"/>
            <a:ext cx="32461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Residual-cell RT-ddPCR exists only for pluripotency; the cultivated-meat × ddPCR intersection is 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empty.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
Novelty = the 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cultivated-meat application + amplitude coding + same-genome/expression-only insight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, which must be foregrounded.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3B0"/>
                </a:solidFill>
                <a:latin typeface="Calibri"/>
              </a:rPr>
              <a:t>PART 8 — FINAL RECOMMENDED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FAM-Amplitude Barcoding on a Standard Droplet Platform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D9EAF0"/>
                </a:solidFill>
                <a:latin typeface="Calibri"/>
              </a:rPr>
              <a:t>A single-channel ddPCR framework for meat-species authentication in processed foods, with a standardized amplitude-separation metric — and its extension to cultivated-meat cell-purity QC.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86400" cy="1828800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73152" cy="1828800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67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8A2B"/>
                </a:solidFill>
                <a:latin typeface="Calibri"/>
              </a:rPr>
              <a:t>Real-world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Enforcement &amp; industry need cheap, accurate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multi-target quantification in one reaction</a:t>
            </a:r>
            <a:r>
              <a:rPr sz="1300" b="0" i="0">
                <a:solidFill>
                  <a:srgbClr val="C9D6DF"/>
                </a:solidFill>
                <a:latin typeface="Calibri"/>
              </a:rPr>
              <a:t> for species fraud / halal-kosher in cooked &amp; canned products — and for emerging cultivated-meat cell-purity release testing — while ddPCR channels and budgets are limited.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48840"/>
            <a:ext cx="5486400" cy="1828800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148840"/>
            <a:ext cx="73152" cy="1828800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267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8A2B"/>
                </a:solidFill>
                <a:latin typeface="Calibri"/>
              </a:rPr>
              <a:t>Exact 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60604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6DF"/>
                </a:solidFill>
                <a:latin typeface="Calibri"/>
              </a:rPr>
              <a:t>No validated assay does single-FAM ≥3-species amplitude MPX on a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standard commercial platform</a:t>
            </a:r>
            <a:r>
              <a:rPr sz="1300" b="0" i="0">
                <a:solidFill>
                  <a:srgbClr val="C9D6DF"/>
                </a:solidFill>
                <a:latin typeface="Calibri"/>
              </a:rPr>
              <a:t>, tied to single-copy-nuclear mass-fraction, stress-tested to cluster-failure under cooking/canning, with a standardized metric + open classifier — and no one has carried it into cultivated-meat purity QC.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109960" cy="2148840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73152" cy="2148840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233672"/>
            <a:ext cx="10744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8A2B"/>
                </a:solidFill>
                <a:latin typeface="Calibri"/>
              </a:rPr>
              <a:t>Novelty (why it clears the bar)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72000"/>
            <a:ext cx="10744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6DF"/>
                </a:solidFill>
                <a:latin typeface="Calibri"/>
              </a:rPr>
              <a:t>First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processing-robust, metric-anchored single-FAM amplitude authentication assay on a commercial platform</a:t>
            </a:r>
            <a:r>
              <a:rPr sz="1300" b="0" i="0">
                <a:solidFill>
                  <a:srgbClr val="C9D6DF"/>
                </a:solidFill>
                <a:latin typeface="Calibri"/>
              </a:rPr>
              <a:t> (Idea 1, YELLOW→GREEN via the degradation + metric wedge), delivering the missing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standardized amplitude-separation index</a:t>
            </a:r>
            <a:r>
              <a:rPr sz="1300" b="0" i="0">
                <a:solidFill>
                  <a:srgbClr val="C9D6DF"/>
                </a:solidFill>
                <a:latin typeface="Calibri"/>
              </a:rPr>
              <a:t> (Idea 8, GREEN), and the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first ddPCR application to cultivated-meat purity QC</a:t>
            </a:r>
            <a:r>
              <a:rPr sz="1300" b="0" i="0">
                <a:solidFill>
                  <a:srgbClr val="C9D6DF"/>
                </a:solidFill>
                <a:latin typeface="Calibri"/>
              </a:rPr>
              <a:t> (Idea 3, GREEN).
</a:t>
            </a:r>
            <a:r>
              <a:rPr sz="1250" b="0" i="1">
                <a:solidFill>
                  <a:srgbClr val="2A93B0"/>
                </a:solidFill>
                <a:latin typeface="Calibri"/>
              </a:rPr>
              <a:t>Chosen to be genuinely researchable, food-auth-lab-native, strongly publishable (realistically 2 papers), and tied to a real regulatory problem — while de-risking with a food-auth Phase 1 and reaching high novelty in Phase 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PART 8 — HYPOTHESIS &amp; EXPERIMENTAL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A de-risked two-phase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11064240" cy="1170432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82296" cy="1170432"/>
          </a:xfrm>
          <a:prstGeom prst="rect">
            <a:avLst/>
          </a:prstGeom>
          <a:solidFill>
            <a:srgbClr val="2A9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37360"/>
            <a:ext cx="1068019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243E"/>
                </a:solidFill>
                <a:latin typeface="Calibri"/>
              </a:rPr>
              <a:t>Hypothesis</a:t>
            </a:r>
          </a:p>
          <a:p>
            <a:pPr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(P1) ≥3 species resolve as stable FAM amplitude tiers via tuned probe-concentration ratios, mass-fraction bias &lt;15% down to 1% adulteration in thermally processed meat, tier separability predictable from a single index.  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(P2) The same design quantifies fibroblast contamination in bovine cultures with LOD ≤5%.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71800"/>
            <a:ext cx="5440680" cy="3063240"/>
          </a:xfrm>
          <a:prstGeom prst="rect">
            <a:avLst/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971800"/>
            <a:ext cx="5440680" cy="548640"/>
          </a:xfrm>
          <a:prstGeom prst="rect">
            <a:avLst/>
          </a:prstGeom>
          <a:solidFill>
            <a:srgbClr val="2E9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0632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PHASE 1  ·  food-auth-lab native  ·  LOW risk  ·  ~4–6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57600"/>
            <a:ext cx="5074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Design short-amplicon (&lt;120 bp) single-copy nuclear assays for beef/pork/chicken + MSTN reference.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Titrate probe concentrations to place each species at a distinct FAM tier (e.g. 1× / 0.5× / 0.25×).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Validate on raw, cooked (95 °C), autoclaved (121 °C) + commercial samples on QX200/QX600 (+ QIAcuity if available).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Derive &amp; validate a </a:t>
            </a:r>
            <a:r>
              <a:rPr sz="1200" b="1" i="0">
                <a:solidFill>
                  <a:srgbClr val="2E933C"/>
                </a:solidFill>
                <a:latin typeface="Calibri"/>
              </a:rPr>
              <a:t>separation index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; release an </a:t>
            </a:r>
            <a:r>
              <a:rPr sz="1200" b="1" i="0">
                <a:solidFill>
                  <a:srgbClr val="2E933C"/>
                </a:solidFill>
                <a:latin typeface="Calibri"/>
              </a:rPr>
              <a:t>open ≥3-tier gating tool.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971800"/>
            <a:ext cx="5440680" cy="3063240"/>
          </a:xfrm>
          <a:prstGeom prst="rect">
            <a:avLst/>
          </a:prstGeom>
          <a:solidFill>
            <a:srgbClr val="FC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971800"/>
            <a:ext cx="5440680" cy="54864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0632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PHASE 2  ·  bridge to cultivated meat  ·  MED risk  ·  ~4–6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657600"/>
            <a:ext cx="5074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Purchase primary bovine myoblasts + fibroblasts; prepare defined spike-in mixtures (0–50% fibroblast).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RNA → cDNA; apply the same single-FAM amplitude framework: </a:t>
            </a:r>
            <a:r>
              <a:rPr sz="1200" b="1" i="0">
                <a:solidFill>
                  <a:srgbClr val="E08A2B"/>
                </a:solidFill>
                <a:latin typeface="Calibri"/>
              </a:rPr>
              <a:t>DES/MYOG vs THY1/PDGFRA vs reference.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Benchmark vs flow cytometry and RT-qPCR (Bland–Altman concordance).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● 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Exploits the </a:t>
            </a:r>
            <a:r>
              <a:rPr sz="1200" b="1" i="0">
                <a:solidFill>
                  <a:srgbClr val="0F243E"/>
                </a:solidFill>
                <a:latin typeface="Calibri"/>
              </a:rPr>
              <a:t>same-genome insight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: lineage is readable only by expression.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PART 8 — OUTCOMES, VALIDATION, RISKS &amp;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What we get, and how it can't fail badly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5440680" cy="19659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6F8B"/>
                </a:solidFill>
                <a:latin typeface="Calibri"/>
              </a:rPr>
              <a:t>Expected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5074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Validated 3-target single-channel authentication assay with quantified processing limits.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A citable separability metric + open software.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First-in-field ddPCR cultivated-meat purity assay with a stated LOD (%).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840480"/>
            <a:ext cx="5440680" cy="210312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931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6F8B"/>
                </a:solidFill>
                <a:latin typeface="Calibri"/>
              </a:rPr>
              <a:t>Validation &amp; publication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97680"/>
            <a:ext cx="50749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LOD/LOQ, linearity, trueness vs gravimetric %, repeatability/reproducibility (operator/day/instrument).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dMIQE-2020-compliant reporting; Bland–Altman vs gold standards.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P1 → </a:t>
            </a:r>
            <a:r>
              <a:rPr sz="1150" b="1" i="1">
                <a:solidFill>
                  <a:srgbClr val="0F243E"/>
                </a:solidFill>
                <a:latin typeface="Calibri"/>
              </a:rPr>
              <a:t>Food Chemistry / Food Control / Foods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; metric → </a:t>
            </a:r>
            <a:r>
              <a:rPr sz="1150" b="1" i="1">
                <a:solidFill>
                  <a:srgbClr val="0F243E"/>
                </a:solidFill>
                <a:latin typeface="Calibri"/>
              </a:rPr>
              <a:t>Anal Chem / ABC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; P2 → </a:t>
            </a:r>
            <a:r>
              <a:rPr sz="1150" b="1" i="1">
                <a:solidFill>
                  <a:srgbClr val="0F243E"/>
                </a:solidFill>
                <a:latin typeface="Calibri"/>
              </a:rPr>
              <a:t>npj Sci Food / Nature Food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737360"/>
            <a:ext cx="5440680" cy="196596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828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Main risks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94560"/>
            <a:ext cx="5074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Amplitude tiers collapse under severe degradation (P1).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3 tiers + reference exceed the single-channel ceiling.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P2 needs cell-culture access; expression ≠ exact cell fraction; marker specificity (THY1/PDGFRA).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40480"/>
            <a:ext cx="5440680" cy="2103120"/>
          </a:xfrm>
          <a:prstGeom prst="rect">
            <a:avLst/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931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933C"/>
                </a:solidFill>
                <a:latin typeface="Calibri"/>
              </a:rPr>
              <a:t>Backup plan — a guaranteed 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297680"/>
            <a:ext cx="50749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If ≥3 FAM tiers won't hold: drop to </a:t>
            </a:r>
            <a:r>
              <a:rPr sz="1150" b="1" i="0">
                <a:solidFill>
                  <a:srgbClr val="2E933C"/>
                </a:solidFill>
                <a:latin typeface="Calibri"/>
              </a:rPr>
              <a:t>2 FAM tiers + a HEX reference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 — still novel via robustness + metric.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If P2 culture unavailable: purchase bovine myoblast/fibroblast RNA, or use a methylation-DNA readout, or defer P2 and expand species coverage.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2B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Phase 1 is fully publishable on its own → </a:t>
            </a:r>
            <a:r>
              <a:rPr sz="1150" b="1" i="0">
                <a:solidFill>
                  <a:srgbClr val="0F243E"/>
                </a:solidFill>
                <a:latin typeface="Calibri"/>
              </a:rPr>
              <a:t>low-risk deliverable regardless of stretch outcomes.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3B0"/>
                </a:solidFill>
                <a:latin typeface="Calibri"/>
              </a:rPr>
              <a:t>PART 9 — READ BEFORE THE SUPERVISOR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43E"/>
                </a:solidFill>
                <a:latin typeface="Calibri"/>
              </a:rPr>
              <a:t>The essential papers (by DOI)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1828800" cy="381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B7B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8B"/>
                </a:solidFill>
                <a:latin typeface="Calibri"/>
              </a:rPr>
              <a:t>Method &amp; amplitude multiplexing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Zhong 2011 — first multiplex dPCR beyond one-target/colour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10.1039/c1lc20126c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Miotke 2014 — single-colour (FAM) CNV/SNV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10.1021/ac403843j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Dobnik 2016 — 4-target probe-conc. amplitude MPX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10.1038/srep35451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Whale 2016 — fundamentals of multiplexing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10.1016/j.bdq.2016.05.002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Nyaruaba 2020 — single-FAM amplitude duplex (best detail)  </a:t>
            </a:r>
            <a:r>
              <a:rPr sz="950" i="1">
                <a:solidFill>
                  <a:srgbClr val="1F6F8B"/>
                </a:solidFill>
                <a:latin typeface="Calibri"/>
              </a:rPr>
              <a:t>10.3390/microorganisms8050701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Zhang 2022 — single-fluorescence-channel duplexing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10.1016/j.aca.2022.340243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Lievens 2016 — digital PCR quality / resolution metric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10.1371/journal.pone.0153317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Vynck 2023 — partition-classification review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10.1093/clinchem/hvad063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dMIQE 2020 — reporting guidelines (confirm DOI)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10.1093/clinchem/hvaa125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E08A2B"/>
                </a:solidFill>
                <a:latin typeface="Calibri"/>
              </a:rPr>
              <a:t>Meat authentication (incl. closest prior art)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Floren 2015 — first meat-species ddPCR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10.1016/j.foodchem.2014.10.138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★ He 2022 — 5-species, 3 on FAM (closest prior art)  </a:t>
            </a:r>
            <a:r>
              <a:rPr sz="950" i="1">
                <a:solidFill>
                  <a:srgbClr val="1F6F8B"/>
                </a:solidFill>
                <a:latin typeface="Calibri"/>
              </a:rPr>
              <a:t>10.3390/foods11193034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Ren 2017 — ddPCR in thermal + UHP meat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10.1371/journal.pone.0173567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Temisak 2021 — DNA→mass-fraction, autoclaved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10.1111/ijfs.15375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Griffiths 2023 — dPCR species + MSTN reference  </a:t>
            </a:r>
            <a:r>
              <a:rPr sz="950" i="1">
                <a:solidFill>
                  <a:srgbClr val="1F6F8B"/>
                </a:solidFill>
                <a:latin typeface="Calibri"/>
              </a:rPr>
              <a:t>10.3390/foods12203839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★★ Xi 2026 — single-channel 4-meat barcode (biochip)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10.1063/5.0305726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2E933C"/>
                </a:solidFill>
                <a:latin typeface="Calibri"/>
              </a:rPr>
              <a:t>Cultivated meat QC &amp; the Bos taurus problem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Naraoka 2024 — cultured-meat QC (flow+qPCR)  </a:t>
            </a:r>
            <a:r>
              <a:rPr sz="950" i="1">
                <a:solidFill>
                  <a:srgbClr val="1F6F8B"/>
                </a:solidFill>
                <a:latin typeface="Calibri"/>
              </a:rPr>
              <a:t>10.3390/cells13020135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Pasitka 2025 — non-GM immortalized bovine line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10.1038/s43016-025-01255-3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350"/>
              </a:spcAft>
            </a:pPr>
            <a:r>
              <a:rPr sz="1050">
                <a:solidFill>
                  <a:srgbClr val="1A1A2E"/>
                </a:solidFill>
                <a:latin typeface="Calibri"/>
              </a:rPr>
              <a:t>•  Multisite 2024 — residual-cell RT-ddPCR template  </a:t>
            </a:r>
            <a:r>
              <a:rPr sz="950" i="1">
                <a:solidFill>
                  <a:srgbClr val="1F6F8B"/>
                </a:solidFill>
                <a:latin typeface="Calibri"/>
              </a:rPr>
              <a:t>10.1093/stcltm/szae058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3B0"/>
                </a:solidFill>
                <a:latin typeface="Calibri"/>
              </a:rPr>
              <a:t>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I'd like your steer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109960" cy="841248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82296" cy="84124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8A2B"/>
                </a:solidFill>
                <a:latin typeface="Calibri"/>
              </a:rPr>
              <a:t>Scope of 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01368"/>
            <a:ext cx="7498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DE8EE"/>
                </a:solidFill>
                <a:latin typeface="Calibri"/>
              </a:rPr>
              <a:t>Lock to 3 species (beef/pork/chicken) for a clean ≥3-tier proof, or push to 4 and accept ceiling risk?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1109960" cy="841248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82296" cy="84124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1576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8A2B"/>
                </a:solidFill>
                <a:latin typeface="Calibri"/>
              </a:rPr>
              <a:t>Instrument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15768"/>
            <a:ext cx="7498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DE8EE"/>
                </a:solidFill>
                <a:latin typeface="Calibri"/>
              </a:rPr>
              <a:t>Can we secure a second platform (QX600 / QIAcuity) to make the cross-instrument reproducibility claim?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0440"/>
            <a:ext cx="11109960" cy="841248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82296" cy="84124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016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8A2B"/>
                </a:solidFill>
                <a:latin typeface="Calibri"/>
              </a:rPr>
              <a:t>Phase 2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630168"/>
            <a:ext cx="7498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DE8EE"/>
                </a:solidFill>
                <a:latin typeface="Calibri"/>
              </a:rPr>
              <a:t>Commit to the cultivated-meat purity bridge now, or gate it on Phase 1 results?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11109960" cy="841248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82296" cy="84124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4456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8A2B"/>
                </a:solidFill>
                <a:latin typeface="Calibri"/>
              </a:rPr>
              <a:t>The metric as a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544568"/>
            <a:ext cx="7498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DE8EE"/>
                </a:solidFill>
                <a:latin typeface="Calibri"/>
              </a:rPr>
              <a:t>Is an open-source separability index + gating tool a deliverable you want to headline?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49240"/>
            <a:ext cx="11109960" cy="841248"/>
          </a:xfrm>
          <a:prstGeom prst="rect">
            <a:avLst/>
          </a:prstGeom>
          <a:solidFill>
            <a:srgbClr val="1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82296" cy="84124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5896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8A2B"/>
                </a:solidFill>
                <a:latin typeface="Calibri"/>
              </a:rPr>
              <a:t>Moonshot appetite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458968"/>
            <a:ext cx="7498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DE8EE"/>
                </a:solidFill>
                <a:latin typeface="Calibri"/>
              </a:rPr>
              <a:t>Any interest in exploring Idea 6 (cultured-vs-conventional) as a parallel high-risk track?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