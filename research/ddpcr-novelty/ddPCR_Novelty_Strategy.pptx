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8F8F"/>
                </a:solidFill>
                <a:latin typeface="Calibri"/>
              </a:rPr>
              <a:t>GLOBAL RESEARCH-GAP ANALYSIS  ·  ddPCR IN FOOD MOLECULAR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8813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Novel, publication-worthy ddPCR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research projects for food authenticity, meat/food safety,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BFE0E0"/>
                </a:solidFill>
                <a:latin typeface="Calibri"/>
              </a:rPr>
              <a:t>reference materials &amp; quantitative metrology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4DD"/>
                </a:solidFill>
                <a:latin typeface="Calibri"/>
              </a:rPr>
              <a:t>A senior-researcher strategy brief — worldwide literature (2009–2026), all disciplines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4DD"/>
                </a:solidFill>
                <a:latin typeface="Calibri"/>
              </a:rPr>
              <a:t>translated toward food &amp; meat science.  From: uploaded papers → global literature →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4DD"/>
                </a:solidFill>
                <a:latin typeface="Calibri"/>
              </a:rPr>
              <a:t>cross-field technology → saturation → gap → novel concept → feasibility → publication.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08A1E"/>
                </a:solidFill>
                <a:latin typeface="Calibri"/>
              </a:rPr>
              <a:t>Deliverable: 4 ranked, fully-specified projects — not 20–30 generic ideas.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9FB0BD"/>
                </a:solidFill>
                <a:latin typeface="Calibri"/>
              </a:rPr>
              <a:t>Reference policy: no fabricated citations or DOIs — every reference tagged with verification status (✔ verified from source URL · ⚠ DOI unconfirmed · ▣ preprint · ◆ standard).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HOW THIS BRIEF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Method: a worldwide sweep, then a saturation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5532120" cy="4937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Five parallel literature sweeps across ALL disciplines — not just food: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Metrology / CRM / plasmid / interlaboratory comparison (NIST, LGC, JRC, NMIJ, NIM, KRISS, BIPM-CCQM)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ISO 20395:2019 &amp; qPCR-vs-dPCR validation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Multiplex ddPCR &amp; probe-concentration chemistry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DNA methylation + dPCR  &amp;  CRISPR cut/uncut detection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Meat authenticity, safety &amp; quality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The novelty test applied throughout: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NOT 'has this exact experiment been done in food?'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BUT 'is the scientific principle proven ANYWHERE, and is the food application still missing?'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80160"/>
            <a:ext cx="5349240" cy="489204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B6B"/>
                </a:solidFill>
                <a:latin typeface="Calibri"/>
              </a:rPr>
              <a:t>THE OPPORTUNITY EQUATION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65960"/>
            <a:ext cx="49377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B2A"/>
                </a:solidFill>
                <a:latin typeface="Calibri"/>
              </a:rPr>
              <a:t>Technology exists (elsewhere)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B2A"/>
                </a:solidFill>
                <a:latin typeface="Calibri"/>
              </a:rPr>
              <a:t>+ biological / regulatory problem exists (in food)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B2A"/>
                </a:solidFill>
                <a:latin typeface="Calibri"/>
              </a:rPr>
              <a:t>+ food application is missing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08A1E"/>
                </a:solidFill>
                <a:latin typeface="Calibri"/>
              </a:rPr>
              <a:t>= research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2044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C03A2B"/>
                </a:solidFill>
                <a:latin typeface="Calibri"/>
              </a:rPr>
              <a:t>HONESTY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886200"/>
            <a:ext cx="4937760" cy="21031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A topic is NOT novel just because it is absent from the 3 uploaded papers.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Every novelty claim is checked against the global landscape.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Publisher full-text was egress-limited; DOIs read from real result URLs, flagged where unconfirmed.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Your three uploaded papers — capability, and the recurring wall they hit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92838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8369"/>
                <a:gridCol w="2626241"/>
                <a:gridCol w="2976407"/>
                <a:gridCol w="3851821"/>
              </a:tblGrid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Paper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Establishes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Its stated limitation → our opening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Calibri"/>
                        </a:rPr>
                        <a:t>Aravind Kumar 2024
Buffalo in Haleem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TaqMan ddPCR + 2 linear regression models built on the finished product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First regressions from the processed product; 10–17% buffalo in market Haleem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CRM, no traceable copy→mass conversion, no uncertainty budget → PROJECT 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Calibri"/>
                        </a:rPr>
                        <a:t>Vishnuraj 2021
Giblets (miRNA)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EvaGreen ddPCR on tissue-specific miRNAs; +2 SD cut-off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Solves intra-species (tissue) fraud that DNA sequence cannot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'All tissues share DNA sequence' + 'no quantitative CRMs'; methylation never tried → PROJECT 2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FFFFFF"/>
                          </a:solidFill>
                          <a:latin typeface="Calibri"/>
                        </a:rPr>
                        <a:t>Sahu 2021
C. psittaci ddPCR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EvaGreen ddPCR; linearised vs circular plasmid control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ddPCR 2.4 vs qPCR 38 copies; shows supercoiled-plasmid bias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viability (live/dead), no meat matrix, plasmid not certified → PROJECTS 3 &amp; 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A6B7B"/>
                </a:solidFill>
                <a:latin typeface="Calibri"/>
              </a:rPr>
              <a:t>All three share one lineage (ICAR-NMRI, ISO 17025, QX200) and bump into the same 3 unmet needs: certified quantification RMs · traceable copy→mass conversion · discrimination beyond DNA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GLOBAL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Where the world actually is — part 1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9283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636"/>
                <a:gridCol w="3466119"/>
                <a:gridCol w="1677154"/>
                <a:gridCol w="3577929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 status (all fields)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Food status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live gap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CRM (quantification-type)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Well studied — GMO/clinical/genomic CRMs by dPCR (JRC, NMIJ, NIM, LGC)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certified meat-species quantification CRM (JRC 2025 flags it)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Plasmid copy-number cert.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Well studied — CCQM P154; Dong; Corbisier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08A1E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certified dPCR copy-number standard for a food target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Interlaboratory comparison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Well studied at NMI level — CCQM K86/P154/P199b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food-lab ILC certifying a meat copy-number RM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ISO 20395:2019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Emerging / uneven adoption (Russo 2023; Griffiths 2023)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food application; uncertainty/robustness/ratio omitted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Multiplex ddPCR (probe-conc.)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Saturated for 2–6plex; colour-combo frontier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08A1E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Meat quintuplex ALREADY exists (He 2022) — only gelatin/fish left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GLOBAL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Where the world actually is — part 2 of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9283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1636"/>
                <a:gridCol w="3466119"/>
                <a:gridCol w="1677154"/>
                <a:gridCol w="3577929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 status (all fields)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Food status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live gap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DNA methylation + ddPCR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Established — cancer, forensic tissue-ID, epigenetic age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Zero use for meat species / tissue-origin / processing history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CRISPR edit detection (ddPCR)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Established &amp; commercialised — drop-off assays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08A1E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GMO-vs-edited discrimination in processed food (feasibility-limited)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Meat authenticity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Well studied → saturated (beef/pork duplex)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SATURATED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Mass-fraction traceability; degraded-DNA bias; buffalo/goat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Meat safety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Well studied (Salmonella); PMA-viability in water/dairy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08A1E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PMA-viability MULTIPLEX ddPCR in solid meat (VBNC/injured)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Meat quality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Emerging — absolute 16S protocol exists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C03A2B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Absolute spoilage-microbiome; mtDNA/RNA freshness index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NOVELTY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Saturation vs opportunity — the whole landscape on one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280160"/>
          <a:ext cx="10881358" cy="4777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6751"/>
                <a:gridCol w="1901596"/>
                <a:gridCol w="1690308"/>
                <a:gridCol w="2007241"/>
                <a:gridCol w="2535462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Food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Saturation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Potential novelty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CRM (quantification)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Well studied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Food: open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8B57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Plasmid certification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Well studied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Food: open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6B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ILC / proficiency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Well studied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Food: open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6B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ISO 20395:2019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Unused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08A1E"/>
                          </a:solidFill>
                          <a:latin typeface="Calibri"/>
                        </a:rPr>
                        <a:t>Med–high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Multiplex (probe-conc.)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Saturated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Global: full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08A1E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DNA methylation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Food: open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8B57"/>
                          </a:solidFill>
                          <a:latin typeface="Calibri"/>
                        </a:rPr>
                        <a:t>Very high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CRISPR edit detection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Established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Food: thin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B7B"/>
                          </a:solidFill>
                          <a:latin typeface="Calibri"/>
                        </a:rPr>
                        <a:t>High*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Meat authenticity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Well studied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Saturated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Full (pairs)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B7B"/>
                          </a:solidFill>
                          <a:latin typeface="Calibri"/>
                        </a:rPr>
                        <a:t>Low/High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Meat safety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Well studied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6B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Meat quality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Major gap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A6B7B"/>
                          </a:solidFill>
                          <a:latin typeface="Calibri"/>
                        </a:rPr>
                        <a:t>High*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5A6B7B"/>
                </a:solidFill>
                <a:latin typeface="Calibri"/>
              </a:rPr>
              <a:t>Novelty key:  </a:t>
            </a:r>
            <a:r>
              <a:rPr sz="1050" b="1" i="0">
                <a:solidFill>
                  <a:srgbClr val="2E8B57"/>
                </a:solidFill>
                <a:latin typeface="Calibri"/>
              </a:rPr>
              <a:t>Very high </a:t>
            </a:r>
            <a:r>
              <a:rPr sz="1050" b="1" i="0">
                <a:solidFill>
                  <a:srgbClr val="0A6B6B"/>
                </a:solidFill>
                <a:latin typeface="Calibri"/>
              </a:rPr>
              <a:t>· High </a:t>
            </a:r>
            <a:r>
              <a:rPr sz="1050" b="1" i="0">
                <a:solidFill>
                  <a:srgbClr val="E08A1E"/>
                </a:solidFill>
                <a:latin typeface="Calibri"/>
              </a:rPr>
              <a:t>· Medium </a:t>
            </a:r>
            <a:r>
              <a:rPr sz="1050" b="0" i="1">
                <a:solidFill>
                  <a:srgbClr val="5A6B7B"/>
                </a:solidFill>
                <a:latin typeface="Calibri"/>
              </a:rPr>
              <a:t>· * = high ceiling but feasibility/interpretation-limited today.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CROSS-DISCIPLINARY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Proven elsewhere · missing in food · becomes a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325880"/>
          <a:ext cx="11292839" cy="5248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771"/>
                <a:gridCol w="3764280"/>
                <a:gridCol w="3441627"/>
                <a:gridCol w="1398161"/>
              </a:tblGrid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ddPCR combined with…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Proven where (outside food)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Missing in food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Becomes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CRM + metrology + uncertainty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GMO (JRC ERM-BF), clinical (ERM-AD623), genomic mass (NMIJ 6205-a)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certified meat CRM; no copy→mass conversion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8B57"/>
                          </a:solidFill>
                          <a:latin typeface="Calibri"/>
                        </a:rPr>
                        <a:t>PROJECT 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Methylation (tDMR, tissue-of-origin)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Cancer cfDNA, forensic body-fluid ID, epigenetic age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DNA-based tissue-origin / processing authentication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8B57"/>
                          </a:solidFill>
                          <a:latin typeface="Calibri"/>
                        </a:rPr>
                        <a:t>PROJECT 2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PMA viability + multiplex + IAC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Water / dairy / flour microbiology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viable-pathogen multiplex ddPCR in solid meat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8B57"/>
                          </a:solidFill>
                          <a:latin typeface="Calibri"/>
                        </a:rPr>
                        <a:t>PROJECT 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ILC + ISO 20395 + plasmid copy-number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CCQM key comparisons (NMI level)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No food-lab ILC certifying a meat copy-number RM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8B57"/>
                          </a:solidFill>
                          <a:latin typeface="Calibri"/>
                        </a:rPr>
                        <a:t>PROJECT 4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Amplitude multiplex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Oncology hyperplex; GMO 4-plex; MEAT quintuplex (He 2022)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Only gelatin / degraded matrices remain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A6B7B"/>
                          </a:solidFill>
                          <a:latin typeface="Calibri"/>
                        </a:rPr>
                        <a:t>add-on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CRISPR drop-off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Cell / animal editing labs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E1B2A"/>
                          </a:solidFill>
                          <a:latin typeface="Calibri"/>
                        </a:rPr>
                        <a:t>Processed-food edited-vs-natural discrimination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5A6B7B"/>
                          </a:solidFill>
                          <a:latin typeface="Calibri"/>
                        </a:rPr>
                        <a:t>watch-list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FROM 10 IDEAS TO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The funnel — what survives a global saturation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E8B57"/>
                </a:solidFill>
                <a:latin typeface="Calibri"/>
              </a:rPr>
              <a:t>SELECTED 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55778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▸ P1 · Meat-species quantification CRM + traceable copy→mass conversion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▸ P2 · Methylation-ddPCR for tissue-origin &amp; processing-history authentication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▸ P3 · PMA-viability multiplex ddPCR for viable pathogens in solid meat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>
                <a:solidFill>
                  <a:srgbClr val="2E8B57"/>
                </a:solidFill>
                <a:latin typeface="Calibri"/>
              </a:rPr>
              <a:t>▸ P4 · ISO 20395 ILC certifying a meat-species plasmid copy-number 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23444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03A2B"/>
                </a:solidFill>
                <a:latin typeface="Calibri"/>
              </a:rPr>
              <a:t>ABSORBED / REJECTED / DEFERRED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394960" cy="4480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Degraded/autoclaved-DNA correction → folded into P1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Fresh-vs-frozen/heat methylation marker → folded into P2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Higher-order multiplex meat speciation → rejected: He 2022 quintuplex already published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New beef/pork-type species pair → rejected: saturated (LOD ~0.1% routine)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CRISPR edited-food ddPCR → deferred: needs edited RMs + edit-vs-natural confound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▸ Absolute spoilage-microbiome; mtDNA/RNA freshness index → deferred: weaker regulatory pull / validation-heavy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WEIGHTED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Scored on your criteria (Novelty 25 · Pub 20 · Feasibility 15 · Industry 10 · Reg 10 · ddPCR-adv 10 · Future 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129283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6216"/>
                <a:gridCol w="1055405"/>
                <a:gridCol w="844324"/>
                <a:gridCol w="1055405"/>
                <a:gridCol w="1055405"/>
                <a:gridCol w="844324"/>
                <a:gridCol w="949865"/>
                <a:gridCol w="949865"/>
                <a:gridCol w="1372027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Novelty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Pub.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Feasib.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Industry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Reg.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ddPCR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TOTAL /500</a:t>
                      </a:r>
                    </a:p>
                  </a:txBody>
                  <a:tcPr marL="63500" marR="63500" marT="25400" marB="25400" anchor="ctr">
                    <a:solidFill>
                      <a:srgbClr val="122A3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P1 · Meat CRM + mass-fraction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8B57"/>
                          </a:solidFill>
                          <a:latin typeface="Calibri"/>
                        </a:rPr>
                        <a:t>485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P2 · Methylation tissue-origin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8B57"/>
                          </a:solidFill>
                          <a:latin typeface="Calibri"/>
                        </a:rPr>
                        <a:t>440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P3 · PMA-viability multiplex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6B6B"/>
                          </a:solidFill>
                          <a:latin typeface="Calibri"/>
                        </a:rPr>
                        <a:t>430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P4 · ISO 20395 ILC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E1B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A6B6B"/>
                          </a:solidFill>
                          <a:latin typeface="Calibri"/>
                        </a:rPr>
                        <a:t>405</a:t>
                      </a:r>
                    </a:p>
                  </a:txBody>
                  <a:tcPr marL="63500" marR="63500"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6B6B"/>
                </a:solidFill>
                <a:latin typeface="Calibri"/>
              </a:rPr>
              <a:t>Read-out: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E1B2A"/>
                </a:solidFill>
                <a:latin typeface="Calibri"/>
              </a:rPr>
              <a:t>P1 is the flagship — top on novelty, publication and relevance, and it seeds P4.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E1B2A"/>
                </a:solidFill>
                <a:latin typeface="Calibri"/>
              </a:rPr>
              <a:t>P2 is the highest-ceiling scientific bet (genuine global white space).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E1B2A"/>
                </a:solidFill>
                <a:latin typeface="Calibri"/>
              </a:rPr>
              <a:t>P3 is the most operationally safe high-impact project (clear gap, strong ddPCR advantage).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0E1B2A"/>
                </a:solidFill>
                <a:latin typeface="Calibri"/>
              </a:rPr>
              <a:t>P4 is the standardisation capstone chaining from P1.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05840"/>
          </a:xfrm>
          <a:prstGeom prst="rect">
            <a:avLst/>
          </a:prstGeom>
          <a:solidFill>
            <a:srgbClr val="122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146304" cy="7315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108960"/>
            <a:ext cx="1005840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four selected projects — full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2062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4DD"/>
                </a:solidFill>
                <a:latin typeface="Calibri"/>
              </a:rPr>
              <a:t>Concept · global status · exact gap · novelty · hypothesis · design · validation · statistics · outcomes · journals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1  ·  CONCEPT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Traceable meat-species quantification CRM + copy-number→mass-fraction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92840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167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CONCEPT  </a:t>
            </a:r>
            <a:r>
              <a:rPr sz="1250" b="0" i="1">
                <a:solidFill>
                  <a:srgbClr val="0E1B2A"/>
                </a:solidFill>
                <a:latin typeface="Calibri"/>
              </a:rPr>
              <a:t>Build the meat analogue of the GMO ERM-BF system: dPCR-value-assigned, uncertainty-bearing, ISO Guide 35 / ISO 20395 reference materials + a validated copy→mass conversion.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10642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Global status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dPCR-certified CRMs mature for GMO/clinical/genomic mass; copy→mass conversion solved for GMO but OPEN for meat (JRC review 2025; closest attempt Temisak 2021).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Exact gap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No ISO Guide 35 certified matrix CRM for meat-species quantification; no traceable conversion accounting for genome size, ploidy, fat-vs-lean cell density, and processing fragmentation — esp. buffalo/goat.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Why genuinely novel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First quantification-type meat CRM with a full GUM uncertainty budget AND the first fragmentation-aware copy→mass conversion (raw/cooked/autoclaved). Transplants a fully-solved GMO framework into a domain that lacks it.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Hypothesis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A gravimetric, homogenised, stability-tested meat matrix can be dPCR-value-assigned with expanded uncertainty ≤10%, and a fragmentation-corrected factor recovers true mass fraction to ±15% across raw/cooked/autoclaved.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1  ·  DESIGN, VALIDATION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Experimental design, statistics,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2356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Experimental design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Buffalo/cattle/sheep/goat single-species (Sanger-verified QCMs); gravimetric mixes at 0.1–50% w/w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3 processing states: raw · cooked 100°C · autoclaved 121°C; lean/20%-fat/Haleem-type matrices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CTAB (ISO 21571)+column; DIN/fragment size as covariate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Single-copy nuclear target + universal reference; &lt;120 bp amplicons; TaqMan duplex on QX200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Homogeneity 10 bottles×3; isochronous stability −20/4/25/37°C 0–12 mo; triplicate wells ×3 days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Dilute to 10–120 copies/µL; ≥12,000 droplets/well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Validation (ISO 20395 + dMIQE2020)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Specificity (≥10 non-targets)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LOD (95%, Poisson) · LOQ (CV≤25%)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Repeatability + reproducibility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Trueness vs gravimetric truth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Robustness (Plackett–Burman) · inhibition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FULL GUM uncertainty budget + ISO Guide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486400" cy="3383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Statistics (named methods)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Homogeneity: between/within-bottle ANOVA → u_bb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Stability: isochronous regression → u_sts/u_lts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U = k·√(u_char²+u_bb²+u_sts²+u_lts²), k=2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Conversion: weighted/segmented regression (DIN covariate) + prediction intervals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Deming / Passing–Bablok vs qPCR; Bland–Altman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8A1E"/>
                </a:solidFill>
                <a:latin typeface="Calibri"/>
              </a:rPr>
              <a:t>▸ Expected outcomes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Meat CRMs with assigned copy-number values (U≤10%)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Fragmentation-aware conversion recovering mass to ±10–15%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First proof that raw-meat regressions bias autoclaved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92040"/>
            <a:ext cx="54864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983480"/>
            <a:ext cx="5212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Duration:  </a:t>
            </a:r>
            <a:r>
              <a:rPr sz="1100" b="0" i="0">
                <a:solidFill>
                  <a:srgbClr val="0E1B2A"/>
                </a:solidFill>
                <a:latin typeface="Calibri"/>
              </a:rPr>
              <a:t>24–30 months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Target journals:  </a:t>
            </a:r>
            <a:r>
              <a:rPr sz="1050" b="0" i="1">
                <a:solidFill>
                  <a:srgbClr val="0E1B2A"/>
                </a:solidFill>
                <a:latin typeface="Calibri"/>
              </a:rPr>
              <a:t>Anal. Bioanal. Chem. · Food Chemistry · Food Control · Foods · Metrologia · npj Sci. Food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2  ·  CONCEPT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DNA-methylation ddPCR for tissue-origin &amp; processing-history authentication of meat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92840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167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CONCEPT  </a:t>
            </a:r>
            <a:r>
              <a:rPr sz="1250" b="0" i="1">
                <a:solidFill>
                  <a:srgbClr val="0E1B2A"/>
                </a:solidFill>
                <a:latin typeface="Calibri"/>
              </a:rPr>
              <a:t>Read tissue- and species-specific differentially methylated regions by absolute methylation-fraction ddPCR to resolve what DNA sequence cannot — is 'meat' really skeletal muscle, and how was it processed?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10642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Global status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Methylation-ddPCR established in oncology/cfDNA, forensic tissue-ID (tDMRs), epigenetic age; species methylation differences documented across 580 animals. ZERO use for meat authentication.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Exact gap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Your own miRNA-giblet paper states DNA cannot detect tissue (offal) adulteration 'because all tissues share the same DNA sequence' — yet methylation IS a DNA-borne tissue-specific signal, never exploited for meat.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Why genuinely novel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First epigenetic, DNA-based route to (i) muscle-vs-offal tissue origin, (ii) species by methylation, (iii) fresh/frozen-thawed/heat processing history — a transfer of forensic tDMR science into food.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Hypothesis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Candidate tDMRs differ ≥30 percentage points in methylation between muscle and liver/heart/gizzard, are stable across freeze–thaw, and shift with defined heat treatment — all quantifiable by ddPCR at CV ≤10%.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2  ·  DESIGN, VALIDATION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Experimental design, statistics,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2356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Experimental design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Chicken &amp; buffalo muscle/liver/heart/gizzard; admixtures 5–50% w/w, raw &amp; cooked (mirrors giblet-paper design)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Freeze–thaw series (0–5 cycles); heat gradient 60/72/100/121°C; n=10 biological reps/tissue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Genomic DNA; MSRE arm (in-well HpaII, one-step) + bisulfite arm (conversion checked by dPCR)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4–6 tDMRs (muscle/offal) + 2 species DMRs + methylation-independent copy denominator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Duplex TaqMan (methylated vs unmethylated/digested) on QX200; fully-meth &amp; unmeth control DNAs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Triplicate wells ×3 days; 10–120 copies/µL; ≥12,000 droplets/well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Validation (ISO 20395 + dMIQE2020)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Specificity (target vs non-target tissue/species)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LOD/LOQ of the minor (offal) fraction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Repeatability + reproducibility of methylation %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Trueness vs bisulfite-amplicon sequencing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Robustness (enzyme/conversion lot, anneal ±2°C)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Uncertainty (partition-vol + conversion terms)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486400" cy="3383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Statistics (named methods)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Methylation fraction = Cmeth/(Cmeth+Cunmeth) with ratio-error propagation (dMIQE)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ANOVA + Tukey across tissues; ROC/Youden cut-offs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Mixed models (tissue fixed, animal random) for %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Lin's CCC + Bland–Altman vs BS-seq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Segmented regression for heat dose–response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8A1E"/>
                </a:solidFill>
                <a:latin typeface="Calibri"/>
              </a:rPr>
              <a:t>▸ Expected outcomes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Panel flagging undeclared offal at ≥10–25 g/100 g raw &amp; cooked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Chicken-vs-buffalo discrimination by methylation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Monotonic methylation shift = heat/freeze–thaw marker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92040"/>
            <a:ext cx="54864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983480"/>
            <a:ext cx="5212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Duration:  </a:t>
            </a:r>
            <a:r>
              <a:rPr sz="1100" b="0" i="0">
                <a:solidFill>
                  <a:srgbClr val="0E1B2A"/>
                </a:solidFill>
                <a:latin typeface="Calibri"/>
              </a:rPr>
              <a:t>24 months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Target journals:  </a:t>
            </a:r>
            <a:r>
              <a:rPr sz="1050" b="0" i="1">
                <a:solidFill>
                  <a:srgbClr val="0E1B2A"/>
                </a:solidFill>
                <a:latin typeface="Calibri"/>
              </a:rPr>
              <a:t>Food Chemistry · npj Sci. Food · Food Control · J. Agric. Food Chem. · Forensic Sci. Int. Genetics · ABC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3  ·  CONCEPT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PMA-viability multiplex ddPCR for viable foodborne pathogens in solid meat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92840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167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CONCEPT  </a:t>
            </a:r>
            <a:r>
              <a:rPr sz="1250" b="0" i="1">
                <a:solidFill>
                  <a:srgbClr val="0E1B2A"/>
                </a:solidFill>
                <a:latin typeface="Calibri"/>
              </a:rPr>
              <a:t>Combine PMA viability treatment with a multiplex ddPCR panel + internal amplification control to count only LIVE Salmonella / Listeria / STEC directly in beef/buffalo/poultry homogenates.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10642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Global status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PMA-ddPCR viability proven in water/seawater/flour/dairy; Salmonella (invA) &amp; quadruplex food ddPCR exist. In meat: only a Campylobacter chicken-RINSE ddPCR and a beef-burger PMA-qPCR.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Exact gap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No PMA-viability MULTIPLEX ddPCR validated in SOLID meat homogenate, and no ddPCR discrimination of VBNC / heat- or HPP-injured cells in meat.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Why genuinely novel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First viable-pathogen multiplex ddPCR in real solid meat with injured-cell resolution + IAC — extends your single-target C. psittaci ddPCR into a viability multiplex for meat safety.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Hypothesis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PMA suppresses dead-cell signal ≥3 log in meat homogenate, enabling viable Salmonella/Listeria/STEC quantification to ≤10 CFU/g (recovery ±0.5 log) and injured-vs-dead discrimination after heat/HPP stress.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3  ·  DESIGN, VALIDATION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Experimental design, statistics,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2356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Experimental design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Sterile beef/buffalo/chicken homogenates spiked with live + heat-killed cocktails 10⁰–10⁶ CFU/g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Defined live:dead ratios 100:0→0:100; sub-lethal stress arms (56°C, 300–600 MPa HPP)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≥30 naturally-contaminated retail samples; PMA/PMAxx titration + photoactivation + matrix clarification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Targets: invA · hlyA · stx1/stx2+eae + synthetic IAC; specificity vs ≥20 non-target strains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Amplitude/colour multiplex (probe-conc. tiers) on QX200; NTC/live-only/dead-only/no-PMA controls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Parallel ISO 6579 / ISO 11290 culture plate counts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Validation (ISO 20395 + dMIQE2020)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Specificity/selectivity (≥20 strains + flora)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LOD/LOQ in CFU/g (95% at LOD)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Repeatability + reproducibility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Trueness vs plate counts (log CFU/g bias)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Robustness (PMA lot, load, anneal)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IAC inhibition flag + dilution linearity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486400" cy="3383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Statistics (named methods)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Live/dead suppression Δlog ± PMA; ROC viability threshold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Mixed-effects regression copies vs CFU (matrix random)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Deming ddPCR vs culture; Bland–Altman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ANOVA across injury treatments; probit LOD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8A1E"/>
                </a:solidFill>
                <a:latin typeface="Calibri"/>
              </a:rPr>
              <a:t>▸ Expected outcomes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≥3-log dead-cell suppression in meat; viable LOD ≤10 CFU/g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Injured-cell detection where culture under-reports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3 pathogens + IAC quantified in one well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92040"/>
            <a:ext cx="54864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983480"/>
            <a:ext cx="5212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Duration:  </a:t>
            </a:r>
            <a:r>
              <a:rPr sz="1100" b="0" i="0">
                <a:solidFill>
                  <a:srgbClr val="0E1B2A"/>
                </a:solidFill>
                <a:latin typeface="Calibri"/>
              </a:rPr>
              <a:t>18–24 months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Target journals:  </a:t>
            </a:r>
            <a:r>
              <a:rPr sz="1050" b="0" i="1">
                <a:solidFill>
                  <a:srgbClr val="0E1B2A"/>
                </a:solidFill>
                <a:latin typeface="Calibri"/>
              </a:rPr>
              <a:t>Food Control · Int. J. Food Microbiology · Food Microbiology · Foods · Appl. Environ. Microbiol.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4  ·  CONCEPT &amp;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ISO 20395-framed interlaboratory comparison certifying a meat-species plasmid copy-number 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1292840" cy="658368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167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CONCEPT  </a:t>
            </a:r>
            <a:r>
              <a:rPr sz="1250" b="0" i="1">
                <a:solidFill>
                  <a:srgbClr val="0E1B2A"/>
                </a:solidFill>
                <a:latin typeface="Calibri"/>
              </a:rPr>
              <a:t>Bring the CCQM key-comparison model down to food/regulatory labs: circulate a linearised meat-target plasmid, have labs assign copy-number by ddPCR under a common ISO 20395 protocol, derive a reference value + performance scores.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57400"/>
            <a:ext cx="11064240" cy="420624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Global status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Copy-number ILCs by dPCR established at NMI level (CCQM K86/P154/P199b); supercoiled-vs-linear plasmid effect well characterised (Dong; Corbisier; your C. psittaci paper).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Exact gap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No published ILC in which routine food labs certify a meat-relevant copy-number RM under ISO 20395; no food-sector proficiency scheme for dPCR quantification.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08A1E"/>
                </a:solidFill>
                <a:latin typeface="Calibri"/>
              </a:rPr>
              <a:t>▸ Why genuinely novel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First ISO 20395-framed food-lab ILC + reference-value assignment for a meat target — yields a usable RM (feeds P1) AND the first food-dPCR proficiency dataset. A standardisation contribution, not just an assay.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A6B6B"/>
                </a:solidFill>
                <a:latin typeface="Calibri"/>
              </a:rPr>
              <a:t>▸ Hypothesis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E1B2A"/>
                </a:solidFill>
                <a:latin typeface="Calibri"/>
              </a:rPr>
              <a:t>– With a harmonised protocol + linearised plasmid, ≥8 labs assign copy-number at reproducibility CV ≤25% and a consensus reference value with U ≤15%, while circular-plasmid controls reproducibly bias results high.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PROJECT 4  ·  DESIGN, VALIDATION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Experimental design, statistics, expected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2356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Experimental design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Single meat-target insert (e.g. buffalo MC1R, reusing your validated assay) in a plasmid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Linearised master + circular comparator; homogeneity 10 units×3; short/long-term stability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Blind-coded aliquots at 2–3 levels across Poisson range; cold-chain + stability sentinel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Harmonised protocol: fixed primer/probe/supermix/cycling/threshold rules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Mandated NTC + linearised &amp; circular controls; triplicate wells ×≥2 days per lab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Standard data-return template (copies/µL, droplets, thresholds, operator, instrument)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Validation (ISO 20395 + dMIQE2020)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Per-lab LOD/LOQ + repeatability + droplet-count acceptance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Inhibition control per lab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Scheme-level outlier screening + reproducibility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Traceability documentation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Robustness of consensus to lab exclusion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34440"/>
            <a:ext cx="5486400" cy="33832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0A6B6B"/>
                </a:solidFill>
                <a:latin typeface="Calibri"/>
              </a:rPr>
              <a:t>▸ Statistics (named methods)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Reference value by robust estimators (ISO 13528 algorithm A / Q–Hampel)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Lab performance by z- and ζ-scores (ISO 13528)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sR &amp; sr via nested ANOVA; Mandel h/k consistency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Paired t / Wilcoxon for circular-vs-linear bias; Youden plot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E08A1E"/>
                </a:solidFill>
                <a:latin typeface="Calibri"/>
              </a:rPr>
              <a:t>▸ Expected outcomes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Consensus copy-number reference value + documented uncertainty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z-score performance map of labs; reusable linearised RM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– Multi-lab confirmation of circular-plasmid positive bias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892040"/>
            <a:ext cx="5486400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983480"/>
            <a:ext cx="52120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Duration:  </a:t>
            </a:r>
            <a:r>
              <a:rPr sz="1100" b="0" i="0">
                <a:solidFill>
                  <a:srgbClr val="0E1B2A"/>
                </a:solidFill>
                <a:latin typeface="Calibri"/>
              </a:rPr>
              <a:t>18–24 months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Target journals:  </a:t>
            </a:r>
            <a:r>
              <a:rPr sz="1050" b="0" i="1">
                <a:solidFill>
                  <a:srgbClr val="0E1B2A"/>
                </a:solidFill>
                <a:latin typeface="Calibri"/>
              </a:rPr>
              <a:t>Accred. Qual. Assur. · Anal. Bioanal. Chem. · Food Control · Metrologia · Food Anal. Methods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THE BOTTOM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If you start a ddPCR project today — start these four, in this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777240" cy="10789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777240" cy="10789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280160"/>
            <a:ext cx="10515600" cy="1078992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1353312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E1B2A"/>
                </a:solidFill>
                <a:latin typeface="Calibri"/>
              </a:rPr>
              <a:t>Meat-species quantification CRM + copy→mass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737360"/>
            <a:ext cx="101498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THE FLAGSHIP — highest novelty &amp; publication ceiling; food-authenticity + metrology + ISO 20395 sweet spot; feasible on your accredited QX200 lab; seeds P4. Fills a gap a 2025 JRC review names.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777240" cy="1078992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87168"/>
            <a:ext cx="777240" cy="10789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2487168"/>
            <a:ext cx="10515600" cy="1078992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560320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E1B2A"/>
                </a:solidFill>
                <a:latin typeface="Calibri"/>
              </a:rPr>
              <a:t>Methylation-ddPCR tissue-origin &amp; processing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2944368"/>
            <a:ext cx="101498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HIGHEST-CEILING BET — genuine global white space; DNA-based successor to your miRNA-giblet work; cross-disciplinary (forensic tDMR → food).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94176"/>
            <a:ext cx="777240" cy="1078992"/>
          </a:xfrm>
          <a:prstGeom prst="rect">
            <a:avLst/>
          </a:prstGeom>
          <a:solidFill>
            <a:srgbClr val="0A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94176"/>
            <a:ext cx="777240" cy="10789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694176"/>
            <a:ext cx="10515600" cy="1078992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767328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E1B2A"/>
                </a:solidFill>
                <a:latin typeface="Calibri"/>
              </a:rPr>
              <a:t>PMA-viability multiplex ddPCR in solid meat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51376"/>
            <a:ext cx="101498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SAFEST HIGH-IMPACT — clear defensible gap; strongest ddPCR-over-qPCR/culture argument (live/dead + VBNC); direct regulatory pull.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901184"/>
            <a:ext cx="777240" cy="1078992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901184"/>
            <a:ext cx="777240" cy="107899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4901184"/>
            <a:ext cx="10515600" cy="1078992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4974336"/>
            <a:ext cx="101498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0E1B2A"/>
                </a:solidFill>
                <a:latin typeface="Calibri"/>
              </a:rPr>
              <a:t>ISO 20395 ILC certifying a meat plasmid copy-number 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58384"/>
            <a:ext cx="1014984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Calibri"/>
              </a:rPr>
              <a:t>STANDARDISATION CAPSTONE — chains from P1; first food-dPCR proficiency dataset; citable metrology contribution.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1">
                <a:solidFill>
                  <a:srgbClr val="0A6B6B"/>
                </a:solidFill>
                <a:latin typeface="Calibri"/>
              </a:rPr>
              <a:t>Tight-resource minimum: P1 + P2 — inter-species quantification (metrology) + intra-species/processing authentication (epigenetics).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EVIDENCE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Key references justifying novelty — foundations &amp;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A6B7B"/>
                </a:solidFill>
                <a:latin typeface="Calibri"/>
              </a:rPr>
              <a:t>▸ Legend: ✔ verified from source URL · ⚠ DOI unconfirmed · ▣ preprint · ◆ standard.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Ulberth &amp; Koeber 2025, Anal. Bioanal. Chem. 417:2427 — 'Reference materials for food authentication' ✔ 10.1007/s00216-025-05743-0 — GAP-DEFINING (no meat CRM).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Pinheiro … Emslie 2012, Anal. Chem. 84:1003 — ddPCR copy-number validation ✔ 10.1021/ac202578x.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Corbisier 2015, ABC 407:1831 — dPCR copy-number by CRMs (ERM-AD623) ✔ 10.1007/s00216-015-8458-z.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Deprez 2016, BDQ 9:29 — dPCR validation with a CRM ✔ 10.1016/j.bdq.2016.08.002.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Dong 2015/2016, Sci. Rep. — plasmid conformation bias / supercoiled quantification ✔ 10.1038/srep13174 · 10.1038/srep24230.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NMIJ CRM 6205-a (Kase 2019, ABC 411) — orthogonal DNA-mass CRM ✔ 10.1007/s00216-019-01992-y.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Temisak 2021, IJFST 56:6345 — meat mass-fraction by dPCR ✔ 10.1111/ijfs.15375 (closest to P1).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Griffiths 2023, Foods 12:3839 — 7 dPCR animal-species assays + RM (NMI Australia) ✔ 10.3390/foods12203839.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ISO 20395:2019 ◆ · dMIQE2020 (Huggett) ✔ 10.1093/clinchem/hvaa125 · MIQE 2009 ✔ 10.1373/clinchem.2008.112797.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Pecoraro/JRC 2019, EUR 29673 EN — application of digital PCR ✔ 10.2760/192883 · Milavec 2022 ✔ 10.1007/s00216-021-03712-x.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Russo 2023, JMM 213:106825 — full dPCR validation 'according to ISO 20395:2019' ✔ 10.1016/j.mimet.2023.106825.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EVIDENCE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Key references justifying novelty — methylation, CRISPR, meat, safety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METHYLATION: Nell 2020 (MSRE+dPCR) ✔ 10.1002/humu.24111 · one-step MSRE-ddPCR 2024 ✔ 10.3892/ijmm.2024.5366 · freeze–thaw methylation stability 2024 ✔ 10.1089/bio.2022.0045 · vertebrate methylome 2022 ✔ 10.1186/s12915-022-01270-x · Angus tenderness methylation 2020 ✔ 10.3389/fgene.2020.00939.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CRISPR: Miyaoka 2016 HDR/NHEJ ddPCR ⚠ 10.1038/srep23549 · Fraiture 2022 gene-edited plant ddPCR ⚠ (HAL hal-03672552) — flags SNV confound · MSTN cattle ddPCR 2025 ✔ 10.3390/biology14020203 · Cas-gene in edited food 2023 ✔ 10.3390/foods12193681.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MULTIPLEX: Whale/Huggett/Tzonev 2016 ✔ 10.1016/j.bdq.2016.05.002 · McDermott 2013 ✔ 10.1021/ac403061n · Dobnik 2016 4-plex GMO ✔ 10.1038/srep35451 · He 2022 MEAT QUINTUPLEX ✔ 10.3390/foods11193034 (limits multiplex-meat novelty).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MEAT AUTHENTICITY: Floren 2015 ✔ 10.1016/j.foodchem.2014.10.138 · Cai 2017 duplex ✔ 10.1371/journal.pone.0181949 · Ren 2017 (copy→mass factor) ✔ 10.1371/journal.pone.0173567 · Köppel 2019 6-species ✔ 10.1007/s00217-018-3220-3 · He 2023 ✔ 10.3389/fsufs.2023.1180301.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0E1B2A"/>
                </a:solidFill>
                <a:latin typeface="Calibri"/>
              </a:rPr>
              <a:t>▸ MEAT SAFETY: Salmonella in meat 2026 ✔ 10.3390/foods15020337 · quadruplex 2025 ✔ 10.1038/s41598-025-17272-y · Campylobacter viable ddPCR (chicken rinse) 2022 ✔ 10.3390/app12115315 · PMA-qPCR STEC beef burger 2021 ✔ 10.1111/jfpp.15338 (the ddPCR gap) · Vibrio PMA multiplex ddPCR 2023 ✔ 10.3389/fmicb.2023.1149981.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5A6B7B"/>
                </a:solidFill>
                <a:latin typeface="Calibri"/>
              </a:rPr>
              <a:t>▸ Full, grouped, verification-tagged list (≈60 refs) in the companion REPORT.md.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1051560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A6B6B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84048"/>
            <a:ext cx="11338560" cy="5669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0E1B2A"/>
                </a:solidFill>
                <a:latin typeface="Calibri"/>
              </a:rPr>
              <a:t>ISO 20395:2019 — laboratory-friendly extract (the validation spine for P1–P4)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9264"/>
            <a:ext cx="11384280" cy="19050"/>
          </a:xfrm>
          <a:prstGeom prst="rect">
            <a:avLst/>
          </a:prstGeom>
          <a:solidFill>
            <a:srgbClr val="D5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74536"/>
            <a:ext cx="96012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9D4DD"/>
                </a:solidFill>
                <a:latin typeface="Calibri"/>
              </a:rPr>
              <a:t>ddPCR in Food Molecular Analysis — Global Novelty &amp; Research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7453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C9D4DD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34440"/>
            <a:ext cx="5623560" cy="50292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0A6B6B"/>
                </a:solidFill>
                <a:latin typeface="Calibri"/>
              </a:rPr>
              <a:t>▸ Required parameters (with a practical dPCR target):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Trueness — %bias vs a reference value/CRM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Precision — repeatability + intermediate/reproducibility (CV)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Specificity — in silico (Primer-BLAST) + in vitro non-targets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LOD — ≥95% detection, Poisson-based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LOQ — CV ≤25% working rule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Linearity/range — Poisson-valid ≈10–120 copies/µL, ≥~12,000 partitions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Robustness — supermix ±20%, anneal ±2°C, lots (OFTEN OMITTED)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Measurement uncertainty — partition-volume must propagate (GUM)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0E1B2A"/>
                </a:solidFill>
                <a:latin typeface="Calibri"/>
              </a:rPr>
              <a:t>– Traceability to a CRM · Inhibition via IAC + dilution linearity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5394960" cy="5029200"/>
          </a:xfrm>
          <a:prstGeom prst="rect">
            <a:avLst/>
          </a:prstGeom>
          <a:solidFill>
            <a:srgbClr val="F4F6F8"/>
          </a:solidFill>
          <a:ln w="9525">
            <a:solidFill>
              <a:srgbClr val="D5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A6B6B"/>
                </a:solidFill>
                <a:latin typeface="Calibri"/>
              </a:rPr>
              <a:t>qPCR vs dPCR — why the standard separates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5029200" cy="21945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qPCR: needs a calibration curve (efficiency, R², slope); ~7-log range; higher throughput; inhibitor-sensitive.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dPCR: calibration-free Poisson counting; higher precision + inhibitor tolerance at low copy number; ~4-log range/reaction.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77639"/>
            <a:ext cx="4937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03A2B"/>
                </a:solidFill>
                <a:latin typeface="Calibri"/>
              </a:rPr>
              <a:t>Most-overlooked in food dPCR papers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60"/>
            <a:ext cx="5029200" cy="17373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Full GUM uncertainty budget (not a single %RSD)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Robustness testing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Inter-lab reproducibility &amp; traceability to a CRM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0E1B2A"/>
                </a:solidFill>
                <a:latin typeface="Calibri"/>
              </a:rPr>
              <a:t>▸ → make these your differentiators (P1 &amp; P4).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457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Two directions the world literature — not just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your uploaded papers — leaves genuinely open: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4DD"/>
                </a:solidFill>
                <a:latin typeface="Calibri"/>
              </a:rPr>
              <a:t>① Inter-species QUANTIFICATION with metrology — certified RMs + traceable copy→mass conversion (P1, P4)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9D4DD"/>
                </a:solidFill>
                <a:latin typeface="Calibri"/>
              </a:rPr>
              <a:t>② Intra-species &amp; PROCESSING authentication with epigenetics + viability — methylation &amp; PMA-viability ddPCR (P2, P3)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E08A1E"/>
                </a:solidFill>
                <a:latin typeface="Calibri"/>
              </a:rPr>
              <a:t>Everything else is either saturated, already published (He 2022 meat quintuplex), or not yet feasible.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0BD"/>
                </a:solidFill>
                <a:latin typeface="Calibri"/>
              </a:rPr>
              <a:t>Companion: REPORT.md — full analysis, 10-idea funnel, all 15-point project specs, ≈60 verification-tagged 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