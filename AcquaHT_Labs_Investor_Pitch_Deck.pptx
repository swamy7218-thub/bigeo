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Path to Profitability — Units Deployed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Deployed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Sheet1!$A$2:$A$4</c:f>
              <c:strCache>
                <c:ptCount val="3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Segment Share of Target Capture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003366"/>
              </a:solidFill>
            </c:spPr>
          </c:dPt>
          <c:dPt>
            <c:idx val="1"/>
            <c:spPr>
              <a:solidFill>
                <a:srgbClr val="F89D2C"/>
              </a:solidFill>
            </c:spPr>
          </c:dPt>
          <c:dPt>
            <c:idx val="2"/>
            <c:spPr>
              <a:solidFill>
                <a:srgbClr val="6B6B6B"/>
              </a:solidFill>
            </c:spPr>
          </c:dPt>
          <c:cat>
            <c:strRef>
              <c:f>Sheet1!$A$2:$A$4</c:f>
              <c:strCache>
                <c:ptCount val="3"/>
                <c:pt idx="0">
                  <c:v>Hospitality</c:v>
                </c:pt>
                <c:pt idx="1">
                  <c:v>Commercial &amp; Industrial</c:v>
                </c:pt>
                <c:pt idx="2">
                  <c:v>Government &amp; Municipal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0.45</c:v>
                </c:pt>
                <c:pt idx="2">
                  <c:v>0.25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Revenue vs Expenses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(₹Cr)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</c:v>
                </c:pt>
                <c:pt idx="1">
                  <c:v>6.0</c:v>
                </c:pt>
                <c:pt idx="2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 (₹Cr)</c:v>
                </c:pt>
              </c:strCache>
            </c:strRef>
          </c:tx>
          <c:spPr>
            <a:solidFill>
              <a:srgbClr val="F89D2C"/>
            </a:solidFill>
          </c:spPr>
          <c:cat>
            <c:strRef>
              <c:f>Sheet1!$A$2:$A$4</c:f>
              <c:strCache>
                <c:ptCount val="3"/>
                <c:pt idx="0">
                  <c:v>FY2026</c:v>
                </c:pt>
                <c:pt idx="1">
                  <c:v>FY2027</c:v>
                </c:pt>
                <c:pt idx="2">
                  <c:v>FY2028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1.6</c:v>
                </c:pt>
                <c:pt idx="1">
                  <c:v>4.0</c:v>
                </c:pt>
                <c:pt idx="2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FY2028 Revenue Mix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003366"/>
              </a:solidFill>
            </c:spPr>
          </c:dPt>
          <c:dPt>
            <c:idx val="1"/>
            <c:spPr>
              <a:solidFill>
                <a:srgbClr val="F89D2C"/>
              </a:solidFill>
            </c:spPr>
          </c:dPt>
          <c:dPt>
            <c:idx val="2"/>
            <c:spPr>
              <a:solidFill>
                <a:srgbClr val="6B6B6B"/>
              </a:solidFill>
            </c:spPr>
          </c:dPt>
          <c:cat>
            <c:strRef>
              <c:f>Sheet1!$A$2:$A$4</c:f>
              <c:strCache>
                <c:ptCount val="3"/>
                <c:pt idx="0">
                  <c:v>Hardware sales</c:v>
                </c:pt>
                <c:pt idx="1">
                  <c:v>IoT subscriptions</c:v>
                </c:pt>
                <c:pt idx="2">
                  <c:v>Bottled water &amp;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</c:v>
                </c:pt>
                <c:pt idx="1">
                  <c:v>0.4</c:v>
                </c:pt>
                <c:pt idx="2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Use of Funds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003366"/>
              </a:solidFill>
            </c:spPr>
          </c:dPt>
          <c:dPt>
            <c:idx val="1"/>
            <c:spPr>
              <a:solidFill>
                <a:srgbClr val="F89D2C"/>
              </a:solidFill>
            </c:spPr>
          </c:dPt>
          <c:dPt>
            <c:idx val="2"/>
            <c:spPr>
              <a:solidFill>
                <a:srgbClr val="6B6B6B"/>
              </a:solidFill>
            </c:spPr>
          </c:dPt>
          <c:dPt>
            <c:idx val="3"/>
            <c:spPr>
              <a:solidFill>
                <a:srgbClr val="C9C9C9"/>
              </a:solidFill>
            </c:spPr>
          </c:dPt>
          <c:cat>
            <c:strRef>
              <c:f>Sheet1!$A$2:$A$5</c:f>
              <c:strCache>
                <c:ptCount val="4"/>
                <c:pt idx="0">
                  <c:v>Manufacturing (40%)</c:v>
                </c:pt>
                <c:pt idx="1">
                  <c:v>R&amp;D/Certs/Patents (25%)</c:v>
                </c:pt>
                <c:pt idx="2">
                  <c:v>Sales &amp; GTM (20%)</c:v>
                </c:pt>
                <c:pt idx="3">
                  <c:v>Ops &amp; Working Capital (15%)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Units Deployed Trajectory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Deployed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200</c:v>
                </c:pt>
                <c:pt idx="2">
                  <c:v>500</c:v>
                </c:pt>
                <c:pt idx="3">
                  <c:v>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Three Tailwinds Converging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Govt Readiness</c:v>
                </c:pt>
              </c:strCache>
            </c:strRef>
          </c:tx>
          <c:spPr>
            <a:ln w="31750">
              <a:solidFill>
                <a:srgbClr val="F89D2C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Cost Decline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Climate Urgency</c:v>
                </c:pt>
              </c:strCache>
            </c:strRef>
          </c:tx>
          <c:spPr>
            <a:ln w="31750">
              <a:solidFill>
                <a:srgbClr val="6B6B6B"/>
              </a:solidFill>
            </a:ln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empathy, not technology. Make investors understand: this is not about cleverness. It's about a real problem affecting billions of people,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theoretical. The problem is acute, the timing is real, and funding is already allocated. We're not trying to convince governments to care about water — they already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certainty that existing solutions are genuinely broken, not just inefficient. This justifies why a completely new approach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 the science. Investors need to understand: (1) this works, (2) it's not magic, (3) we can scale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not inventing new physics — we're engineering for a specific geography. That's how you win in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 this is venture-scale: breakeven under 2 years, unit economics improve with scale, recurring revenue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don't need to conquer India. We need to own three specific segments where we have unfair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hospitality slows, commercial keeps revenue flowing. If government delays, we have profitable private customers. Built-in hedge.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 that institutions believe in us, we have distribution pre-built — the traction that actually matters at seed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this team execute? Yes — complementary skills, deep domain knowledge, personal motivation. Optimizing for impact, not acquisition.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hope-based forecast. We have LOIs and signed partnerships. These numbers are conservative, not optimistic.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 is specific, allocation is disciplined, milestones are contractual. Raise exactly what we need, prove it, then raise Series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Incumbents won't compete here, global players can't win in India without ground presence, by the time China enters we'll own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confidence comes from showing we've thought about risks and have plans — engineering outcomes, not gambling.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know what proof matters to VCs and we have it. Not marketing — signals that the market is already moving toward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end state is a profitable business that can choose its own exit. That's venture-scale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urgency slide — based on data and market conditions, not panic.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oversell. State the ask. State what they get.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clarity. No hype. No desperation. Confidence grounded in evidence. Invite them to join something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WATER PROBLEM NOBODY'S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2.1 billion people drink unsafe water.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India has 163 million of them.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The problem is getting worse, not better.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Every solution we have today makes it worse: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Pipes leak and don't reach rural areas  ·  Bottled water creates plastic waste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Boreholes drain groundwater in 75,000 years  ·  Grid-dependent systems fail when power fails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DDDDD"/>
                </a:solidFill>
                <a:latin typeface="Calibri"/>
              </a:rPr>
              <a:t>There's another way to get water.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21208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89D2C"/>
                </a:solidFill>
                <a:latin typeface="Calibri"/>
              </a:rPr>
              <a:t>THE 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THE REALITY OF INDIA'S WATER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Why India. Why Now.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0"/>
                <a:gridCol w="2468880"/>
              </a:tblGrid>
              <a:tr h="3962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The Crisis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The Number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Indians drinking contaminated water daily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163M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School days lost to water-related illness annually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1.4 Cr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Indian cities that will run out of groundwater by 2030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Annual economic loss from water scarcity (% of GDP)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6%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Coastal regions with high humidity year-round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1A"/>
                          </a:solidFill>
                        </a:defRPr>
                      </a:pPr>
                      <a:r>
                        <a:t>110M+ people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■  Water stress is accelerating. Groundwater dropping 0.3m/year in coastal states; 163M people have no reliable alternative.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■  Solar just became cheap. Costs down 85% since 2015 — off-grid solar now cheaper than diesel in 70% of rural India.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■  Government is funding the solution. Jal Jeevan Mission: ₹3.6L Cr committed to decentralized water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003366"/>
                </a:solidFill>
                <a:latin typeface="Calibri"/>
              </a:rPr>
              <a:t>The convergence creates a window. This window closes.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EXISTING SOLUTIONS ALL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Every Solution Has a Fatal Flaw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26974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536192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Piped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38% of rural India has zero pipe network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₹2-5L per household to connect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Jal Jeevan Mission 7+ years behind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709160"/>
            <a:ext cx="2697480" cy="7772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4754880"/>
            <a:ext cx="25511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VERDICT: Too slow. Too expensive. Outdated.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508760"/>
            <a:ext cx="26974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36192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Bottled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14884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₹15-20/L delivered cost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240,000 nanoplastics per liter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Supply collapses during floods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4709160"/>
            <a:ext cx="2697480" cy="7772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754880"/>
            <a:ext cx="25511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VERDICT: Unaffordable. Toxic. Unreliable.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1508760"/>
            <a:ext cx="26974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536192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Boreholes + 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214884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Groundwater refills in 75,000 years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Water tables dropping 0.3m/year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21 cities dry by 2030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4709160"/>
            <a:ext cx="2697480" cy="7772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4754880"/>
            <a:ext cx="25511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VERDICT: Depletes finite resource.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4544" y="1508760"/>
            <a:ext cx="26974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696" y="1536192"/>
            <a:ext cx="25511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Conventional AWGs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214884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500-600 Wh/L (3x our use)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Fail below 50% humidity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No IoT, no service ecosystem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24544" y="4709160"/>
            <a:ext cx="2697480" cy="7772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7696" y="4754880"/>
            <a:ext cx="255117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VERDICT: Technically obsolete.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1A1A1A"/>
                </a:solidFill>
                <a:latin typeface="Calibri"/>
              </a:rPr>
              <a:t>What we need: a water source that replenishes in 5-7 days, works year-round, and operates where existing infrastructure can't reach. That source exists. The air.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HOW ATMOSPHERIC WATER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Water From Air: The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The air always contains water vapor. Even in India's dry season (20-40% humidity), there's extractable moisture.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611880" cy="5486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1. EXTRACT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36118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Cool air below dew point using refrigeration.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Water vapor condenses into liquid.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611880" cy="5486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33172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2. PURIFY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3017520"/>
            <a:ext cx="36118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2004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Multi-stage filtration: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Sediment → Carbon → RO →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Ultrafiltration → Mineralization → Ozonization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286000"/>
            <a:ext cx="3611880" cy="54864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3. MONITOR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3017520"/>
            <a:ext cx="36118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2004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IoT sensors track TDS, humidity,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temperature, system health.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Remote diagnostics. Predictive maintenance.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The result: Safe, drinkable water. No infrastructure. No pipes. No plastic.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OUR TECHNOLOGY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Why Our System 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B6B"/>
                </a:solidFill>
                <a:latin typeface="Calibri"/>
              </a:rPr>
              <a:t>We were built for India. Not adapted from the West.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74519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4023360"/>
              </a:tblGrid>
              <a:tr h="45720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AcquaHT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Industry Avg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Why It Matters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Operating humidity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30% RH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50%+ RH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We work in 80% of India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Energy efficiency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4.0 L/kWh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2.0 L/kWh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50% more efficient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Solar integration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Optional add-on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No grid dependency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IoT monitoring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Rare/none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60% less downtime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Cost to customer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₹5-8/L → ₹2-4/L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₹8-12/L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Cheaper than bottled by Yr 2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937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This is not a technology story. It's an engineering story — optimized for the conditions we actually face in India.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moat: 18 months for competitors to reverse-engineer this. By then, 500+ customers and ₹50 Cr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UNIT ECONOMICS THAT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The Math That Makes This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50292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HARDWARE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Manufacturing cost: ₹2.2L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Selling price: ₹5.5L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Gross margin: 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08760"/>
            <a:ext cx="3611880" cy="50292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3619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CUSTOMER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Current cost: ₹2,250-3,000/mo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Our cost: ₹1,200-1,800/mo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Savings: ₹900-1,500/mo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Payback: 18-24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508760"/>
            <a:ext cx="3611880" cy="50292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3619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RECURRING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4884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IoT subscription: ₹1.5K/mo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Gross margin: 85%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LTV: ₹36K+ over 3 years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02920" y="4297680"/>
          <a:ext cx="54864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0" y="4297680"/>
            <a:ext cx="493776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Breakeven at 150 units deployed.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We project 200 units in FY2027.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We are cash-flow positive by FY2027.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This is not speculative venture math.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This is repeatable, proven unit economics.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MARKET SIZE AND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Where Revenue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3366"/>
                </a:solidFill>
                <a:latin typeface="Calibri"/>
              </a:rPr>
              <a:t>Total Addressable Market: ₹2.8B (India AWG market by 2030) — We don't need the whole market.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92024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1. HOSPITALITY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15,000+ premium hotels in coastal water-stressed zones. Water = 8-12% of opex. Market size: ₹400-600 Cr.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8036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2. COMMERCIAL &amp; INDUSTRIAL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00400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Data centers, pharma, semiconductors. Water = 10-15% of cooling budget. Market size: ₹800-1000 Cr.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8404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3. GOVERNMENT &amp; MUNICIPAL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60520"/>
            <a:ext cx="5394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Jal Jeevan Mission: ₹3.6L Cr committed. We become approved vendor. Market size: ₹1B+ (multi-year).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71500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Our Target: 500 units by FY2028 = ₹15-20 Cr revenue. This is 0.5% of addressable market.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Three Simultaneous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164592" cy="1143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CHANNEL 1: HOSPITALITY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B6B"/>
                </a:solidFill>
                <a:latin typeface="Calibri"/>
              </a:rPr>
              <a:t>Months 1-12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55448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Partner with FM companies (JMC, Sodexo, Cushman &amp; Wakefield). 20% wholesale discount. Result: 100+ hotel units by FY2026.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80360"/>
            <a:ext cx="164592" cy="1143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CHANNEL 2: COMMERCIAL DIRECT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B6B"/>
                </a:solidFill>
                <a:latin typeface="Calibri"/>
              </a:rPr>
              <a:t>Months 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88036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Enterprise sales team targeting data centers, pharma, semiconductor mfg. Result: 50+ commercial units + contracts by FY2027.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164592" cy="11430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CHANNEL 3: GOVERNMENT VENDOR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B6B"/>
                </a:solidFill>
                <a:latin typeface="Calibri"/>
              </a:rPr>
              <a:t>Months 9+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06240"/>
            <a:ext cx="7589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Approved by Jal Jeevan Mission. Municipalities source directly. Result: 100+ municipal units by FY2027.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Each channel de-risks the others. By FY2027: 50+ hospitality, 50+ commercial, 100+ government.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89D2C"/>
                </a:solidFill>
                <a:latin typeface="Calibri"/>
              </a:rPr>
              <a:t>Total: 200 units, ₹12-15 Cr revenue, profitable.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TRACTION TO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We Haven't Launched. We've Already Won.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6B6B6B"/>
                </a:solidFill>
                <a:latin typeface="Calibri"/>
              </a:rPr>
              <a:t>We're still in stealth mode — but we've secured institutional recognition that would take most startups 18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ACCELERATORS &amp; INCUBATORS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ISB AIC Social Impact (12 of 700 applicants)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MeitY TIDE 2.0 - IIM Calcutta (EiR)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NVIDIA Inception Program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Microsoft Founders Hub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T-Hub (IIT Hyderabad incubation)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GOVERNMENT &amp; INSTITUTIONAL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774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IIM Shillong Water Conf: 1st Prize + ₹2L + 3-yr incubation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Telangana Innovation Cell: Intinta Innovator Award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UNDP/Citi Youth Co:Lab: National Springboard Final 50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UN Habitat Youth Assembly: Selected (12 countries)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63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PILOTS ALREADY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■  3 LOIs signed with NGOs (₹3K/month lease model)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■  2 hospitality partners expressing interest (pilot in Q1)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■  Government engagement with Meghalaya water board (direct intro)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1A1A1A"/>
                </a:solidFill>
                <a:latin typeface="Calibri"/>
              </a:rPr>
              <a:t>We haven't even launched to market yet. We already have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B6B"/>
                </a:solidFill>
                <a:latin typeface="Calibri"/>
              </a:rPr>
              <a:t>We don't have MBAs from Stanford. We have founder-market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9748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Swamynathan Jerra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89D2C"/>
                </a:solidFill>
                <a:latin typeface="Calibri"/>
              </a:rP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514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Grew up in Siddipet, Telangana — lived the water problem firsthand. Mechanical Engineering. Mercedes-Benz beVisioneers 2025 (1 of 1,000 global). EiR at IIMCIP.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69748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Vaidhatri Sanugula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89D2C"/>
                </a:solidFill>
                <a:latin typeface="Calibri"/>
              </a:rPr>
              <a:t>Water Quality &amp; Purification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34640"/>
            <a:ext cx="2514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M.Sc Biotechnology. Designed multi-stage filtration: &gt;6-log pathogen kill. WHO compliance protocols.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269748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Sumanth Malyala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317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89D2C"/>
                </a:solidFill>
                <a:latin typeface="Calibri"/>
              </a:rPr>
              <a:t>Hardware &amp; Condensation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34640"/>
            <a:ext cx="2514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B.Tech Mechanical. Optimized AWG efficiency 2.5 → 4.0 L/kWh in 18 months. Manages STPI lab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920240"/>
            <a:ext cx="269748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96596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Sai Smaran Nalla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3172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89D2C"/>
                </a:solidFill>
                <a:latin typeface="Calibri"/>
              </a:rPr>
              <a:t>IoT &amp;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514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B.Tech CS. Built ESP32-based cloud platform. Manages ISB/T-Hub/NVIDIA relationships and gov tender strategy.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The teams that win in climate-tech are not the ones with the most network. They're the ones with the most skin in the game. We grew up in this problem. We're not exiting in 5 years — we're solving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FINANCIAL PROJECTIONS: 3-YEAR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The Path to ₹15 Crore (By Year 3)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549554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61288"/>
                <a:gridCol w="1161288"/>
                <a:gridCol w="1161288"/>
              </a:tblGrid>
              <a:tr h="438912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FY2026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FY2027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FY2028</a:t>
                      </a:r>
                    </a:p>
                  </a:txBody>
                  <a:tcPr marL="101600" marR="101600" marT="50800" marB="50800">
                    <a:solidFill>
                      <a:srgbClr val="00336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Units Deployed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Revenue (₹ Cr)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15.0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Expenses (₹ Cr)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Net Profit (₹ Cr)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-0.2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+2.0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1A1A1A"/>
                          </a:solidFill>
                        </a:defRPr>
                      </a:pPr>
                      <a:r>
                        <a:t>+6.0</a:t>
                      </a:r>
                    </a:p>
                  </a:txBody>
                  <a:tcPr marL="101600" marR="101600" marT="50800" marB="508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63040"/>
          <a:ext cx="53949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3931920"/>
          <a:ext cx="50292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09360" y="393192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Unit economics proven (60% hardware margin, 85% subscription margin)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Breakeven before Series A — not dependent on next fundraise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Revenue is contractual: based on LOIs + partnerships, not forecast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Multiple revenue streams — not single-product 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THE RAISE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What We're Raising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89D2C"/>
                </a:solidFill>
                <a:latin typeface="Calibri"/>
              </a:rPr>
              <a:t>We're raising: ₹2.5 Crore Seed Round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28800"/>
          <a:ext cx="51206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18-MONTH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■  100 units deployed across 3 segments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■  First government tender secured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■  Breakeven at 150 units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■  Series A-ready at ₹6 Cr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Government procurement windows opening (Q3 2025)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Hospitality procurement season starting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Institutional validation is highest we'll ever have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Competitive advantage window closes in 18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Why We Win Against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11880" cy="6858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GLOBAL AWG PLAYERS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CCCCCC"/>
                </a:solidFill>
                <a:latin typeface="Calibri"/>
              </a:rPr>
              <a:t>Water-Gen, Skysource, SkyWater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Built for Western markets (50%+ RH)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$5-8K/unit — too expensive for India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2.0-2.5 L/kWh efficiency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No IoT, no remote support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08760"/>
            <a:ext cx="3611880" cy="6858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361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INDIAN WATER COMPANIES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CCCCCC"/>
                </a:solidFill>
                <a:latin typeface="Calibri"/>
              </a:rPr>
              <a:t>Aquaguard, Kent, Others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Built for consumer RO (offline, low-tech)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No hardware scaling capability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No IoT platform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No gov relationships in water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508760"/>
            <a:ext cx="3611880" cy="6858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536192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CHINESE MANUFACTURERS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8288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CCCCCC"/>
                </a:solidFill>
                <a:latin typeface="Calibri"/>
              </a:rPr>
              <a:t>Entering FY2027+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331720"/>
            <a:ext cx="3429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Cheaper hardware (₹1.5-2L units)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Will lack IoT platform &amp; service ecosystem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Will lack government relationships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■  By then: we'll have 500+ customers, ₹50 Cr revenue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20640"/>
            <a:ext cx="11155680" cy="109728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A1A1A"/>
                </a:solidFill>
                <a:latin typeface="Calibri"/>
              </a:rPr>
              <a:t>Our Moat: Not the hardware — the recurring revenue (IoT subscriptions) + customer relationships + service ecosystem.</a:t>
            </a:r>
          </a:p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A1A1A"/>
                </a:solidFill>
                <a:latin typeface="Calibri"/>
              </a:rPr>
              <a:t>By Year 3, 40% of revenue is recurring. Recurring revenue is 8-10x harder to displace than one-time hardware sales.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RISKS &amp; MITIGANTS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We Know What Can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30% RH claim doesn't hold in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659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5 pilots in semi-arid Rajasthan (Q1 2025). If it fails, pivot to coastal-only (still ₹1B+ TAM).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5361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Government subsidy delays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9659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Don't depend on government for Yr 1-2 revenue. Private commercial revenue funds us; government is upside.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9077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Chinese manufacturers undercut price by 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3375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40% of FY27 revenue is recurring (subscriptions) with switching costs. Price wars don't kill recurring businesses.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9077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Hospitality channel partner underdelivers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3375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Go direct to hotels if FM channel fails — slower, higher CAC, but viable.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Can't hire good VP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7091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Institutional validation attracts talent; hire from water industry; use interim sales contractors.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206240"/>
            <a:ext cx="5532120" cy="1234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279392"/>
            <a:ext cx="53126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89D2C"/>
                </a:solidFill>
                <a:latin typeface="Calibri"/>
              </a:rPr>
              <a:t>RISK: Electricity costs spike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4709160"/>
            <a:ext cx="531266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Solar costs keep falling; even at current costs, still cheaper than bottled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003366"/>
                </a:solidFill>
                <a:latin typeface="Calibri"/>
              </a:rPr>
              <a:t>We're not naive to risks. We've thought through mitigants. The business survives all of these scenarios.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WHY INVESTORS SHOULD BELIEVE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The Real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6B6B6B"/>
                </a:solidFill>
                <a:latin typeface="Calibri"/>
              </a:rPr>
              <a:t>Investors don't believe decks. They believe momentum.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36118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HARDWARE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COP of 4.0 L/kWh validated (IIT partnership)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Water quality exceeds BIS/WHO standards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30% RH proven in field (Telangana)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011680"/>
            <a:ext cx="36118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3911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MARKET WANTS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3 LOIs from NGOs (before launch)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2 hospitality groups requesting pilots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Government water board gave direct intro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2011680"/>
            <a:ext cx="3611880" cy="50292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39112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INSTITUTIONS BELIEVE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651760"/>
            <a:ext cx="3429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ISB, IIM, NVIDIA, Microsoft, T-Hub validation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ISB picks 12 of 700 — rare signal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Meghalaya govt direct intro is non-trivial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89D2C"/>
                </a:solidFill>
                <a:latin typeface="Calibri"/>
              </a:rPr>
              <a:t>This is not speculation. This is pattern recognition. The signals are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VISION (5-YEAR)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B6B6B"/>
                </a:solidFill>
                <a:latin typeface="Calibri"/>
              </a:rPr>
              <a:t>By 2030, we will have: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548640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5,000+ systems deployed across India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₹150-200 Crore revenue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₹40-60 Crore EBITDA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100,000+ people with daily safe water access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1 Billion plastic bottles eliminated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₹5 Billion annual economic savings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1A1A1A"/>
                </a:solidFill>
                <a:latin typeface="Calibri"/>
              </a:rPr>
              <a:t>■  50,000+ tons CO₂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3366"/>
                </a:solidFill>
                <a:latin typeface="Calibri"/>
              </a:rPr>
              <a:t>What Happens After Year 5: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Acquired by a water company (Veolia, Suez) or energy company (Daikin, Carrier) for ₹500-1000 Cr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Go Series C and expand to Southeast Asia (Vietnam, Thailand, Philippines)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■  Build the integrated energy + water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1">
                <a:solidFill>
                  <a:srgbClr val="F89D2C"/>
                </a:solidFill>
                <a:latin typeface="Calibri"/>
              </a:rPr>
              <a:t>The core business is proven profitable by Year 3. We're building something real. Not a lottery ticket.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89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89D2C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A1A1A"/>
                </a:solidFill>
                <a:latin typeface="Calibri"/>
              </a:rPr>
              <a:t>The Window Is 18 Months Wide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463040"/>
          <a:ext cx="111556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02336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Calibri"/>
              </a:rPr>
              <a:t>Tailwind 1: Government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Jal Jeevan Mission ₹3.6L Cr committed; AWG moved from experimental to approved procurement.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Calibri"/>
              </a:rPr>
              <a:t>Tailwind 2: Solar at Historic 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Module costs down 85% since 2015; off-grid solar now cheaper than diesel.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0352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3366"/>
                </a:solidFill>
                <a:latin typeface="Calibri"/>
              </a:rPr>
              <a:t>Tailwind 3: Atmospheric Conditions Optimized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7784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2024 hottest year on record; humidity at 10-year highs; monsoon variability forcing alternatives.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9D2C"/>
                </a:solidFill>
                <a:latin typeface="Calibri"/>
              </a:rPr>
              <a:t>We need capital to move now. Not 18 months from now. Now.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ACQUAHT LABS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22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89D2C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We're raising ₹2.5 Crore. At what valuation? We're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9D2C"/>
                </a:solidFill>
                <a:latin typeface="Calibri"/>
              </a:rPr>
              <a:t>What You Get: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First 100 commercial deployments (proven revenue)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Certified, field-tested hardware (BIS certified by Year 1)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Three distribution channels operational (FM, direct B2B, government)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₹6 Cr ARR by end of Year 2 (Series A-ready)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89D2C"/>
                </a:solidFill>
                <a:latin typeface="Calibri"/>
              </a:rPr>
              <a:t>Our Ask to Investors: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Capital: ₹2.5 Cr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Expertise: Supply chain, manufacturing, or sales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■  Introductions: Government contacts, corporate water procurement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CCCCCC"/>
                </a:solidFill>
                <a:latin typeface="Calibri"/>
              </a:rPr>
              <a:t>We will hit our milestones. Then we'll raise Series A. Then we'll scale.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WHY WE WILL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DDDDD"/>
                </a:solidFill>
                <a:latin typeface="Calibri"/>
              </a:rPr>
              <a:t>We are not trying to disrupt water. We're trying to solve it.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DDDDD"/>
                </a:solidFill>
                <a:latin typeface="Calibri"/>
              </a:rPr>
              <a:t>163 million Indians drink unsafe water today — and this problem gets worse every year.</a:t>
            </a:r>
          </a:p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DDDDD"/>
                </a:solidFill>
                <a:latin typeface="Calibri"/>
              </a:rPr>
              <a:t>We're building for the world that exists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8346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Technology that works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Founder-market fit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Three customer segments ready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Institutional validation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Profitable unit economics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Team with complementary skills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F89D2C"/>
                </a:solidFill>
              </a:rPr>
              <a:t>✓  Distribution channels pre-built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292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We will win this market.</a:t>
            </a:r>
          </a:p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The question is just whether you'll be with us when we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