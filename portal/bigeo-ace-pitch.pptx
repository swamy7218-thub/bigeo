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280160"/>
            <a:ext cx="731520" cy="731520"/>
          </a:xfrm>
          <a:prstGeom prst="rect">
            <a:avLst/>
          </a:prstGeom>
          <a:solidFill>
            <a:srgbClr val="FF4000"/>
          </a:solidFill>
          <a:ln w="12700">
            <a:solidFill>
              <a:srgbClr val="FF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5331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A1A1A"/>
                </a:solidFill>
                <a:latin typeface="Calibri"/>
              </a:rPr>
              <a:t>BiGeo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57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4000"/>
                </a:solidFill>
                <a:latin typeface="Calibri"/>
              </a:rPr>
              <a:t>Rural India's Last-Mile 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060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  <a:latin typeface="Calibri"/>
              </a:rPr>
              <a:t>We parse any Indian village address into precision GPS in under 2 seconds —
powering logistics, fintech, and government delivery for 800M+ rural citizens.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1M+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GPS Locations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&lt;2s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Resolution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States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59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Live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Swamy — Founder &amp; CEO   ·   admin@bigeo.in   ·   bigeo.in   ·   ACE $100K Cohort 4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137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572767" cy="274320"/>
          </a:xfrm>
          <a:prstGeom prst="rect">
            <a:avLst/>
          </a:prstGeom>
          <a:solidFill>
            <a:srgbClr val="FFF0EB"/>
          </a:solidFill>
          <a:ln w="12700">
            <a:solidFill>
              <a:srgbClr val="FFC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38988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00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800M Indians Live at Addresses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4000"/>
                </a:solidFill>
                <a:latin typeface="Calibri"/>
              </a:rPr>
              <a:t>That Don't Exist Digitally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3749039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3749039" cy="54864"/>
          </a:xfrm>
          <a:prstGeom prst="rect">
            <a:avLst/>
          </a:prstGeom>
          <a:solidFill>
            <a:srgbClr val="FF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4000"/>
                </a:solidFill>
                <a:latin typeface="Calibri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Calibri"/>
              </a:rPr>
              <a:t>Rural delivery failure rate
vs 8% in metros — mostly
caused by bad addresses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011680"/>
            <a:ext cx="3749039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3749039" cy="54864"/>
          </a:xfrm>
          <a:prstGeom prst="rect">
            <a:avLst/>
          </a:prstGeom>
          <a:solidFill>
            <a:srgbClr val="FF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488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4000"/>
                </a:solidFill>
                <a:latin typeface="Calibri"/>
              </a:rPr>
              <a:t>₹180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834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Calibri"/>
              </a:rPr>
              <a:t>Wasted per failed rural COD
delivery in reverse logistics —
on a ₹400 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011680"/>
            <a:ext cx="3749039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2011680"/>
            <a:ext cx="3749039" cy="54864"/>
          </a:xfrm>
          <a:prstGeom prst="rect">
            <a:avLst/>
          </a:prstGeom>
          <a:solidFill>
            <a:srgbClr val="FF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1488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4000"/>
                </a:solidFill>
                <a:latin typeface="Calibri"/>
              </a:rPr>
              <a:t>800M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8346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Calibri"/>
              </a:rPr>
              <a:t>Rural Indians living in
habitations that exist nowhere
in any digital database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43400"/>
            <a:ext cx="11430000" cy="822960"/>
          </a:xfrm>
          <a:prstGeom prst="rect">
            <a:avLst/>
          </a:prstGeom>
          <a:solidFill>
            <a:srgbClr val="FFF5F2"/>
          </a:solidFill>
          <a:ln w="12700">
            <a:solidFill>
              <a:srgbClr val="FFC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A1A1A"/>
                </a:solidFill>
                <a:latin typeface="Calibri"/>
              </a:rPr>
              <a:t>"Near banyan tree, behind Raju shop, Yellareddyguda, Siddipet" — A real delivery address. Google Maps cannot find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303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Every failed delivery · Every rejected loan · Every undelivered government scheme · Starts here.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137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353312" cy="274320"/>
          </a:xfrm>
          <a:prstGeom prst="rect">
            <a:avLst/>
          </a:prstGeom>
          <a:solidFill>
            <a:srgbClr val="FFF0EB"/>
          </a:solidFill>
          <a:ln w="12700">
            <a:solidFill>
              <a:srgbClr val="FFC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70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000"/>
                </a:solidFill>
                <a:latin typeface="Calibri"/>
              </a:rPr>
              <a:t>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Google Maps, HERE, MapMyIndia — All Fail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11430000" cy="411480"/>
          </a:xfrm>
          <a:prstGeom prst="rect">
            <a:avLst/>
          </a:prstGeom>
          <a:solidFill>
            <a:srgbClr val="F6F6E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63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Calibri"/>
              </a:rP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79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  <a:latin typeface="Calibri"/>
              </a:rPr>
              <a:t>Urban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  <a:latin typeface="Calibri"/>
              </a:rPr>
              <a:t>Rural Structured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59" y="146304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  <a:latin typeface="Calibri"/>
              </a:rPr>
              <a:t>Rural Unstructured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1463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  <a:latin typeface="Calibri"/>
              </a:rPr>
              <a:t>API-Ready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74519"/>
            <a:ext cx="11430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65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Google 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1965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965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1965960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19659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24327"/>
            <a:ext cx="11430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71576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HERE Maps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79" y="27157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7157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2715768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7157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74135"/>
            <a:ext cx="11430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465575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MapMyIndia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79" y="3465575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465575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⚠️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59" y="3465575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465575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⚠️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23944"/>
            <a:ext cx="11430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215383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India 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79" y="4215383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215383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59" y="4215383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215383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873752"/>
            <a:ext cx="11430000" cy="685800"/>
          </a:xfrm>
          <a:prstGeom prst="rect">
            <a:avLst/>
          </a:prstGeom>
          <a:solidFill>
            <a:srgbClr val="FFF0EB"/>
          </a:solidFill>
          <a:ln w="12700">
            <a:solidFill>
              <a:srgbClr val="FF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96519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000"/>
                </a:solidFill>
                <a:latin typeface="Calibri"/>
              </a:rPr>
              <a:t>BiGeo VAAHAN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97479" y="49651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49651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59" y="4965192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49651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000"/>
                </a:solidFill>
                <a:latin typeface="Calibri"/>
              </a:rPr>
              <a:t>Nobody has cracked Tier 3/4 rural addresses at API quality. Until BiGeo.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137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682495" cy="274320"/>
          </a:xfrm>
          <a:prstGeom prst="rect">
            <a:avLst/>
          </a:prstGeom>
          <a:solidFill>
            <a:srgbClr val="FFF0EB"/>
          </a:solidFill>
          <a:ln w="12700">
            <a:solidFill>
              <a:srgbClr val="FFC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4996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000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BiGeo VAAHAN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Send us any Indian address. Get back GPS + structured data in under 2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502920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EC8F4"/>
                </a:solidFill>
                <a:latin typeface="Calibri"/>
              </a:rPr>
              <a:t>POST  /parse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{
  "address": "Near banyan tree,
   Yellareddyguda,
   Siddipet, Telangana"
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566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400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737360"/>
            <a:ext cx="5212080" cy="4389120"/>
          </a:xfrm>
          <a:prstGeom prst="rect">
            <a:avLst/>
          </a:prstGeom>
          <a:solidFill>
            <a:srgbClr val="111827"/>
          </a:solidFill>
          <a:ln w="12700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CA3AF"/>
                </a:solidFill>
                <a:latin typeface="Calibri"/>
              </a:rPr>
              <a:t>RESPONSE   &lt;2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402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{
  "village":    "Yellareddyguda",
  "mandal":     "Siddipet",
  "district":   "Siddipet",
  "state":      "Telangana",
  "pincode":    "502103",
  "lat":         18.10344,
  "lng":         78.84707,
  "confidence":  0.95
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137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463040" cy="274320"/>
          </a:xfrm>
          <a:prstGeom prst="rect">
            <a:avLst/>
          </a:prstGeom>
          <a:solidFill>
            <a:srgbClr val="FFF0EB"/>
          </a:solidFill>
          <a:ln w="12700">
            <a:solidFill>
              <a:srgbClr val="FFC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000"/>
                </a:solidFill>
                <a:latin typeface="Calibr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4-Layer AI Resolution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600200"/>
            <a:ext cx="548640" cy="548640"/>
          </a:xfrm>
          <a:prstGeom prst="rect">
            <a:avLst/>
          </a:prstGeom>
          <a:solidFill>
            <a:srgbClr val="FF4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286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Knowledge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7432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Vector search: 1M+ PMGSY
habitations + India Post
in AWS Bedrock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651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000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630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0520" y="1600200"/>
            <a:ext cx="548640" cy="548640"/>
          </a:xfrm>
          <a:prstGeom prst="rect">
            <a:avLst/>
          </a:prstGeom>
          <a:solidFill>
            <a:srgbClr val="FF4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286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LLM Disambiguation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7432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Claude Sonnet reads address
in context, ranks candidates,
resolves ambiguity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651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000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14630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79" y="1600200"/>
            <a:ext cx="548640" cy="548640"/>
          </a:xfrm>
          <a:prstGeom prst="rect">
            <a:avLst/>
          </a:prstGeom>
          <a:solidFill>
            <a:srgbClr val="FF4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199" y="2286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GPS Enrichment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27432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HERE Maps validates.
19,559 pincode centroids
as guaranteed fallback.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651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400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19" y="146304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21240" y="1600200"/>
            <a:ext cx="548640" cy="548640"/>
          </a:xfrm>
          <a:prstGeom prst="rect">
            <a:avLst/>
          </a:prstGeom>
          <a:solidFill>
            <a:srgbClr val="FF4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59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59" y="22860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1A"/>
                </a:solidFill>
                <a:latin typeface="Calibri"/>
              </a:rPr>
              <a:t>Structured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59" y="27432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6B6B"/>
                </a:solidFill>
                <a:latin typeface="Calibri"/>
              </a:rPr>
              <a:t>village · mandal · district
state · pincode · lat
lng · confidence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23360" y="4937760"/>
            <a:ext cx="4114800" cy="594360"/>
          </a:xfrm>
          <a:prstGeom prst="rect">
            <a:avLst/>
          </a:prstGeom>
          <a:solidFill>
            <a:srgbClr val="FF40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501091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⚡  &lt;2 seconds end-to-end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137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011679" cy="274320"/>
          </a:xfrm>
          <a:prstGeom prst="rect">
            <a:avLst/>
          </a:prstGeom>
          <a:solidFill>
            <a:srgbClr val="FFF0EB"/>
          </a:solidFill>
          <a:ln w="12700">
            <a:solidFill>
              <a:srgbClr val="FFC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82879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000"/>
                </a:solidFill>
                <a:latin typeface="Calibri"/>
              </a:rPr>
              <a:t>3 LIVE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One Rural Intelligence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749039" cy="4572000"/>
          </a:xfrm>
          <a:prstGeom prst="rect">
            <a:avLst/>
          </a:prstGeom>
          <a:solidFill>
            <a:srgbClr val="F6F6E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749039" cy="64008"/>
          </a:xfrm>
          <a:prstGeom prst="rect">
            <a:avLst/>
          </a:prstGeom>
          <a:solidFill>
            <a:srgbClr val="FF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731520" cy="256032"/>
          </a:xfrm>
          <a:prstGeom prst="rect">
            <a:avLst/>
          </a:prstGeom>
          <a:solidFill>
            <a:srgbClr val="E8F5E8"/>
          </a:solidFill>
          <a:ln w="12700">
            <a:solidFill>
              <a:srgbClr val="2D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733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D7A2D"/>
                </a:solidFill>
                <a:latin typeface="Calibri"/>
              </a:rPr>
              <a:t>●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299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VAAHAN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000"/>
                </a:solidFill>
                <a:latin typeface="Calibri"/>
              </a:rPr>
              <a:t>POST /parse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260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Any Indian address → GPS in &lt;2s.
1M+ locations, 36 states.
500 free calls/month. Production SLA.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3749039" cy="4572000"/>
          </a:xfrm>
          <a:prstGeom prst="rect">
            <a:avLst/>
          </a:prstGeom>
          <a:solidFill>
            <a:srgbClr val="F6F6E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3749039" cy="64008"/>
          </a:xfrm>
          <a:prstGeom prst="rect">
            <a:avLst/>
          </a:prstGeom>
          <a:solidFill>
            <a:srgbClr val="FF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45920"/>
            <a:ext cx="731520" cy="256032"/>
          </a:xfrm>
          <a:prstGeom prst="rect">
            <a:avLst/>
          </a:prstGeom>
          <a:solidFill>
            <a:srgbClr val="E8F5E8"/>
          </a:solidFill>
          <a:ln w="12700">
            <a:solidFill>
              <a:srgbClr val="2D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6733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D7A2D"/>
                </a:solidFill>
                <a:latin typeface="Calibri"/>
              </a:rPr>
              <a:t>●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0299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Route 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514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66CC"/>
                </a:solidFill>
                <a:latin typeface="Calibri"/>
              </a:rPr>
              <a:t>POST /route/optimize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9260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150 delivery stops → optimal vehicle
routes in &lt;5s. VRP solver +
HERE Maps road matrix.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749039" cy="4572000"/>
          </a:xfrm>
          <a:prstGeom prst="rect">
            <a:avLst/>
          </a:prstGeom>
          <a:solidFill>
            <a:srgbClr val="F6F6E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463040"/>
            <a:ext cx="3749039" cy="64008"/>
          </a:xfrm>
          <a:prstGeom prst="rect">
            <a:avLst/>
          </a:prstGeom>
          <a:solidFill>
            <a:srgbClr val="FF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760" y="1645920"/>
            <a:ext cx="731520" cy="256032"/>
          </a:xfrm>
          <a:prstGeom prst="rect">
            <a:avLst/>
          </a:prstGeom>
          <a:solidFill>
            <a:srgbClr val="E8F5E8"/>
          </a:solidFill>
          <a:ln w="12700">
            <a:solidFill>
              <a:srgbClr val="2D7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67335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D7A2D"/>
                </a:solidFill>
                <a:latin typeface="Calibri"/>
              </a:rPr>
              <a:t>●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0299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Calibri"/>
              </a:rPr>
              <a:t>Setu — Village Pickup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5146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7A2D"/>
                </a:solidFill>
                <a:latin typeface="Calibri"/>
              </a:rPr>
              <a:t>POST /setu/book-pickup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9260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Village address → Shiprocket courier
→ AWB tracking. Delhivery, DTDC,
Shadowfax, India Post.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137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353312" cy="274320"/>
          </a:xfrm>
          <a:prstGeom prst="rect">
            <a:avLst/>
          </a:prstGeom>
          <a:solidFill>
            <a:srgbClr val="FFF0EB"/>
          </a:solidFill>
          <a:ln w="12700">
            <a:solidFill>
              <a:srgbClr val="FFC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70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000"/>
                </a:solidFill>
                <a:latin typeface="Calibri"/>
              </a:rPr>
              <a:t>DATA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The Data Nobody Assembled Before Us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6304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600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000"/>
                </a:solidFill>
                <a:latin typeface="Calibri"/>
              </a:rPr>
              <a:t>815K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2128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PMGSY GeoSadak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63347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Rural habitation GPS
from Govt of India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46304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600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000"/>
                </a:solidFill>
                <a:latin typeface="Calibri"/>
              </a:rPr>
              <a:t>649K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2128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LGD Villages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3347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All 36 states + UTs
completely indexed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79" y="146304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19" y="1600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000"/>
                </a:solidFill>
                <a:latin typeface="Calibri"/>
              </a:rPr>
              <a:t>165K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19" y="22128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India Post Offices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19" y="263347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Post offices with
verified lat/lon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199" y="146304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600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000"/>
                </a:solidFill>
                <a:latin typeface="Calibri"/>
              </a:rPr>
              <a:t>19,559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2128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Pincode Index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63347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DynamoDB — GPS
centriods, live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46919" y="1463040"/>
            <a:ext cx="21945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59" y="16002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4000"/>
                </a:solidFill>
                <a:latin typeface="Calibri"/>
              </a:rPr>
              <a:t>1M+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59" y="22128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AWS Bedrock KB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8359" y="2633472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Vector-indexed,
semantic &lt;500ms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892040"/>
            <a:ext cx="11430000" cy="640080"/>
          </a:xfrm>
          <a:prstGeom prst="rect">
            <a:avLst/>
          </a:prstGeom>
          <a:solidFill>
            <a:srgbClr val="FFF0EB"/>
          </a:solidFill>
          <a:ln w="12700">
            <a:solidFill>
              <a:srgbClr val="FFC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000"/>
                </a:solidFill>
                <a:latin typeface="Calibri"/>
              </a:rPr>
              <a:t>5 government datasets  ·  3 months of ETL  ·  Not downloadable from anywhere  ·  Replication takes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137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2340864" cy="274320"/>
          </a:xfrm>
          <a:prstGeom prst="rect">
            <a:avLst/>
          </a:prstGeom>
          <a:solidFill>
            <a:srgbClr val="FFF0EB"/>
          </a:solidFill>
          <a:ln w="12700">
            <a:solidFill>
              <a:srgbClr val="FFC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215798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000"/>
                </a:solidFill>
                <a:latin typeface="Calibri"/>
              </a:rPr>
              <a:t>MARKET &amp;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alibri"/>
              </a:rPr>
              <a:t>3 Paying Verticals, One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749039" cy="3200400"/>
          </a:xfrm>
          <a:prstGeom prst="rect">
            <a:avLst/>
          </a:prstGeom>
          <a:solidFill>
            <a:srgbClr val="F6F6E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64008" cy="3200400"/>
          </a:xfrm>
          <a:prstGeom prst="rect">
            <a:avLst/>
          </a:prstGeom>
          <a:solidFill>
            <a:srgbClr val="FF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000"/>
                </a:solidFill>
                <a:latin typeface="Calibri"/>
              </a:rPr>
              <a:t>E-Commerce &amp; Logistics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Reduce 30% rural RTO to &lt;10%.
₹180 saved per delivery.
Immediate P&amp;L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Delhivery · Shadowfax · Meesho · ONDC merchants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749039" cy="3200400"/>
          </a:xfrm>
          <a:prstGeom prst="rect">
            <a:avLst/>
          </a:prstGeom>
          <a:solidFill>
            <a:srgbClr val="F6F6E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63040"/>
            <a:ext cx="64008" cy="3200400"/>
          </a:xfrm>
          <a:prstGeom prst="rect">
            <a:avLst/>
          </a:prstGeom>
          <a:solidFill>
            <a:srgbClr val="FF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6CC"/>
                </a:solidFill>
                <a:latin typeface="Calibri"/>
              </a:rPr>
              <a:t>Rural Fintech &amp; Banking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574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GPS-verified KYC, loan disbursement,
insurance claim address validation.
RBI-compliant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Aye Finance · Spice Money · Avail Finance · Rural MFIs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749039" cy="3200400"/>
          </a:xfrm>
          <a:prstGeom prst="rect">
            <a:avLst/>
          </a:prstGeom>
          <a:solidFill>
            <a:srgbClr val="F6F6E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64008" cy="3200400"/>
          </a:xfrm>
          <a:prstGeom prst="rect">
            <a:avLst/>
          </a:prstGeom>
          <a:solidFill>
            <a:srgbClr val="FF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554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7A2D"/>
                </a:solidFill>
                <a:latin typeface="Calibri"/>
              </a:rPr>
              <a:t>Government &amp; Public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574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Geocode beneficiaries for PM-KISAN,
PM Awas Yojana, ration cards
across 36 states.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291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State NIC offices · CSC centres · eGovernance vendors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892040"/>
            <a:ext cx="3749039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983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Calibri"/>
              </a:rPr>
              <a:t>₹2,800 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864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Annual rural reverse
logistics waste (COD 2025)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892040"/>
            <a:ext cx="3749039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983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Calibri"/>
              </a:rPr>
              <a:t>$1.89B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4864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India Location-Based
Services Market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4892040"/>
            <a:ext cx="3749039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983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1A"/>
                </a:solidFill>
                <a:latin typeface="Calibri"/>
              </a:rPr>
              <a:t>ONDC Mandate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54864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Address resolution becoming
a compliance requirement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137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243584" cy="274320"/>
          </a:xfrm>
          <a:prstGeom prst="rect">
            <a:avLst/>
          </a:prstGeom>
          <a:solidFill>
            <a:srgbClr val="FFF0EB"/>
          </a:solidFill>
          <a:ln w="12700">
            <a:solidFill>
              <a:srgbClr val="FFC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6070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000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3 Weeks In — Here's Where We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7A2D"/>
                </a:solidFill>
                <a:latin typeface="Calibri"/>
              </a:rPr>
              <a:t>✓ 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✅  VAAHAN API live on AWS ap-south-1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414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✅  Bulk endpoint: 1,000 addresses/request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169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✅  Route Optimizer + Setu — 3 live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924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✅  649K villages + 1M+ GPS points loaded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679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✅  API key registration + email provisioning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✅  bigeo.in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188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✅  5 warm conversations — logistics/fintech ops leads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9437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✅  ₹4.75L raised — MeitY Genesis (IIM Udaipur) + IIT Hyderabad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698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✅  $10,000 AWS credits 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557784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000"/>
                </a:solidFill>
                <a:latin typeface="Calibri"/>
              </a:rPr>
              <a:t>→  NEXT 60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65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→  10,000 failed-delivery pilot with logistics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414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→  First paying customer (₹2–5/call, 1M+ calls/month)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16936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→  India Address Graph deployed to production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92424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→  DPIIT Startup Recognition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6791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→  NVIDIA Inception Application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43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→  Google Maps GPS activation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137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33856" cy="274320"/>
          </a:xfrm>
          <a:prstGeom prst="rect">
            <a:avLst/>
          </a:prstGeom>
          <a:solidFill>
            <a:srgbClr val="FFF0EB"/>
          </a:solidFill>
          <a:ln w="12700">
            <a:solidFill>
              <a:srgbClr val="FFC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4000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1A"/>
                </a:solidFill>
                <a:latin typeface="Calibri"/>
              </a:rPr>
              <a:t>We're Raising Pre-Seed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4000"/>
                </a:solidFill>
                <a:latin typeface="Calibri"/>
              </a:rPr>
              <a:t>₹1–2 Crore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3749039" cy="2011680"/>
          </a:xfrm>
          <a:prstGeom prst="rect">
            <a:avLst/>
          </a:prstGeom>
          <a:solidFill>
            <a:srgbClr val="F6F6E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Calibri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Expand KB to 5M locations.
State polygon shapefiles.
Full PMGSY habitation CSV load.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286000"/>
            <a:ext cx="3749039" cy="2011680"/>
          </a:xfrm>
          <a:prstGeom prst="rect">
            <a:avLst/>
          </a:prstGeom>
          <a:solidFill>
            <a:srgbClr val="F6F6E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377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Calibri"/>
              </a:rPr>
              <a:t>GTM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7432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Pilot 3 logistics companies.
Convert 1 to paid contract.
First ₹10L ARR.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2286000"/>
            <a:ext cx="3749039" cy="2011680"/>
          </a:xfrm>
          <a:prstGeom prst="rect">
            <a:avLst/>
          </a:prstGeom>
          <a:solidFill>
            <a:srgbClr val="F6F6EF"/>
          </a:solidFill>
          <a:ln w="12700">
            <a:solidFill>
              <a:srgbClr val="E0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377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B"/>
                </a:solidFill>
                <a:latin typeface="Calibri"/>
              </a:rP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First hire: backend engineer
(ETL + API). Scale data
pipeline and throughput.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80560"/>
            <a:ext cx="11430000" cy="1097280"/>
          </a:xfrm>
          <a:prstGeom prst="rect">
            <a:avLst/>
          </a:prstGeom>
          <a:solidFill>
            <a:srgbClr val="FFF0EB"/>
          </a:solidFill>
          <a:ln w="12700">
            <a:solidFill>
              <a:srgbClr val="FFC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Why ACE? BiGeo is a deeptech infrastructure play — not a SaaS app. We need operator mentorship + enterprise
introductions in logistics and fintech. Varun's AI research depth + Shubham's YC experience is exactly the
table we want to be at. Help us close our first ₹10L ARR customer.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715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6B6B"/>
                </a:solidFill>
                <a:latin typeface="Calibri"/>
              </a:rPr>
              <a:t>Swamy  ·  admin@bigeo.in  ·  bigeo.in  ·  Live API: demo-public-readonly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1371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