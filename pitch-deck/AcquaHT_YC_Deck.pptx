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00" b="0" i="0" u="none" strike="noStrike">
                <a:solidFill>
                  <a:srgbClr val="62808D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62808D"/>
                </a:solidFill>
                <a:latin typeface="Calibri"/>
              </a:rPr>
              <a:t>What our own 200 LPD unit actually makes (litres/day)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Output (LPD)</c:v>
                </c:pt>
              </c:strCache>
            </c:strRef>
          </c:tx>
          <c:spPr>
            <a:solidFill>
              <a:srgbClr val="3AD1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EEF6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D1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A24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6D6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80% humidity</c:v>
                  </c:pt>
                  <c:pt idx="1">
                    <c:v>60% humidity</c:v>
                  </c:pt>
                  <c:pt idx="2">
                    <c:v>30% humidity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221.7</c:v>
                </c:pt>
                <c:pt idx="1">
                  <c:v>120.2</c:v>
                </c:pt>
                <c:pt idx="2">
                  <c:v>56.1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EEF6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9CB2B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00" b="0" i="0" u="none" strike="noStrike">
                <a:solidFill>
                  <a:srgbClr val="62808D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62808D"/>
                </a:solidFill>
                <a:latin typeface="Calibri"/>
              </a:rPr>
              <a:t>Where the cooling energy actually goes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Condenses water</c:v>
                </c:pt>
              </c:strCache>
            </c:strRef>
          </c:tx>
          <c:spPr>
            <a:solidFill>
              <a:srgbClr val="3AD1D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A1622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80% humidity</c:v>
                  </c:pt>
                  <c:pt idx="1">
                    <c:v>60% humidity</c:v>
                  </c:pt>
                  <c:pt idx="2">
                    <c:v>30% humidity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</c:v>
                </c:pt>
                <c:pt idx="1">
                  <c:v>57</c:v>
                </c:pt>
                <c:pt idx="2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Cools air we throw away</c:v>
                </c:pt>
              </c:strCache>
            </c:strRef>
          </c:tx>
          <c:spPr>
            <a:solidFill>
              <a:srgbClr val="F26D6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A1622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80% humidity</c:v>
                  </c:pt>
                  <c:pt idx="1">
                    <c:v>60% humidity</c:v>
                  </c:pt>
                  <c:pt idx="2">
                    <c:v>30% humidity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43</c:v>
                </c:pt>
                <c:pt idx="2">
                  <c:v>75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A1622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B2B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CB2B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/ year</c:v>
                </c:pt>
              </c:strCache>
            </c:strRef>
          </c:tx>
          <c:spPr>
            <a:solidFill>
              <a:srgbClr val="1E8D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EF6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8D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D1D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D1D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D1D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45</c:v>
                </c:pt>
                <c:pt idx="2">
                  <c:v>120</c:v>
                </c:pt>
                <c:pt idx="3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EEF6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9CB2B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we make drinking water from air, and we work in dry air where competitors can't. [Best slide for a real product/pilot hero photo — drop it into the right-hand circle.]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water-from-air machine cools air until water drops out. That works in humid air. As air dries, you must cool far more air for the same water — output collapses and the power cost per litre explodes.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industry quietly hides from dry air. Nobody publishes performance below 80% humidity because that's the only place the math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1.29 kW of high-grade heat comes off 147 kg/h of R407C cooled from 80°C to 45°C, out of 8.92 kW total condenser rejection. We were dumping heat that's exactly hot enough to regenerate a desiccant.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desiccant stage is the part we are raising to build and prove. 93 LPD / 1.43 L/kWh at 30% RH is the design target, up from 56 LPD / 0.86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— regeneration on the compressor's own waste heat — is the novel part and the part this round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in motion (signed / in discussion): MoU with Bala Vikasa for rural distribution; AIC AKASH Cohort 5, IIIT Hyderabad for hospital introductions; PIER71 Singapore via T-Hub in discussion. Kept off the hero slide to keep it to three big proofs.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wedge: we don't ask customers to believe in water-from-air. We sell them something they already buy (dehumidification), and the water is upside.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payback matrix (bottled water ~4 mo, tanker/jar water longer, or sold purely as a dehumidifier with water free) is in the appendix. Price ₹3.75L is not yet confirmed — flagged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not a fake ₹X-billion TAM. The 75 sites are named and reachable. The larger dry-climate site count is still [DATA NEEDED] — kept honest, in the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spec comparison table (Maithri vs AcquaHT, and the imported players) is in the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defensibility is being first into a segment nobody else even measures, with cost and distribution relationships already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bottom-up from unit counts, not a smooth growth curve. FY26 is actual (1 unit); FY27–29 are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Founder's district-government background is the unfair advantage for deploying in Telangana. [Swap the 'SJ' circle for a real founder photo.]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$250k ≈ ₹2.2 Cr, split across the four workstreams. Certification body/date is still [DATA NEEDED].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industry-wide vision, then the modest, credible first step. [Add founder contact / email here before sending.]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trust-builder in diligence: the founder pre-empts 'which of these have you actually measured?'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Leading with your own risk list is disarming in a Demo Day setting and signals a founder who won't surprise investors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0C1E2C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1828800"/>
            <a:ext cx="1920240" cy="1920240"/>
          </a:xfrm>
          <a:prstGeom prst="ellipse">
            <a:avLst/>
          </a:prstGeom>
          <a:solidFill>
            <a:srgbClr val="102838"/>
          </a:solidFill>
          <a:ln w="12700">
            <a:solidFill>
              <a:srgbClr val="1E8D9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487168"/>
            <a:ext cx="1005840" cy="1005840"/>
          </a:xfrm>
          <a:prstGeom prst="ellipse">
            <a:avLst/>
          </a:prstGeom>
          <a:solidFill>
            <a:srgbClr val="3AD1DB"/>
          </a:solidFill>
          <a:ln/>
        </p:spPr>
      </p:sp>
      <p:sp>
        <p:nvSpPr>
          <p:cNvPr id="5" name="Shape 3"/>
          <p:cNvSpPr/>
          <p:nvPr/>
        </p:nvSpPr>
        <p:spPr>
          <a:xfrm>
            <a:off x="9857232" y="1993392"/>
            <a:ext cx="585216" cy="658368"/>
          </a:xfrm>
          <a:prstGeom prst="triangle">
            <a:avLst/>
          </a:prstGeom>
          <a:solidFill>
            <a:srgbClr val="3AD1DB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1600200"/>
            <a:ext cx="109728" cy="109728"/>
          </a:xfrm>
          <a:prstGeom prst="ellipse">
            <a:avLst/>
          </a:prstGeom>
          <a:solidFill>
            <a:srgbClr val="1E8D9C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1737360"/>
            <a:ext cx="109728" cy="109728"/>
          </a:xfrm>
          <a:prstGeom prst="ellipse">
            <a:avLst/>
          </a:prstGeom>
          <a:solidFill>
            <a:srgbClr val="1E8D9C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566160"/>
            <a:ext cx="109728" cy="109728"/>
          </a:xfrm>
          <a:prstGeom prst="ellipse">
            <a:avLst/>
          </a:prstGeom>
          <a:solidFill>
            <a:srgbClr val="1E8D9C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0" y="3291840"/>
            <a:ext cx="109728" cy="109728"/>
          </a:xfrm>
          <a:prstGeom prst="ellipse">
            <a:avLst/>
          </a:prstGeom>
          <a:solidFill>
            <a:srgbClr val="1E8D9C"/>
          </a:solidFill>
          <a:ln/>
        </p:spPr>
      </p:sp>
      <p:sp>
        <p:nvSpPr>
          <p:cNvPr id="10" name="Shape 8"/>
          <p:cNvSpPr/>
          <p:nvPr/>
        </p:nvSpPr>
        <p:spPr>
          <a:xfrm>
            <a:off x="9052560" y="4023360"/>
            <a:ext cx="109728" cy="109728"/>
          </a:xfrm>
          <a:prstGeom prst="ellipse">
            <a:avLst/>
          </a:prstGeom>
          <a:solidFill>
            <a:srgbClr val="1E8D9C"/>
          </a:solidFill>
          <a:ln/>
        </p:spPr>
      </p:sp>
      <p:sp>
        <p:nvSpPr>
          <p:cNvPr id="11" name="Shape 9"/>
          <p:cNvSpPr/>
          <p:nvPr/>
        </p:nvSpPr>
        <p:spPr>
          <a:xfrm>
            <a:off x="11109960" y="4114800"/>
            <a:ext cx="109728" cy="109728"/>
          </a:xfrm>
          <a:prstGeom prst="ellipse">
            <a:avLst/>
          </a:prstGeom>
          <a:solidFill>
            <a:srgbClr val="1E8D9C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2651760"/>
            <a:ext cx="109728" cy="109728"/>
          </a:xfrm>
          <a:prstGeom prst="ellipse">
            <a:avLst/>
          </a:prstGeom>
          <a:solidFill>
            <a:srgbClr val="1E8D9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 LABS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0574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from air.</a:t>
            </a:r>
            <a:endParaRPr lang="en-US" sz="60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in </a:t>
            </a:r>
            <a:pPr algn="l"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</a:t>
            </a:r>
            <a:pPr algn="l"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air.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34340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pull drinking water out of thin air — and keep working where every other machine gives up: dry, inland heat.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1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Hyderabad, India      ·      Founded November 2023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dry air, the same machine makes </a:t>
            </a:r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less water</a:t>
            </a:r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machine. Same power bill. A quarter of the water.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880360"/>
          <a:ext cx="69494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880360"/>
            <a:ext cx="3749040" cy="3246120"/>
          </a:xfrm>
          <a:prstGeom prst="roundRect">
            <a:avLst>
              <a:gd name="adj" fmla="val 2535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COST PER LITRE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humidity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92124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C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₹2.35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995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humidity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921240" y="39959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9C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₹4.32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44714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humidity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921240" y="44714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2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₹9.30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092440" y="5074920"/>
            <a:ext cx="3200400" cy="0"/>
          </a:xfrm>
          <a:prstGeom prst="line">
            <a:avLst/>
          </a:prstGeom>
          <a:noFill/>
          <a:ln w="12700">
            <a:solidFill>
              <a:srgbClr val="233B4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52120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30% humidity, the electricity alone costs more per litre than bottled water in most Indian cities.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68512" y="502920"/>
            <a:ext cx="2871216" cy="256032"/>
          </a:xfrm>
          <a:prstGeom prst="roundRect">
            <a:avLst>
              <a:gd name="adj" fmla="val 17857"/>
            </a:avLst>
          </a:prstGeom>
          <a:solidFill>
            <a:srgbClr val="102838"/>
          </a:solidFill>
          <a:ln w="9525">
            <a:solidFill>
              <a:srgbClr val="6280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68512" y="50292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· PSYCHROMETRIC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HARD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dry air, most of the power cools air we just throw away.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2468880"/>
          <a:ext cx="7040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25603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2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76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397764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energy is wasted at 30% humidity — spent cooling dry air that carries almost no water, then dumping it.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818120" y="5074920"/>
            <a:ext cx="3703320" cy="0"/>
          </a:xfrm>
          <a:prstGeom prst="line">
            <a:avLst/>
          </a:prstGeom>
          <a:noFill/>
          <a:ln w="12700">
            <a:solidFill>
              <a:srgbClr val="233B4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52120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of every refrigeration machine on the market. That's why every spec sheet — ours once included — is rated at 80% humidity.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was already inside the machine.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desiccant — think of a </a:t>
            </a:r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3A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sponge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grabs water from air at room temperature. Heat dries it out again. And the heat is </a:t>
            </a:r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there</a:t>
            </a:r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our own compressor throws it away.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2926080" cy="1600200"/>
          </a:xfrm>
          <a:prstGeom prst="roundRect">
            <a:avLst>
              <a:gd name="adj" fmla="val 5143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2644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</a:t>
            </a:r>
            <a:endParaRPr lang="en-US" sz="1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gas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~80°C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0" y="3858768"/>
            <a:ext cx="777240" cy="0"/>
          </a:xfrm>
          <a:prstGeom prst="line">
            <a:avLst/>
          </a:prstGeom>
          <a:noFill/>
          <a:ln w="28575">
            <a:solidFill>
              <a:srgbClr val="D97F2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26280" y="3063240"/>
            <a:ext cx="2926080" cy="1600200"/>
          </a:xfrm>
          <a:prstGeom prst="roundRect">
            <a:avLst>
              <a:gd name="adj" fmla="val 5143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32644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Cooled to</a:t>
            </a:r>
            <a:endParaRPr lang="en-US" sz="1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condensing temp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931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C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45°C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7543800" y="3858768"/>
            <a:ext cx="777240" cy="0"/>
          </a:xfrm>
          <a:prstGeom prst="line">
            <a:avLst/>
          </a:prstGeom>
          <a:noFill/>
          <a:ln w="28575">
            <a:solidFill>
              <a:srgbClr val="D97F2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12480" y="3063240"/>
            <a:ext cx="3154680" cy="1600200"/>
          </a:xfrm>
          <a:prstGeom prst="roundRect">
            <a:avLst>
              <a:gd name="adj" fmla="val 5143"/>
            </a:avLst>
          </a:prstGeom>
          <a:solidFill>
            <a:srgbClr val="16334A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3063240"/>
            <a:ext cx="3154680" cy="1600200"/>
          </a:xfrm>
          <a:prstGeom prst="roundRect">
            <a:avLst>
              <a:gd name="adj" fmla="val 5143"/>
            </a:avLst>
          </a:prstGeom>
          <a:ln w="19050">
            <a:solidFill>
              <a:srgbClr val="FFA2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13648" y="3264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free heat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13648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1.29 kW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927080" cy="1051560"/>
          </a:xfrm>
          <a:prstGeom prst="roundRect">
            <a:avLst>
              <a:gd name="adj" fmla="val 7826"/>
            </a:avLst>
          </a:prstGeom>
          <a:solidFill>
            <a:srgbClr val="0C1E2C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5230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first — the gap is cost, not physics.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 harvesters (Berkeley, Water Harvesting Inc.) and salt-in-matrix composites already exist. None are built at Indian cost. None run on a compressor's own waste heat. That's the gap we build into.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sponge grabs the water. </a:t>
            </a:r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waste heat wrings it out.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257800" cy="3246120"/>
          </a:xfrm>
          <a:prstGeom prst="roundRect">
            <a:avLst>
              <a:gd name="adj" fmla="val 2535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POWER, MORE WATER — AT 30% HUMIDITY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204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9C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709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LPD today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4114800"/>
            <a:ext cx="914400" cy="0"/>
          </a:xfrm>
          <a:prstGeom prst="line">
            <a:avLst/>
          </a:prstGeom>
          <a:noFill/>
          <a:ln w="28575">
            <a:solidFill>
              <a:srgbClr val="3AD1DB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703320" y="35204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LPD with the sponge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5257800"/>
            <a:ext cx="4709160" cy="0"/>
          </a:xfrm>
          <a:prstGeom prst="line">
            <a:avLst/>
          </a:prstGeom>
          <a:noFill/>
          <a:ln w="12700">
            <a:solidFill>
              <a:srgbClr val="233B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5394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 more water — no extra electricity.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29184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machine: a desiccant captures moisture straight from dry air, and the compressor's own waste heat releases it — so the fridge only has to condense a small, very wet stream instead of a mountain of dry air.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52120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attacks the exact condition — dry air — where today's machines struggle most.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69096" y="502920"/>
            <a:ext cx="2770632" cy="256032"/>
          </a:xfrm>
          <a:prstGeom prst="roundRect">
            <a:avLst>
              <a:gd name="adj" fmla="val 17857"/>
            </a:avLst>
          </a:prstGeom>
          <a:solidFill>
            <a:srgbClr val="102838"/>
          </a:solidFill>
          <a:ln w="9525">
            <a:solidFill>
              <a:srgbClr val="FFA2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69096" y="50292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· NOT YET BUILT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51760"/>
            <a:ext cx="777240" cy="777240"/>
          </a:xfrm>
          <a:prstGeom prst="ellipse">
            <a:avLst/>
          </a:prstGeom>
          <a:solidFill>
            <a:srgbClr val="0C1E2C"/>
          </a:solidFill>
          <a:ln w="19050">
            <a:solidFill>
              <a:srgbClr val="3AD1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576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sponge grabs it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4348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desiccant bed pulls water vapour straight out of dry air — at room temperature, no chilling.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87368" y="3035808"/>
            <a:ext cx="283464" cy="0"/>
          </a:xfrm>
          <a:prstGeom prst="line">
            <a:avLst/>
          </a:prstGeom>
          <a:noFill/>
          <a:ln w="25400">
            <a:solidFill>
              <a:srgbClr val="62808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9120" y="228600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651760"/>
            <a:ext cx="777240" cy="777240"/>
          </a:xfrm>
          <a:prstGeom prst="ellipse">
            <a:avLst/>
          </a:prstGeom>
          <a:solidFill>
            <a:srgbClr val="0C1E2C"/>
          </a:solidFill>
          <a:ln w="19050">
            <a:solidFill>
              <a:srgbClr val="FFA2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6576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heat lets it go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44348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compressor's free 1.29 kW of heat dries the sponge, releasing a small, very wet stream.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36408" y="3035808"/>
            <a:ext cx="283464" cy="0"/>
          </a:xfrm>
          <a:prstGeom prst="line">
            <a:avLst/>
          </a:prstGeom>
          <a:noFill/>
          <a:ln w="25400">
            <a:solidFill>
              <a:srgbClr val="62808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38160" y="228600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2651760"/>
            <a:ext cx="777240" cy="777240"/>
          </a:xfrm>
          <a:prstGeom prst="ellipse">
            <a:avLst/>
          </a:prstGeom>
          <a:solidFill>
            <a:srgbClr val="0C1E2C"/>
          </a:solidFill>
          <a:ln w="19050">
            <a:solidFill>
              <a:srgbClr val="3AD1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58200" y="2651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6576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fridge makes water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4348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refrigeration condenses that rich stream into clean drinking water.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does step 3 only — and cools a mountain of dry air to get there. Steps 1 and 2 are what change the economics.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machines. Real water. First customer signed.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 L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74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water produced in the field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 pilots in Telangana — tested to WHO &amp; BIS IS 10500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4736592"/>
            <a:ext cx="1060704" cy="256032"/>
          </a:xfrm>
          <a:prstGeom prst="roundRect">
            <a:avLst>
              <a:gd name="adj" fmla="val 17857"/>
            </a:avLst>
          </a:prstGeom>
          <a:solidFill>
            <a:srgbClr val="102838"/>
          </a:solidFill>
          <a:ln w="9525">
            <a:solidFill>
              <a:srgbClr val="3AD1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73659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3A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43400" y="205740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3774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58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₹25.9L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474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raised, non-dilutive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1605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Ventures · MeitY TIDE 2.0 · IIM Shillong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17720" y="4736592"/>
            <a:ext cx="1060704" cy="256032"/>
          </a:xfrm>
          <a:prstGeom prst="roundRect">
            <a:avLst>
              <a:gd name="adj" fmla="val 17857"/>
            </a:avLst>
          </a:prstGeom>
          <a:solidFill>
            <a:srgbClr val="102838"/>
          </a:solidFill>
          <a:ln w="9525">
            <a:solidFill>
              <a:srgbClr val="58D6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473659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58D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46720" y="205740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3774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₹75,000</a:t>
            </a:r>
            <a:endParaRPr lang="en-US" sz="5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474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paying customer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1605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food-processing company — bought for dehumidification, May 2026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21040" y="4736592"/>
            <a:ext cx="859536" cy="256032"/>
          </a:xfrm>
          <a:prstGeom prst="roundRect">
            <a:avLst>
              <a:gd name="adj" fmla="val 17857"/>
            </a:avLst>
          </a:prstGeom>
          <a:solidFill>
            <a:srgbClr val="102838"/>
          </a:solidFill>
          <a:ln w="9525">
            <a:solidFill>
              <a:srgbClr val="FFA2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473659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5440680"/>
            <a:ext cx="10927080" cy="777240"/>
          </a:xfrm>
          <a:prstGeom prst="roundRect">
            <a:avLst>
              <a:gd name="adj" fmla="val 10588"/>
            </a:avLst>
          </a:prstGeom>
          <a:solidFill>
            <a:srgbClr val="0C1E2C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5650992"/>
            <a:ext cx="347472" cy="347472"/>
          </a:xfrm>
          <a:prstGeom prst="ellipse">
            <a:avLst/>
          </a:prstGeom>
          <a:solidFill>
            <a:srgbClr val="FFA24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5632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440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gap:  </a:t>
            </a:r>
            <a:pPr algn="l" indent="0" marL="0">
              <a:buNone/>
            </a:pPr>
            <a:r>
              <a:rPr lang="en-US" sz="14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sorbent has run in our machine yet. The dry-air upgrade is exactly what this round funds.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sell dehumidification. The water comes free.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already pay every month to dry their air. Our machine does that — and hands them drinking water on top.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246120" cy="2788920"/>
          </a:xfrm>
          <a:prstGeom prst="roundRect">
            <a:avLst>
              <a:gd name="adj" fmla="val 2951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ALREADY PAY FOR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Drying the air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line item they already budget for.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77640" y="4229100"/>
            <a:ext cx="777240" cy="0"/>
          </a:xfrm>
          <a:prstGeom prst="line">
            <a:avLst/>
          </a:prstGeom>
          <a:noFill/>
          <a:ln w="28575">
            <a:solidFill>
              <a:srgbClr val="3AD1D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2834640"/>
            <a:ext cx="3246120" cy="2788920"/>
          </a:xfrm>
          <a:prstGeom prst="roundRect">
            <a:avLst>
              <a:gd name="adj" fmla="val 2951"/>
            </a:avLst>
          </a:prstGeom>
          <a:solidFill>
            <a:srgbClr val="16334A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834640"/>
            <a:ext cx="3246120" cy="2788920"/>
          </a:xfrm>
          <a:prstGeom prst="roundRect">
            <a:avLst>
              <a:gd name="adj" fmla="val 2951"/>
            </a:avLst>
          </a:prstGeom>
          <a:ln w="19050">
            <a:solidFill>
              <a:srgbClr val="3AD1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US THEY GET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3611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air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 free drinking water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4800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box. Better economics than a water-only machine in dry air.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2834640"/>
            <a:ext cx="3246120" cy="2788920"/>
          </a:xfrm>
          <a:prstGeom prst="roundRect">
            <a:avLst>
              <a:gd name="adj" fmla="val 2951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4964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BUYERS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566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Dry-climate factories, food processing &amp; cold storage.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4800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run in exactly the dry, inland heat where we're strongest.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for ₹1.78L. </a:t>
            </a:r>
            <a:pPr algn="l" indent="0" marL="0">
              <a:buNone/>
            </a:pPr>
            <a:r>
              <a:rPr lang="en-US" sz="33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for ₹3.75L.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6791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BUILD ONE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089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C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₹1,78,000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60704" cy="256032"/>
          </a:xfrm>
          <a:prstGeom prst="roundRect">
            <a:avLst>
              <a:gd name="adj" fmla="val 17857"/>
            </a:avLst>
          </a:prstGeom>
          <a:solidFill>
            <a:srgbClr val="102838"/>
          </a:solidFill>
          <a:ln w="9525">
            <a:solidFill>
              <a:srgbClr val="6280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11480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43400" y="242316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6791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PRICE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1089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₹3,75,000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617720" y="4114800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102838"/>
          </a:solidFill>
          <a:ln w="9525">
            <a:solidFill>
              <a:srgbClr val="FFA2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4114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· CONFIRM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46720" y="242316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6334A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423160"/>
            <a:ext cx="3520440" cy="2148840"/>
          </a:xfrm>
          <a:prstGeom prst="roundRect">
            <a:avLst>
              <a:gd name="adj" fmla="val 3830"/>
            </a:avLst>
          </a:prstGeom>
          <a:ln w="19050">
            <a:solidFill>
              <a:srgbClr val="58D6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6791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/ UNIT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8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₹1,97,000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8321040" y="411480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02838"/>
          </a:solidFill>
          <a:ln w="9525">
            <a:solidFill>
              <a:srgbClr val="58D6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4114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58D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 MARGIN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475488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RECURRING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257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₹2,500 / month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5394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per unit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47548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0C1E2C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8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months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48920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payback when the water replaces branded bottled water, at 150 usable litres a day.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sites we can name and reach — today.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top-down guess. A bottom-up count across three beachheads — each reachable through a relationship we already have.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743200" cy="1417320"/>
          </a:xfrm>
          <a:prstGeom prst="roundRect">
            <a:avLst>
              <a:gd name="adj" fmla="val 5806"/>
            </a:avLst>
          </a:prstGeom>
          <a:solidFill>
            <a:srgbClr val="16334A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926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₹2.81 Cr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· 75 units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2743200" cy="1417320"/>
          </a:xfrm>
          <a:prstGeom prst="roundRect">
            <a:avLst>
              <a:gd name="adj" fmla="val 5806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480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8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₹22.5L / yr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166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at full deployment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2697480"/>
            <a:ext cx="7955280" cy="868680"/>
          </a:xfrm>
          <a:prstGeom prst="roundRect">
            <a:avLst>
              <a:gd name="adj" fmla="val 9474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2916936"/>
            <a:ext cx="438912" cy="438912"/>
          </a:xfrm>
          <a:prstGeom prst="ellipse">
            <a:avLst/>
          </a:prstGeom>
          <a:solidFill>
            <a:srgbClr val="0C1E2C"/>
          </a:solidFill>
          <a:ln w="15875">
            <a:solidFill>
              <a:srgbClr val="3AD1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2916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82549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processing &amp; cold storage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1821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— direct relationships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11880" y="3703320"/>
            <a:ext cx="7955280" cy="868680"/>
          </a:xfrm>
          <a:prstGeom prst="roundRect">
            <a:avLst>
              <a:gd name="adj" fmla="val 9474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3922776"/>
            <a:ext cx="438912" cy="438912"/>
          </a:xfrm>
          <a:prstGeom prst="ellipse">
            <a:avLst/>
          </a:prstGeom>
          <a:solidFill>
            <a:srgbClr val="0C1E2C"/>
          </a:solidFill>
          <a:ln w="15875">
            <a:solidFill>
              <a:srgbClr val="3AD1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3922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8313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Coastal, high-humidity sites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4187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works well today; water pays back in months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11880" y="4709160"/>
            <a:ext cx="7955280" cy="868680"/>
          </a:xfrm>
          <a:prstGeom prst="roundRect">
            <a:avLst>
              <a:gd name="adj" fmla="val 9474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4928616"/>
            <a:ext cx="438912" cy="438912"/>
          </a:xfrm>
          <a:prstGeom prst="ellipse">
            <a:avLst/>
          </a:prstGeom>
          <a:solidFill>
            <a:srgbClr val="0C1E2C"/>
          </a:solidFill>
          <a:ln w="15875">
            <a:solidFill>
              <a:srgbClr val="3AD1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0" y="4928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83717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 Vikasa villages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51937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through the signed MoU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FF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that:  </a:t>
            </a:r>
            <a:pPr algn="l" indent="0" marL="0">
              <a:buNone/>
            </a:pPr>
            <a:r>
              <a:rPr lang="en-US" sz="1300" i="1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dry-air stage is proven, the same economics reach every dry, inland industrial site priced out of water-from-air today.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the only ones who even measure dry air.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 rates their machines at 80% humidity — and stops there.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535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ELSE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83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Rated only at 80% humidity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776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Maithri, Watergen, SkyWater — most imported and priced in dollars. None publish what happens in dry air, because it isn't good.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80760" y="269748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16334A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2697480"/>
            <a:ext cx="5486400" cy="2148840"/>
          </a:xfrm>
          <a:prstGeom prst="roundRect">
            <a:avLst>
              <a:gd name="adj" fmla="val 3830"/>
            </a:avLst>
          </a:prstGeom>
          <a:ln w="19050">
            <a:solidFill>
              <a:srgbClr val="3AD1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9535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383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publish 30% humidity — and build for it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41788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already beat Hyderabad incumbent Maithri's premium unit on efficiency — 3.41 vs 3.13 L/kWh — at their own best condition, before the dry-air upgrade.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927080" cy="1051560"/>
          </a:xfrm>
          <a:prstGeom prst="roundRect">
            <a:avLst>
              <a:gd name="adj" fmla="val 7826"/>
            </a:avLst>
          </a:prstGeom>
          <a:solidFill>
            <a:srgbClr val="0C1E2C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competitor is the water tanker.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Tankers and bottled water are what our customers use before they buy any machine. We beat the tanker on cost in dry air — that's the fight that matters.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HARD TO COPY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isn't the physics. It's doing it at Indian cost.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3AD1D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200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sponge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31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research partnership with Prof. Soumyajit Roy, IISER Kolkata (FRSC, 100+ papers) — sorbent access competitors don't have.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93008" y="224028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67328" y="2560320"/>
            <a:ext cx="457200" cy="457200"/>
          </a:xfrm>
          <a:prstGeom prst="ellipse">
            <a:avLst/>
          </a:prstGeom>
          <a:solidFill>
            <a:srgbClr val="FFA2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67328" y="3200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heat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3931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the desiccant on the compressor's own waste heat — nobody else does. No external heater to pay for.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45936" y="224028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0256" y="2560320"/>
            <a:ext cx="457200" cy="457200"/>
          </a:xfrm>
          <a:prstGeom prst="ellipse">
            <a:avLst/>
          </a:prstGeom>
          <a:solidFill>
            <a:srgbClr val="3AD1D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0256" y="3200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cost, this early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620256" y="3931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itemized ₹1.78L build cost via our RYLT partnership — most seed hardware startups can't quote theirs yet.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98864" y="2240280"/>
            <a:ext cx="2651760" cy="2834640"/>
          </a:xfrm>
          <a:prstGeom prst="roundRect">
            <a:avLst>
              <a:gd name="adj" fmla="val 3103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73184" y="2560320"/>
            <a:ext cx="457200" cy="457200"/>
          </a:xfrm>
          <a:prstGeom prst="ellipse">
            <a:avLst/>
          </a:prstGeom>
          <a:solidFill>
            <a:srgbClr val="58D6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73184" y="3200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to measure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473184" y="3931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maker publishing performance below 80% humidity — the exact segment everyone else's spec sheet hides.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FF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gap:  </a:t>
            </a:r>
            <a:pPr algn="l" indent="0" marL="0">
              <a:buNone/>
            </a:pPr>
            <a:r>
              <a:rPr lang="en-US" sz="1300" i="1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patents filed yet. Today the moat is partnerships, real cost data, and being first to measure — not IP.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machine today. 250 a year by FY29.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2194560"/>
          <a:ext cx="7040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514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8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₹0.75L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65276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081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3081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₹1.69 Cr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0652760" y="3081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36484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3648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₹4.50 Cr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0652760" y="36484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42153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32520" y="4215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₹9.38 Cr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0652760" y="42153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72400" y="4828032"/>
            <a:ext cx="3794760" cy="0"/>
          </a:xfrm>
          <a:prstGeom prst="line">
            <a:avLst/>
          </a:prstGeom>
          <a:noFill/>
          <a:ln w="12700">
            <a:solidFill>
              <a:srgbClr val="233B4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0" y="4937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D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at ~90 units.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5532120"/>
            <a:ext cx="10927080" cy="777240"/>
          </a:xfrm>
          <a:prstGeom prst="roundRect">
            <a:avLst>
              <a:gd name="adj" fmla="val 10588"/>
            </a:avLst>
          </a:prstGeom>
          <a:solidFill>
            <a:srgbClr val="0C1E2C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A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round: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dry-air unit + 10/month capacity + certification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A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FY27: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into the 3 beachheads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A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FY28: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A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FY29: </a:t>
            </a:r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+ international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9372600" y="502920"/>
            <a:ext cx="2167128" cy="256032"/>
          </a:xfrm>
          <a:prstGeom prst="roundRect">
            <a:avLst>
              <a:gd name="adj" fmla="val 17857"/>
            </a:avLst>
          </a:prstGeom>
          <a:solidFill>
            <a:srgbClr val="102838"/>
          </a:solidFill>
          <a:ln w="9525">
            <a:solidFill>
              <a:srgbClr val="62808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72600" y="50292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FY27–FY29 PROJECTED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 ran innovation policy for the exact district these machines are built for.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852160" cy="3200400"/>
          </a:xfrm>
          <a:prstGeom prst="roundRect">
            <a:avLst>
              <a:gd name="adj" fmla="val 2571"/>
            </a:avLst>
          </a:prstGeom>
          <a:solidFill>
            <a:srgbClr val="16334A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1234440" cy="1234440"/>
          </a:xfrm>
          <a:prstGeom prst="ellipse">
            <a:avLst/>
          </a:prstGeom>
          <a:solidFill>
            <a:srgbClr val="0C1E2C"/>
          </a:solidFill>
          <a:ln w="19050">
            <a:solidFill>
              <a:srgbClr val="3AD1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5176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697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Swamynathan Jerra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3182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100% ownership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06908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engineer from Siddipet, Telangana.</a:t>
            </a:r>
            <a:endParaRPr lang="en-US" sz="14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 beVisioneers Fellow, 2025.</a:t>
            </a:r>
            <a:endParaRPr lang="en-US" sz="14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District Innovation Coordinator for Siddipet, under the Telangana Chief Secretary's office — the district our first pilots run 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2331720"/>
            <a:ext cx="4846320" cy="3200400"/>
          </a:xfrm>
          <a:prstGeom prst="roundRect">
            <a:avLst>
              <a:gd name="adj" fmla="val 2571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2560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 &amp; MANUFACTURING PARTNER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3090672"/>
            <a:ext cx="146304" cy="146304"/>
          </a:xfrm>
          <a:prstGeom prst="ellipse">
            <a:avLst/>
          </a:prstGeom>
          <a:solidFill>
            <a:srgbClr val="3AD1D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29626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Soumyajit Roy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IISER Kolkata — sorbent materials, FRSC, 100+ papers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3803904"/>
            <a:ext cx="146304" cy="146304"/>
          </a:xfrm>
          <a:prstGeom prst="ellipse">
            <a:avLst/>
          </a:prstGeom>
          <a:solidFill>
            <a:srgbClr val="3AD1D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69480" y="3675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Vijender Mogili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4005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 Vikasa — rural distribution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4517136"/>
            <a:ext cx="146304" cy="146304"/>
          </a:xfrm>
          <a:prstGeom prst="ellipse">
            <a:avLst/>
          </a:prstGeom>
          <a:solidFill>
            <a:srgbClr val="3AD1D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69480" y="4389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RYLT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4718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Refrigeration engineering &amp; manufacturing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staff (water quality, hardware, monitoring) work part-time — no equity, not co-founders.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raising </a:t>
            </a:r>
            <a:pPr algn="l" indent="0" marL="0">
              <a:buNone/>
            </a:pPr>
            <a:r>
              <a:rPr lang="en-US" sz="4000" b="1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$250,000</a:t>
            </a:r>
            <a:pPr algn="l" indent="0" marL="0">
              <a:buNone/>
            </a:pPr>
            <a:r>
              <a:rPr lang="en-US" sz="40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Non-dilutive. 24 months of runway to a proven dry-air machine.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51760" cy="2514600"/>
          </a:xfrm>
          <a:prstGeom prst="roundRect">
            <a:avLst>
              <a:gd name="adj" fmla="val 3273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88036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6118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Sorbent development &amp; testing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423367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sponge running at 30% humidity — target 93 LPD.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3008" y="2606040"/>
            <a:ext cx="2651760" cy="2514600"/>
          </a:xfrm>
          <a:prstGeom prst="roundRect">
            <a:avLst>
              <a:gd name="adj" fmla="val 3273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288036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6118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Waste-heat regeneration loop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423367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1.29 kW off the compressor — no external heater.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45936" y="2606040"/>
            <a:ext cx="2651760" cy="2514600"/>
          </a:xfrm>
          <a:prstGeom prst="roundRect">
            <a:avLst>
              <a:gd name="adj" fmla="val 3273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01968" y="288036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$62.5k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36118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&amp; certification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423367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units/month with RYLT; drive build cost below ₹1.5L.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98864" y="2606040"/>
            <a:ext cx="2651760" cy="2514600"/>
          </a:xfrm>
          <a:prstGeom prst="roundRect">
            <a:avLst>
              <a:gd name="adj" fmla="val 3273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54896" y="288036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8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$37.5k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454896" y="36118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operations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454896" y="4233672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75 paid units in the field — ₹2.81 Cr in revenue.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10927080" cy="822960"/>
          </a:xfrm>
          <a:prstGeom prst="roundRect">
            <a:avLst>
              <a:gd name="adj" fmla="val 10000"/>
            </a:avLst>
          </a:prstGeom>
          <a:solidFill>
            <a:srgbClr val="0C1E2C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raise unlocks when:   </a:t>
            </a:r>
            <a:pPr algn="l" indent="0" marL="0">
              <a:buNone/>
            </a:pPr>
            <a:r>
              <a:rPr lang="en-US" sz="135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LPD at 30% humidity in the field   ·   75 customers paid in full   ·   unit cost under ₹1.5L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4846320"/>
            <a:ext cx="2011680" cy="2011680"/>
          </a:xfrm>
          <a:prstGeom prst="ellipse">
            <a:avLst/>
          </a:prstGeom>
          <a:solidFill>
            <a:srgbClr val="0C1E2C"/>
          </a:solidFill>
          <a:ln/>
        </p:spPr>
      </p:sp>
      <p:sp>
        <p:nvSpPr>
          <p:cNvPr id="3" name="Shape 1"/>
          <p:cNvSpPr/>
          <p:nvPr/>
        </p:nvSpPr>
        <p:spPr>
          <a:xfrm>
            <a:off x="10652760" y="5349240"/>
            <a:ext cx="1005840" cy="1005840"/>
          </a:xfrm>
          <a:prstGeom prst="ellipse">
            <a:avLst/>
          </a:prstGeom>
          <a:solidFill>
            <a:srgbClr val="1E8D9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9692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industry hides from dry air.</a:t>
            </a:r>
            <a:endParaRPr lang="en-US" sz="4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building the fix.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177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compressor's own waste heat fixes dry-air economics for us, it fixes them for every refrigeration machine in the world. It starts with 75 machines in Telangana. It doesn't end there.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1250" spc="1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pPr algn="l" indent="0" marL="0">
              <a:buNone/>
            </a:pPr>
            <a:r>
              <a:rPr lang="en-US" sz="1250" spc="1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     Hyderabad, India      ·      Founded 2023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detail behind the story — evidence table, full economics, competition specs, go-to-market, and open questions.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24688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23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WHAT'S PROVEN VS PROJECTED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in this deck, labelled honestly.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724912" cy="4343400"/>
          </a:xfrm>
          <a:prstGeom prst="roundRect">
            <a:avLst>
              <a:gd name="adj" fmla="val 3020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38528"/>
            <a:ext cx="2359152" cy="365760"/>
          </a:xfrm>
          <a:prstGeom prst="roundRect">
            <a:avLst>
              <a:gd name="adj" fmla="val 12500"/>
            </a:avLst>
          </a:prstGeom>
          <a:solidFill>
            <a:srgbClr val="0C1E2C"/>
          </a:solidFill>
          <a:ln w="12700">
            <a:solidFill>
              <a:srgbClr val="58D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385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58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04088" y="2569464"/>
            <a:ext cx="91440" cy="91440"/>
          </a:xfrm>
          <a:prstGeom prst="ellipse">
            <a:avLst/>
          </a:prstGeom>
          <a:solidFill>
            <a:srgbClr val="58D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86968" y="24688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₹1,78,000 unit build cost (BOM)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04088" y="3282696"/>
            <a:ext cx="91440" cy="91440"/>
          </a:xfrm>
          <a:prstGeom prst="ellipse">
            <a:avLst/>
          </a:prstGeom>
          <a:solidFill>
            <a:srgbClr val="58D6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" y="318211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Emerson CR30K7ME compressor: 6.89 kW, COP 3.39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" y="3995928"/>
            <a:ext cx="91440" cy="91440"/>
          </a:xfrm>
          <a:prstGeom prst="ellipse">
            <a:avLst/>
          </a:prstGeom>
          <a:solidFill>
            <a:srgbClr val="58D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6968" y="3895344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7-row SS304 coil, 20", R407C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" y="4709160"/>
            <a:ext cx="91440" cy="91440"/>
          </a:xfrm>
          <a:prstGeom prst="ellipse">
            <a:avLst/>
          </a:prstGeom>
          <a:solidFill>
            <a:srgbClr val="58D6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" y="4608576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treatment, WHO &amp; BIS IS 10500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" y="5422392"/>
            <a:ext cx="91440" cy="91440"/>
          </a:xfrm>
          <a:prstGeom prst="ellipse">
            <a:avLst/>
          </a:prstGeom>
          <a:solidFill>
            <a:srgbClr val="58D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6968" y="5321808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L produced across 2 field pilots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737360"/>
            <a:ext cx="2724912" cy="4343400"/>
          </a:xfrm>
          <a:prstGeom prst="roundRect">
            <a:avLst>
              <a:gd name="adj" fmla="val 3020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0440" y="1938528"/>
            <a:ext cx="2359152" cy="365760"/>
          </a:xfrm>
          <a:prstGeom prst="roundRect">
            <a:avLst>
              <a:gd name="adj" fmla="val 12500"/>
            </a:avLst>
          </a:prstGeom>
          <a:solidFill>
            <a:srgbClr val="0C1E2C"/>
          </a:solidFill>
          <a:ln w="12700">
            <a:solidFill>
              <a:srgbClr val="3AD1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20440" y="19385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538728" y="2569464"/>
            <a:ext cx="91440" cy="91440"/>
          </a:xfrm>
          <a:prstGeom prst="ellipse">
            <a:avLst/>
          </a:prstGeom>
          <a:solidFill>
            <a:srgbClr val="3AD1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721608" y="24688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221.7 / 120.2 / 56.1 LPD (80/60/30% RH)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38728" y="3282696"/>
            <a:ext cx="91440" cy="91440"/>
          </a:xfrm>
          <a:prstGeom prst="ellipse">
            <a:avLst/>
          </a:prstGeom>
          <a:solidFill>
            <a:srgbClr val="3AD1D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721608" y="318211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kJ/kg water desorption energy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38728" y="3995928"/>
            <a:ext cx="91440" cy="91440"/>
          </a:xfrm>
          <a:prstGeom prst="ellipse">
            <a:avLst/>
          </a:prstGeom>
          <a:solidFill>
            <a:srgbClr val="3AD1D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21608" y="3895344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 kW usable compressor waste heat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38728" y="4709160"/>
            <a:ext cx="91440" cy="91440"/>
          </a:xfrm>
          <a:prstGeom prst="ellipse">
            <a:avLst/>
          </a:prstGeom>
          <a:solidFill>
            <a:srgbClr val="3AD1D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721608" y="4608576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2.71 kW total system draw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1737360"/>
            <a:ext cx="2724912" cy="4343400"/>
          </a:xfrm>
          <a:prstGeom prst="roundRect">
            <a:avLst>
              <a:gd name="adj" fmla="val 3020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1938528"/>
            <a:ext cx="2359152" cy="365760"/>
          </a:xfrm>
          <a:prstGeom prst="roundRect">
            <a:avLst>
              <a:gd name="adj" fmla="val 12500"/>
            </a:avLst>
          </a:prstGeom>
          <a:solidFill>
            <a:srgbClr val="0C1E2C"/>
          </a:solidFill>
          <a:ln w="12700">
            <a:solidFill>
              <a:srgbClr val="FFA24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080" y="19385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73368" y="2569464"/>
            <a:ext cx="91440" cy="91440"/>
          </a:xfrm>
          <a:prstGeom prst="ellipse">
            <a:avLst/>
          </a:prstGeom>
          <a:solidFill>
            <a:srgbClr val="FFA24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56248" y="24688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LPD / 1.43 L/kWh at 30% RH with sponge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73368" y="3282696"/>
            <a:ext cx="91440" cy="91440"/>
          </a:xfrm>
          <a:prstGeom prst="ellipse">
            <a:avLst/>
          </a:prstGeom>
          <a:solidFill>
            <a:srgbClr val="FFA24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56248" y="318211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 output at the same power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73368" y="3995928"/>
            <a:ext cx="91440" cy="91440"/>
          </a:xfrm>
          <a:prstGeom prst="ellipse">
            <a:avLst/>
          </a:prstGeom>
          <a:solidFill>
            <a:srgbClr val="FFA24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56248" y="3895344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under ₹1.5L after DFM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73368" y="4709160"/>
            <a:ext cx="91440" cy="91440"/>
          </a:xfrm>
          <a:prstGeom prst="ellipse">
            <a:avLst/>
          </a:prstGeom>
          <a:solidFill>
            <a:srgbClr val="FFA24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56248" y="4608576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units/month capacity with RYLT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06840" y="1737360"/>
            <a:ext cx="2724912" cy="4343400"/>
          </a:xfrm>
          <a:prstGeom prst="roundRect">
            <a:avLst>
              <a:gd name="adj" fmla="val 3020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89720" y="1938528"/>
            <a:ext cx="2359152" cy="365760"/>
          </a:xfrm>
          <a:prstGeom prst="roundRect">
            <a:avLst>
              <a:gd name="adj" fmla="val 12500"/>
            </a:avLst>
          </a:prstGeom>
          <a:solidFill>
            <a:srgbClr val="0C1E2C"/>
          </a:solidFill>
          <a:ln w="12700">
            <a:solidFill>
              <a:srgbClr val="F26D6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89720" y="19385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F2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208008" y="2569464"/>
            <a:ext cx="91440" cy="91440"/>
          </a:xfrm>
          <a:prstGeom prst="ellipse">
            <a:avLst/>
          </a:prstGeom>
          <a:solidFill>
            <a:srgbClr val="F26D6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390888" y="24688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₹3,75,000 selling price (to confirm)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208008" y="3282696"/>
            <a:ext cx="91440" cy="91440"/>
          </a:xfrm>
          <a:prstGeom prst="ellipse">
            <a:avLst/>
          </a:prstGeom>
          <a:solidFill>
            <a:srgbClr val="F26D6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390888" y="318211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Sorbent 0.8 g/g, ~8 kg bed, 6 cycles/day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208008" y="3995928"/>
            <a:ext cx="91440" cy="91440"/>
          </a:xfrm>
          <a:prstGeom prst="ellipse">
            <a:avLst/>
          </a:prstGeom>
          <a:solidFill>
            <a:srgbClr val="F26D6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390888" y="3895344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dry-climate site count [DATA NEEDED]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Evidence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UNIT ECONOMICS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economics &amp; customer payback.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0" cy="4297680"/>
          </a:xfrm>
          <a:prstGeom prst="roundRect">
            <a:avLst>
              <a:gd name="adj" fmla="val 1915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ECONOMICS, PER UNIT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build (measured)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514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₹1,78,000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090672"/>
            <a:ext cx="4526280" cy="0"/>
          </a:xfrm>
          <a:prstGeom prst="line">
            <a:avLst/>
          </a:prstGeom>
          <a:noFill/>
          <a:ln w="9525">
            <a:solidFill>
              <a:srgbClr val="233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1729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 (assumed)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31729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₹3,75,000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749040"/>
            <a:ext cx="4526280" cy="0"/>
          </a:xfrm>
          <a:prstGeom prst="line">
            <a:avLst/>
          </a:prstGeom>
          <a:noFill/>
          <a:ln w="9525">
            <a:solidFill>
              <a:srgbClr val="233B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83133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/ unit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83133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8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₹1,97,000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407408"/>
            <a:ext cx="4526280" cy="0"/>
          </a:xfrm>
          <a:prstGeom prst="line">
            <a:avLst/>
          </a:prstGeom>
          <a:noFill/>
          <a:ln w="9525">
            <a:solidFill>
              <a:srgbClr val="233B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4897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448970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8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52.5%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065776"/>
            <a:ext cx="4526280" cy="0"/>
          </a:xfrm>
          <a:prstGeom prst="line">
            <a:avLst/>
          </a:prstGeom>
          <a:noFill/>
          <a:ln w="9525">
            <a:solidFill>
              <a:srgbClr val="233B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1480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(recurring)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514807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₹2,500 / mo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897880" y="1783080"/>
            <a:ext cx="5669280" cy="4297680"/>
          </a:xfrm>
          <a:prstGeom prst="roundRect">
            <a:avLst>
              <a:gd name="adj" fmla="val 1915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PAYBACK  ·  AT 150 USABLE LITRES/DAY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560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branded bottled water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/ 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8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months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72200" y="3310128"/>
            <a:ext cx="5303520" cy="0"/>
          </a:xfrm>
          <a:prstGeom prst="line">
            <a:avLst/>
          </a:prstGeom>
          <a:noFill/>
          <a:ln w="9525">
            <a:solidFill>
              <a:srgbClr val="233B4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34015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bulk jar water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7856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 / 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340156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 months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72200" y="4151376"/>
            <a:ext cx="5303520" cy="0"/>
          </a:xfrm>
          <a:prstGeom prst="line">
            <a:avLst/>
          </a:prstGeom>
          <a:noFill/>
          <a:ln w="9525">
            <a:solidFill>
              <a:srgbClr val="233B4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424281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tanker water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46268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₹0.40 / L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424281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6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years, or never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172200" y="4992624"/>
            <a:ext cx="5303520" cy="0"/>
          </a:xfrm>
          <a:prstGeom prst="line">
            <a:avLst/>
          </a:prstGeom>
          <a:noFill/>
          <a:ln w="9525">
            <a:solidFill>
              <a:srgbClr val="233B4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508406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as a dehumidifier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5468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 / mo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326880" y="5084064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is free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Economics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COMPETITION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 specs.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658368"/>
          </a:xfrm>
          <a:prstGeom prst="rect">
            <a:avLst/>
          </a:prstGeom>
          <a:solidFill>
            <a:srgbClr val="0C1E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4297680" cy="658368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8745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8745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18745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L/kWh @ 80% RH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10881360" cy="0"/>
          </a:xfrm>
          <a:prstGeom prst="line">
            <a:avLst/>
          </a:prstGeom>
          <a:noFill/>
          <a:ln w="9525">
            <a:solidFill>
              <a:srgbClr val="233B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32888"/>
            <a:ext cx="4297680" cy="658368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Maithri MEGHDOOT Premium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5328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LPD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5328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kW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25328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191256"/>
            <a:ext cx="10881360" cy="0"/>
          </a:xfrm>
          <a:prstGeom prst="line">
            <a:avLst/>
          </a:prstGeom>
          <a:noFill/>
          <a:ln w="9525">
            <a:solidFill>
              <a:srgbClr val="233B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191256"/>
            <a:ext cx="10881360" cy="658368"/>
          </a:xfrm>
          <a:prstGeom prst="rect">
            <a:avLst/>
          </a:prstGeom>
          <a:solidFill>
            <a:srgbClr val="163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191256"/>
            <a:ext cx="4297680" cy="658368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 200 LPD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19125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221.7 LPD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912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2.71 kW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31912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3849624"/>
            <a:ext cx="10881360" cy="0"/>
          </a:xfrm>
          <a:prstGeom prst="line">
            <a:avLst/>
          </a:prstGeom>
          <a:noFill/>
          <a:ln w="9525">
            <a:solidFill>
              <a:srgbClr val="233B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E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AcquaHT's 200 LPD unit is already more efficient than Maithri's premium model at 80% humidity — before the dry-air upgrade.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846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players: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Watergen, SkyWater — priced in dollars, also rated only at high humidity. Not a factor in the dry-air segment we build for. And nobody but AcquaHT publishes performance below 80% RH.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Competition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GO-TO-MARKET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sales motion actually works.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buys first?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Dry-climate industrial &amp; food-processing sites that already pay monthly for dehumidification.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they buy?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already budget for drying. We give them that plus water — better economics than a water-only machine in dry air.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reach them?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72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relationships today: RYLT's industrial network, the Bala Vikasa MoU (rural), T-Hub / PIER71 Singapore (international interest).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84048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expands it?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572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dry-air stage is field-proven, sell into coastal / humid sites where water displaces bottled water — ~4-month payback.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6592824" cy="256032"/>
          </a:xfrm>
          <a:prstGeom prst="roundRect">
            <a:avLst>
              <a:gd name="adj" fmla="val 17857"/>
            </a:avLst>
          </a:prstGeom>
          <a:solidFill>
            <a:srgbClr val="102838"/>
          </a:solidFill>
          <a:ln w="9525">
            <a:solidFill>
              <a:srgbClr val="FFA2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852160"/>
            <a:ext cx="6592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DECISION-MAKER, SALES CYCLE &amp; CAC NOT YET TRACKED · DATA NEEDED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GTM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B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OPEN QUESTIONS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still owe you — flagged, not hidden.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777240"/>
          </a:xfrm>
          <a:prstGeom prst="roundRect">
            <a:avLst>
              <a:gd name="adj" fmla="val 10588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02536"/>
            <a:ext cx="347472" cy="347472"/>
          </a:xfrm>
          <a:prstGeom prst="ellipse">
            <a:avLst/>
          </a:prstGeom>
          <a:solidFill>
            <a:srgbClr val="FF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019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sponge hasn't run yet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6537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sorbent has been cycled in our machine. Every dry-air number is a design target until this round proves it. This is the core risk — and the core use of funds.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10927080" cy="777240"/>
          </a:xfrm>
          <a:prstGeom prst="roundRect">
            <a:avLst>
              <a:gd name="adj" fmla="val 10588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889504"/>
            <a:ext cx="347472" cy="347472"/>
          </a:xfrm>
          <a:prstGeom prst="ellipse">
            <a:avLst/>
          </a:prstGeom>
          <a:solidFill>
            <a:srgbClr val="FF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88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price not confirmed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761488"/>
            <a:ext cx="6537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₹3,75,000 drives the margin and revenue math but isn't yet locked with a customer.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57016"/>
            <a:ext cx="10927080" cy="777240"/>
          </a:xfrm>
          <a:prstGeom prst="roundRect">
            <a:avLst>
              <a:gd name="adj" fmla="val 10588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776472"/>
            <a:ext cx="347472" cy="347472"/>
          </a:xfrm>
          <a:prstGeom prst="ellipse">
            <a:avLst/>
          </a:prstGeom>
          <a:solidFill>
            <a:srgbClr val="FFA2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6758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count unknown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648456"/>
            <a:ext cx="6537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name 75 sites. The full dry-climate industrial site count is not yet sized.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43984"/>
            <a:ext cx="10927080" cy="777240"/>
          </a:xfrm>
          <a:prstGeom prst="roundRect">
            <a:avLst>
              <a:gd name="adj" fmla="val 10588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663440"/>
            <a:ext cx="347472" cy="347472"/>
          </a:xfrm>
          <a:prstGeom prst="ellipse">
            <a:avLst/>
          </a:prstGeom>
          <a:solidFill>
            <a:srgbClr val="FFA2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663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5628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specifics open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4535424"/>
            <a:ext cx="6537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certificate, which body, which month — still to be pinned down.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330952"/>
            <a:ext cx="10927080" cy="777240"/>
          </a:xfrm>
          <a:prstGeom prst="roundRect">
            <a:avLst>
              <a:gd name="adj" fmla="val 10588"/>
            </a:avLst>
          </a:prstGeom>
          <a:solidFill>
            <a:srgbClr val="102838"/>
          </a:solidFill>
          <a:ln w="12700">
            <a:solidFill>
              <a:srgbClr val="233B4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550408"/>
            <a:ext cx="347472" cy="347472"/>
          </a:xfrm>
          <a:prstGeom prst="ellipse">
            <a:avLst/>
          </a:prstGeom>
          <a:solidFill>
            <a:srgbClr val="FFA24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550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4498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EE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motion not yet instrumented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5422392"/>
            <a:ext cx="6537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C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 title, sales-cycle length and customer acquisition cost aren't tracked yet.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AD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ACQUAHT</a:t>
            </a:r>
            <a:pPr algn="l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LABS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79476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2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Open questions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8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AcquaHT Labs — Investor Deck</dc:title>
  <dc:subject>PptxGenJS Presentation</dc:subject>
  <dc:creator>AcquaHT Labs</dc:creator>
  <cp:lastModifiedBy>AcquaHT Labs</cp:lastModifiedBy>
  <cp:revision>1</cp:revision>
  <dcterms:created xsi:type="dcterms:W3CDTF">2026-08-30T15:05:40Z</dcterms:created>
  <dcterms:modified xsi:type="dcterms:W3CDTF">2026-08-30T15:05:40Z</dcterms:modified>
</cp:coreProperties>
</file>