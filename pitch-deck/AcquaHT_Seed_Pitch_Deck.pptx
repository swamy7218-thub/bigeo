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4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5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6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7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d2b6bd68-359c-fb44-6134-e1bec8a298a5}">
          <p14:sldIdLst>
            <p14:sldId id="256"/>
          </p14:sldIdLst>
        </p14:section>
        <p14:section name="The Story" id="{658c4eb0-ccf8-1a9d-8673-d1f57ac93896}">
          <p14:sldIdLst>
            <p14:sldId id="257"/>
            <p14:sldId id="258"/>
            <p14:sldId id="259"/>
          </p14:sldIdLst>
        </p14:section>
        <p14:section name="Technology" id="{25cf2ba3-183c-3704-6d0e-8983b07ac45f}">
          <p14:sldIdLst>
            <p14:sldId id="260"/>
            <p14:sldId id="261"/>
            <p14:sldId id="262"/>
            <p14:sldId id="263"/>
            <p14:sldId id="264"/>
          </p14:sldIdLst>
        </p14:section>
        <p14:section name="Proof" id="{f64335f8-0e5c-1eb9-63dd-90fd8949692e}">
          <p14:sldIdLst>
            <p14:sldId id="265"/>
            <p14:sldId id="266"/>
            <p14:sldId id="267"/>
            <p14:sldId id="268"/>
          </p14:sldIdLst>
        </p14:section>
        <p14:section name="Business" id="{d780a6cf-e4d7-ed25-b392-8db34571fc45}">
          <p14:sldIdLst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The Ask" id="{38f68eed-bdb5-b6bb-d9af-840f19aafb66}">
          <p14:sldIdLst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Appendix" id="{e7652956-b7ff-f5a9-2637-b1d2c0471769}">
          <p14:sldIdLst>
            <p14:sldId id="284"/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A2E4D"/>
                </a:solidFill>
                <a:latin typeface="+mj-lt"/>
              </a:defRPr>
            </a:pPr>
            <a:r>
              <a:rPr sz="1400" b="0" i="0" u="none" strike="noStrike">
                <a:solidFill>
                  <a:srgbClr val="0A2E4D"/>
                </a:solidFill>
                <a:latin typeface="+mj-lt"/>
              </a:rPr>
              <a:t>Global AWG market ($M)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Global AWG market ($M)</c:v>
                </c:pt>
              </c:strCache>
            </c:strRef>
          </c:tx>
          <c:spPr>
            <a:solidFill>
              <a:srgbClr val="3FB6D9"/>
            </a:solidFill>
            <a:effectLst/>
          </c:spPr>
          <c:invertIfNegative val="0"/>
          <c:dLbls>
            <c:numFmt formatCode="$#,##0.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320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FB6D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273B5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2025</c:v>
                  </c:pt>
                  <c:pt idx="1">
                    <c:v>2034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548.6</c:v>
                </c:pt>
                <c:pt idx="1">
                  <c:v>1158</c:v>
                </c:pt>
              </c:numCache>
            </c:numRef>
          </c:val>
        </c:ser>
        <c:dLbls>
          <c:numFmt formatCode="$#,##0.0" sourceLinked="0"/>
          <c:txPr>
            <a:bodyPr/>
            <a:lstStyle/>
            <a:p>
              <a:pPr>
                <a:defRPr b="1" i="0" strike="noStrike" sz="1200" u="none">
                  <a:solidFill>
                    <a:srgbClr val="1320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5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A2E4D"/>
                </a:solidFill>
                <a:latin typeface="+mj-lt"/>
              </a:defRPr>
            </a:pPr>
            <a:r>
              <a:rPr sz="1400" b="0" i="0" u="none" strike="noStrike">
                <a:solidFill>
                  <a:srgbClr val="0A2E4D"/>
                </a:solidFill>
                <a:latin typeface="+mj-lt"/>
              </a:rPr>
              <a:t>Sorbent cost per kg (USD, log scale)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Sorbent cost ($/kg, log scale)</c:v>
                </c:pt>
              </c:strCache>
            </c:strRef>
          </c:tx>
          <c:spPr>
            <a:solidFill>
              <a:srgbClr val="D953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3202B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9534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273B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A9B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9E6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E9E6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E9E6A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MOF-801/303  $100+</c:v>
                  </c:pt>
                  <c:pt idx="1">
                    <c:v>PANSAP  $2.50</c:v>
                  </c:pt>
                  <c:pt idx="2">
                    <c:v>Silica gel  $1–3</c:v>
                  </c:pt>
                  <c:pt idx="3">
                    <c:v>Jute/CaCl₂  &lt;$0.50</c:v>
                  </c:pt>
                  <c:pt idx="4">
                    <c:v>Starch-PEG/CaCl₂  $0.46</c:v>
                  </c:pt>
                  <c:pt idx="5">
                    <c:v>Succulent biomass  ~$0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2.5</c:v>
                </c:pt>
                <c:pt idx="2">
                  <c:v>2</c:v>
                </c:pt>
                <c:pt idx="3">
                  <c:v>0.5</c:v>
                </c:pt>
                <c:pt idx="4">
                  <c:v>0.46</c:v>
                </c:pt>
                <c:pt idx="5">
                  <c:v>0.01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3202B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  <c:max val="1000"/>
          <c:min val="0.001"/>
        </c:scaling>
        <c:delete val="0"/>
        <c:axPos val="b"/>
        <c:majorGridlines>
          <c:spPr>
            <a:ln w="9525" cap="flat">
              <a:solidFill>
                <a:srgbClr val="E3ECF2"/>
              </a:solidFill>
              <a:prstDash val="solid"/>
              <a:round/>
            </a:ln>
          </c:spPr>
        </c:majorGridlines>
        <c:numFmt formatCode="$#,##0.###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A2E4D"/>
                </a:solidFill>
                <a:latin typeface="+mj-lt"/>
              </a:defRPr>
            </a:pPr>
            <a:r>
              <a:rPr sz="1400" b="0" i="0" u="none" strike="noStrike">
                <a:solidFill>
                  <a:srgbClr val="0A2E4D"/>
                </a:solidFill>
                <a:latin typeface="+mj-lt"/>
              </a:rPr>
              <a:t>Every lever compounds: LCOW in $ per litre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LCOW ($/L)</c:v>
                </c:pt>
              </c:strCache>
            </c:strRef>
          </c:tx>
          <c:spPr>
            <a:solidFill>
              <a:srgbClr val="9AA9B5"/>
            </a:solidFill>
            <a:effectLst/>
          </c:spPr>
          <c:invertIfNegative val="0"/>
          <c:dLbls>
            <c:numFmt formatCode="$0.0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320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A9B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273B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273B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273B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2A124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Published Jute/CaCl₂</c:v>
                  </c:pt>
                  <c:pt idx="1">
                    <c:v>Our sorption MVP</c:v>
                  </c:pt>
                  <c:pt idx="2">
                    <c:v>MVP + waste heat</c:v>
                  </c:pt>
                  <c:pt idx="3">
                    <c:v>Scaled + waste heat</c:v>
                  </c:pt>
                  <c:pt idx="4">
                    <c:v>PANSAP + passive solar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0.086</c:v>
                </c:pt>
                <c:pt idx="1">
                  <c:v>0.045</c:v>
                </c:pt>
                <c:pt idx="2">
                  <c:v>0.035</c:v>
                </c:pt>
                <c:pt idx="3">
                  <c:v>0.028</c:v>
                </c:pt>
                <c:pt idx="4">
                  <c:v>0.0075</c:v>
                </c:pt>
              </c:numCache>
            </c:numRef>
          </c:val>
        </c:ser>
        <c:dLbls>
          <c:numFmt formatCode="$0.000" sourceLinked="0"/>
          <c:txPr>
            <a:bodyPr/>
            <a:lstStyle/>
            <a:p>
              <a:pPr>
                <a:defRPr b="1" i="0" strike="noStrike" sz="1200" u="none">
                  <a:solidFill>
                    <a:srgbClr val="1320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A2E4D"/>
                </a:solidFill>
                <a:latin typeface="+mj-lt"/>
              </a:defRPr>
            </a:pPr>
            <a:r>
              <a:rPr sz="1400" b="0" i="0" u="none" strike="noStrike">
                <a:solidFill>
                  <a:srgbClr val="0A2E4D"/>
                </a:solidFill>
                <a:latin typeface="+mj-lt"/>
              </a:rPr>
              <a:t>Revenue mix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273B5"/>
              </a:solidFill>
              <a:effectLst/>
            </c:spPr>
          </c:dPt>
          <c:dPt>
            <c:idx val="1"/>
            <c:bubble3D val="0"/>
            <c:spPr>
              <a:solidFill>
                <a:srgbClr val="3FB6D9"/>
              </a:solidFill>
              <a:effectLst/>
            </c:spPr>
          </c:dPt>
          <c:dPt>
            <c:idx val="2"/>
            <c:bubble3D val="0"/>
            <c:spPr>
              <a:solidFill>
                <a:srgbClr val="F2A12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WaaS subscriptions</c:v>
                </c:pt>
                <c:pt idx="1">
                  <c:v>Equipment sales / leasing</c:v>
                </c:pt>
                <c:pt idx="2">
                  <c:v>Franchise fees &amp; royalties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60</c:v>
                </c:pt>
                <c:pt idx="1">
                  <c:v>25</c:v>
                </c:pt>
                <c:pt idx="2">
                  <c:v>15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A2E4D"/>
                </a:solidFill>
                <a:latin typeface="+mj-lt"/>
              </a:defRPr>
            </a:pPr>
            <a:r>
              <a:rPr sz="1400" b="0" i="0" u="none" strike="noStrike">
                <a:solidFill>
                  <a:srgbClr val="0A2E4D"/>
                </a:solidFill>
                <a:latin typeface="+mj-lt"/>
              </a:rPr>
              <a:t>Revenue ($M)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273B5"/>
            </a:solidFill>
            <a:effectLst/>
          </c:spPr>
          <c:invertIfNegative val="0"/>
          <c:dLbls>
            <c:numFmt formatCode="$0.0&quot;M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320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273B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273B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2A124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</c:v>
                </c:pt>
                <c:pt idx="1">
                  <c:v>2</c:v>
                </c:pt>
                <c:pt idx="2">
                  <c:v>8</c:v>
                </c:pt>
              </c:numCache>
            </c:numRef>
          </c:val>
        </c:ser>
        <c:dLbls>
          <c:numFmt formatCode="$0.0&quot;M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1320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.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FB6D9"/>
              </a:solidFill>
              <a:effectLst/>
            </c:spPr>
          </c:dPt>
          <c:dPt>
            <c:idx val="1"/>
            <c:bubble3D val="0"/>
            <c:spPr>
              <a:solidFill>
                <a:srgbClr val="F2A124"/>
              </a:solidFill>
              <a:effectLst/>
            </c:spPr>
          </c:dPt>
          <c:dPt>
            <c:idx val="2"/>
            <c:bubble3D val="0"/>
            <c:spPr>
              <a:solidFill>
                <a:srgbClr val="1273B5"/>
              </a:solidFill>
              <a:effectLst/>
            </c:spPr>
          </c:dPt>
          <c:dPt>
            <c:idx val="3"/>
            <c:bubble3D val="0"/>
            <c:spPr>
              <a:solidFill>
                <a:srgbClr val="7FD0E8"/>
              </a:solidFill>
              <a:effectLst/>
            </c:spPr>
          </c:dPt>
          <c:dPt>
            <c:idx val="4"/>
            <c:bubble3D val="0"/>
            <c:spPr>
              <a:solidFill>
                <a:srgbClr val="2E9E6A"/>
              </a:solidFill>
              <a:effectLst/>
            </c:spPr>
          </c:dPt>
          <c:dPt>
            <c:idx val="5"/>
            <c:bubble3D val="0"/>
            <c:spPr>
              <a:solidFill>
                <a:srgbClr val="F7C873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13202B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13202B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13202B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13202B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13202B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13202B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MVP build, lab &amp; field pilot</c:v>
                </c:pt>
                <c:pt idx="1">
                  <c:v>Certification</c:v>
                </c:pt>
                <c:pt idx="2">
                  <c:v>Manufacturing &amp; tooling</c:v>
                </c:pt>
                <c:pt idx="3">
                  <c:v>Pilot deployment (25–50 units)</c:v>
                </c:pt>
                <c:pt idx="4">
                  <c:v>Working capital</c:v>
                </c:pt>
                <c:pt idx="5">
                  <c:v>Marketing, sales &amp; tenders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150</c:v>
                </c:pt>
                <c:pt idx="1">
                  <c:v>80</c:v>
                </c:pt>
                <c:pt idx="2">
                  <c:v>150</c:v>
                </c:pt>
                <c:pt idx="3">
                  <c:v>150</c:v>
                </c:pt>
                <c:pt idx="4">
                  <c:v>80</c:v>
                </c:pt>
                <c:pt idx="5">
                  <c:v>40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A2E4D"/>
                </a:solidFill>
                <a:latin typeface="+mj-lt"/>
              </a:defRPr>
            </a:pPr>
            <a:r>
              <a:rPr sz="1400" b="0" i="0" u="none" strike="noStrike">
                <a:solidFill>
                  <a:srgbClr val="0A2E4D"/>
                </a:solidFill>
                <a:latin typeface="+mj-lt"/>
              </a:rPr>
              <a:t>Target LCOW falls every phase ($/L)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 LCOW ($/L)</c:v>
                </c:pt>
              </c:strCache>
            </c:strRef>
          </c:tx>
          <c:spPr>
            <a:solidFill>
              <a:srgbClr val="F2A124"/>
            </a:solidFill>
            <a:ln w="38100" cap="flat">
              <a:solidFill>
                <a:srgbClr val="F2A124"/>
              </a:solidFill>
              <a:prstDash val="solid"/>
              <a:round/>
            </a:ln>
            <a:effectLst/>
          </c:spPr>
          <c:invertIfNegative val="0"/>
          <c:dLbls>
            <c:numFmt formatCode="$0.0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3202B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F2A124"/>
              </a:solidFill>
              <a:ln w="9525" cap="flat">
                <a:solidFill>
                  <a:srgbClr val="F2A12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MVP &amp; Pilot</c:v>
                  </c:pt>
                  <c:pt idx="1">
                    <c:v>Cost Red. I</c:v>
                  </c:pt>
                  <c:pt idx="2">
                    <c:v>Scale-Up</c:v>
                  </c:pt>
                  <c:pt idx="3">
                    <c:v>Cost Red. II</c:v>
                  </c:pt>
                  <c:pt idx="4">
                    <c:v>Expansion</c:v>
                  </c:pt>
                  <c:pt idx="5">
                    <c:v>Cost Red. III</c:v>
                  </c:pt>
                  <c:pt idx="6">
                    <c:v>Scale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0.045</c:v>
                </c:pt>
                <c:pt idx="1">
                  <c:v>0.03</c:v>
                </c:pt>
                <c:pt idx="2">
                  <c:v>0.02</c:v>
                </c:pt>
                <c:pt idx="3">
                  <c:v>0.015</c:v>
                </c:pt>
                <c:pt idx="4">
                  <c:v>0.01</c:v>
                </c:pt>
                <c:pt idx="5">
                  <c:v>0.0075</c:v>
                </c:pt>
                <c:pt idx="6">
                  <c:v>0.005</c:v>
                </c:pt>
              </c:numCache>
            </c:numRef>
          </c:val>
          <c:smooth val="0"/>
        </c:ser>
        <c:dLbls>
          <c:numFmt formatCode="$0.000" sourceLinked="0"/>
          <c:txPr>
            <a:bodyPr/>
            <a:lstStyle/>
            <a:p>
              <a:pPr>
                <a:defRPr b="1" i="0" strike="noStrike" sz="1200" u="none">
                  <a:solidFill>
                    <a:srgbClr val="13202B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52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TENSION (Slides 1–3). Lead with ₹0.40/L. Let it land. Then explain why nobody has done it: because everyone used MOFs and electric heaters. We did neither.
Visual to add: split image — left: jute/CaCl₂ sorbent composite and solar vacuum tube collector; right: clean water pouring into a glass at an Indian railway station. Use real photos, not stock water droplets.
What changed in this version: technology strategy is now sorption-first with ultra-low-cost sorbents, solar thermal desorption and waste-heat recovery. Headline LCOW target drops from $0.02–$0.04/L to $0.005–$0.01/L. MVP plan (100 → 1,000 L/day) is embedded. Unit economics, use of funds and financials revised accordingly.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problem emotional but data-backed — railway stations and Day Zero cities are concrete, not abstract.
Visual to add if available: map of India's groundwater depletion zones; photo of a water tanker beside a stack of plastic bottles.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Visual intent: three-panel infographic — falling sorbent cost curve, solar thermal collector, waste-heat recovery diagram. Inset: AWG market growth chart ($548.6M in 2025 → $1.158B in 2034, 8.70% CAGR).
Waste-heat detail: hybrid systems recover waste heat and cut specific energy consumption by 34.4% (315 Wh/kg at 50% RH, 30°C).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SYSTEM AS A CHAIN, NOT A MACHINE (Slides 4–6). The audience needs to understand that condensation and sorption are not competitors in our design — they are stages.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LCOW the hero metric on this slide (also slides 12 and 20).
Visual intent from brief: waterfall chart MOF → agricultural-waste sorbent → solar thermal → waste-heat recovery → PANSAP scale → $0.005/L. The lever-by-lever LCOW waterfall with real numbers is on the Unit Economics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waste-heat loop is the most counterintuitive and most impressive part. Draw it on a whiteboard if you can.
Visual intent: cutaway schematic of the four stages with energy flows labelled. Waste-heat loop in orange, solar loop in yellow/amber.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YOUR TECHNICAL CREDIBILITY (Slides 7–8). Spend real time here. Name the sorbents. Quote the costs. Explain why Jute/CaCl₂ works better than silica gel (4–5x uptake at a fraction of the cost). If an investor asks one deep technical question, it will be here.
Chart note: must stay on a log scale, or the Jute/CaCl₂ bar is invisible next to MOF. Succulent biomass is ~$0 (plotted at $0.01 because log scales cannot show zero). Jute/CaCl₂ is &lt;$0.50/kg.
Visual to add: photo of actual sorbent samples.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Primary MVP sorbent: Jute/CaCl₂. Parallel: Starch-PEG/CaCl₂ hydrogel. Scale-up: PANSAP. Silica gel is the reference. MOFs are rejected on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134°C solar collector and the 34.4% waste-heat saving.
Visual intent: two-panel diagram — solar collector loop on the left, waste-heat recovery loop on the right, both feeding the same desorption chamber.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PROVE YOU ARE RIGOROUS, NOT JUST CLEVER (Slides 9–11). Cheap water that fails a microbial test is a liability. Walk through the 5-stage filtration and the testing frequency.
Visual to add: photo of a real lab water-quality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Visual to add: two side-by-side prototype renders with labelled subsystems (or real photos once built). Full sorption-unit BOM is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the full BOM ready in the appendix for both condensation and sorption units.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what separates you from a hobbyist: two prototypes, two climates, 12 months, measurable gates.
Key measurements: water production rate (L/h), energy consumption (kWh/L), condensate quality (TDS, pH), mean time between failures (MTBF).
Lab matrix: 20/25/30/35°C × 30/40/50/60/70/80% RH.
Visual to add: photos of the test chamber and field sites.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COMMERCIAL CORE (Slides 12–14). The LCOW waterfall is the single most important visual in the deck. Walk from $0.086/L (published Jute/CaCl₂ result) to $0.005/L lever by lever:
• $0.086 published Jute/CaCl₂ result
• $0.045 our sorption MVP
• $0.035 MVP with waste-heat recovery (−34%)
• $0.028 scaled system with waste heat
• $0.005–0.01 PANSAP + passive solar
Revenue: ₹5–8/L in India ($0.06–$0.10/L). Gross margin 70–85% at scale. Visual to add: payback timeline.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Investors need to see that this is a business, not a research project. Note that the conventional AWG LCOW here ($0.06–0.09/L) includes amortised CapEx, filters and labour.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Visual intent: TAM → SAM → SOM funnel, icons per segment, with the data-centre waste-heat loop highlighted.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revenue model and the sorbent-licensing upside. ThinAirWater (EU-funded) is launching its technology as a material component inside existing generators — the same model we follow for licensing.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YOU CAN SELL AND DEFEND (Slides 15–17). Government tenders give volume with low customer-acquisition cost. Waste-heat sites give the best margins. Franchising gives speed.
Visual to add: map of India with pilot cities (Mumbai, Chennai, Delhi) and expansion arrows to UAE and Philippines.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THIS IN BEFORE PRESENTING. Replace every [bracket] with real numbers. YC partners look at traction first.
Visual to add: partner logos, photo of prototype, water quality certificate, sorbent performance chart.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Positions on the 2×2 are qualitative (cost vs scalability). AcquaHT sits top-right.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Hit the three-layer moat hard — sorbent IP, system architecture and deployment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FINANCIALS AND ROADMAP (Slides 18–20). Be honest about Year 1 losses. Be specific about what this round buys.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specific about what this round buys. Read the six milestones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placeholders with real headshots and previous company logos. List advisors by name once confirmed.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roadmap is your closing visual — units up, LCOW down — it shows cost reduction and scale are the same strategy, not two plans. (Brief asked for a dual-axis chart; unit counts are in the table: 100 units by M18, 2,000+ by M48.) Cost Reduction III plotted at $0.0075 = midpoint of $0.005–0.01.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ADDRESS RISK HEAD-ON (Slides 21–22). Do not hide the sorbent degradation risk or the humidity risk. Show the mitigation.
Visual intent from brief: risk matrix (likelihood vs impact) with mitigation arrows — likelihood ratings not yet defined, so impact is shown.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impact: we are not just selling cheaper water, we are converting waste heat into drinking water.
Fill in [X] tonnes CO₂ avoided per unit per year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Pause. Restate the ask: $650,000 seed. Then take questions. Have the appendix ready — use it only on request.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only on request. Have the full BOM, the sorbent test data and the financial model ready. Do not present them unless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 this slide as the one-page handout.
VISUAL DESIGN NOTES: Deep water blue, warm solar amber, clean white. Amber for anything thermal, blue for anything water. One number per slide — LCOW is the hero metric. Use real data and photos of actual prototypes, sorbent samples and water quality reports; avoid stock water droplets. Log scales where the gap is huge. Show the loop — every architecture diagram should make the waste-heat and solar loops obvious.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AcquaHT  ·  Water from air  ·  Seed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</a:rPr>
              <a:t>AcquaHT  ·  Water from air  ·  Seed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.xm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6" Type="http://schemas.openxmlformats.org/officeDocument/2006/relationships/image" Target="../media/image-3-5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1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image" Target="../media/image-17-1.png"/><Relationship Id="rId3" Type="http://schemas.openxmlformats.org/officeDocument/2006/relationships/image" Target="../media/image-17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image" Target="../media/image-2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image" Target="../media/image-23-1.png"/><Relationship Id="rId3" Type="http://schemas.openxmlformats.org/officeDocument/2006/relationships/image" Target="../media/image-23-2.png"/><Relationship Id="rId4" Type="http://schemas.openxmlformats.org/officeDocument/2006/relationships/image" Target="../media/image-23-3.png"/><Relationship Id="rId5" Type="http://schemas.openxmlformats.org/officeDocument/2006/relationships/image" Target="../media/image-23-4.png"/><Relationship Id="rId6" Type="http://schemas.openxmlformats.org/officeDocument/2006/relationships/image" Target="../media/image-23-5.png"/><Relationship Id="rId7" Type="http://schemas.openxmlformats.org/officeDocument/2006/relationships/image" Target="../media/image-23-6.png"/><Relationship Id="rId8" Type="http://schemas.openxmlformats.org/officeDocument/2006/relationships/image" Target="../media/image-23-7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image" Target="../media/image-2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image" Target="../media/image-27-7.png"/><Relationship Id="rId8" Type="http://schemas.openxmlformats.org/officeDocument/2006/relationships/image" Target="../media/image-27-8.png"/><Relationship Id="rId9" Type="http://schemas.openxmlformats.org/officeDocument/2006/relationships/image" Target="../media/image-27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image" Target="../media/image-29-6.png"/><Relationship Id="rId7" Type="http://schemas.openxmlformats.org/officeDocument/2006/relationships/image" Target="../media/image-29-7.png"/><Relationship Id="rId8" Type="http://schemas.openxmlformats.org/officeDocument/2006/relationships/image" Target="../media/image-29-8.png"/><Relationship Id="rId9" Type="http://schemas.openxmlformats.org/officeDocument/2006/relationships/image" Target="../media/image-29-9.png"/><Relationship Id="rId10" Type="http://schemas.openxmlformats.org/officeDocument/2006/relationships/image" Target="../media/image-29-10.png"/><Relationship Id="rId11" Type="http://schemas.openxmlformats.org/officeDocument/2006/relationships/image" Target="../media/image-29-11.png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 txBox="1"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ACQUAHT</a:t>
            </a:r>
            <a:endParaRPr lang="en-US" sz="1600" dirty="0"/>
          </a:p>
        </p:txBody>
      </p:sp>
      <p:sp>
        <p:nvSpPr>
          <p:cNvPr id="3" name="text-2"/>
          <p:cNvSpPr txBox="1"/>
          <p:nvPr/>
        </p:nvSpPr>
        <p:spPr>
          <a:xfrm>
            <a:off x="640080" y="1143000"/>
            <a:ext cx="6675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Drinking water from air at ₹0.40–₹0.80 per litre</a:t>
            </a:r>
            <a:endParaRPr lang="en-US" sz="4000" dirty="0"/>
          </a:p>
        </p:txBody>
      </p:sp>
      <p:sp>
        <p:nvSpPr>
          <p:cNvPr id="4" name="text-3"/>
          <p:cNvSpPr txBox="1"/>
          <p:nvPr/>
        </p:nvSpPr>
        <p:spPr>
          <a:xfrm>
            <a:off x="640080" y="32004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We extract, filter and deliver potable water from atmospheric humidity using ultra-low-cost sorbents, solar thermal desorption and waste-heat recovery — at 1/20th the cost of bottled water.</a:t>
            </a:r>
            <a:endParaRPr lang="en-US" sz="1600" dirty="0"/>
          </a:p>
        </p:txBody>
      </p:sp>
      <p:sp>
        <p:nvSpPr>
          <p:cNvPr id="5" name="text-4"/>
          <p:cNvSpPr txBox="1"/>
          <p:nvPr/>
        </p:nvSpPr>
        <p:spPr>
          <a:xfrm>
            <a:off x="640080" y="44348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accent3"/>
                </a:solidFill>
              </a:rPr>
              <a:t>We are not building another AWG. We are building the cheapest water source on Earth.</a:t>
            </a:r>
            <a:endParaRPr lang="en-US" sz="1600" dirty="0"/>
          </a:p>
        </p:txBody>
      </p:sp>
      <p:sp>
        <p:nvSpPr>
          <p:cNvPr id="6" name="text-5"/>
          <p:cNvSpPr txBox="1"/>
          <p:nvPr/>
        </p:nvSpPr>
        <p:spPr>
          <a:xfrm>
            <a:off x="640080" y="6035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Raising $650,000 Seed  |  [Founder Name]  |  [Email]  |  [Phone]  |  [Website]</a:t>
            </a:r>
            <a:endParaRPr lang="en-US" sz="1300" dirty="0"/>
          </a:p>
        </p:txBody>
      </p:sp>
      <p:sp>
        <p:nvSpPr>
          <p:cNvPr id="7" name="panel-6"/>
          <p:cNvSpPr/>
          <p:nvPr/>
        </p:nvSpPr>
        <p:spPr>
          <a:xfrm>
            <a:off x="8046720" y="822960"/>
            <a:ext cx="3749040" cy="4754880"/>
          </a:xfrm>
          <a:prstGeom prst="roundRect">
            <a:avLst>
              <a:gd name="adj" fmla="val 4878"/>
            </a:avLst>
          </a:prstGeom>
          <a:solidFill>
            <a:schemeClr val="bg1">
              <a:alpha val="10000"/>
            </a:schemeClr>
          </a:solidFill>
          <a:ln w="12700">
            <a:solidFill>
              <a:srgbClr val="3FB6D9"/>
            </a:solidFill>
            <a:prstDash val="solid"/>
          </a:ln>
        </p:spPr>
      </p:sp>
      <p:sp>
        <p:nvSpPr>
          <p:cNvPr id="8" name="icon-bg-7"/>
          <p:cNvSpPr/>
          <p:nvPr/>
        </p:nvSpPr>
        <p:spPr>
          <a:xfrm>
            <a:off x="8321040" y="1143000"/>
            <a:ext cx="868680" cy="8686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9" name="icon-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6897" y="1368857"/>
            <a:ext cx="416966" cy="416966"/>
          </a:xfrm>
          <a:prstGeom prst="rect">
            <a:avLst/>
          </a:prstGeom>
        </p:spPr>
      </p:pic>
      <p:sp>
        <p:nvSpPr>
          <p:cNvPr id="10" name="text-9"/>
          <p:cNvSpPr txBox="1"/>
          <p:nvPr/>
        </p:nvSpPr>
        <p:spPr>
          <a:xfrm>
            <a:off x="9372600" y="12161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Solar thermal</a:t>
            </a:r>
            <a:endParaRPr lang="en-US" sz="1600" dirty="0"/>
          </a:p>
        </p:txBody>
      </p:sp>
      <p:sp>
        <p:nvSpPr>
          <p:cNvPr id="11" name="text-10"/>
          <p:cNvSpPr txBox="1"/>
          <p:nvPr/>
        </p:nvSpPr>
        <p:spPr>
          <a:xfrm>
            <a:off x="9372600" y="15819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Vacuum tubes reach 134°C</a:t>
            </a:r>
            <a:endParaRPr lang="en-US" sz="1300" dirty="0"/>
          </a:p>
        </p:txBody>
      </p:sp>
      <p:sp>
        <p:nvSpPr>
          <p:cNvPr id="12" name="arrow-11"/>
          <p:cNvSpPr/>
          <p:nvPr/>
        </p:nvSpPr>
        <p:spPr>
          <a:xfrm>
            <a:off x="8755380" y="2057400"/>
            <a:ext cx="0" cy="502920"/>
          </a:xfrm>
          <a:prstGeom prst="line">
            <a:avLst/>
          </a:prstGeom>
          <a:noFill/>
          <a:ln w="25400">
            <a:solidFill>
              <a:srgbClr val="3FB6D9"/>
            </a:solidFill>
            <a:prstDash val="solid"/>
            <a:tailEnd type="triangle"/>
          </a:ln>
        </p:spPr>
      </p:sp>
      <p:sp>
        <p:nvSpPr>
          <p:cNvPr id="13" name="icon-bg-12"/>
          <p:cNvSpPr/>
          <p:nvPr/>
        </p:nvSpPr>
        <p:spPr>
          <a:xfrm>
            <a:off x="8321040" y="2606040"/>
            <a:ext cx="868680" cy="8686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4" name="icon-1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6897" y="2831897"/>
            <a:ext cx="416966" cy="416966"/>
          </a:xfrm>
          <a:prstGeom prst="rect">
            <a:avLst/>
          </a:prstGeom>
        </p:spPr>
      </p:pic>
      <p:sp>
        <p:nvSpPr>
          <p:cNvPr id="15" name="text-14"/>
          <p:cNvSpPr txBox="1"/>
          <p:nvPr/>
        </p:nvSpPr>
        <p:spPr>
          <a:xfrm>
            <a:off x="9372600" y="26791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Jute / CaCl₂ sorbent</a:t>
            </a:r>
            <a:endParaRPr lang="en-US" sz="1600" dirty="0"/>
          </a:p>
        </p:txBody>
      </p:sp>
      <p:sp>
        <p:nvSpPr>
          <p:cNvPr id="16" name="text-15"/>
          <p:cNvSpPr txBox="1"/>
          <p:nvPr/>
        </p:nvSpPr>
        <p:spPr>
          <a:xfrm>
            <a:off x="9372600" y="30449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Agri-waste, &lt;$0.50/kg</a:t>
            </a:r>
            <a:endParaRPr lang="en-US" sz="1300" dirty="0"/>
          </a:p>
        </p:txBody>
      </p:sp>
      <p:sp>
        <p:nvSpPr>
          <p:cNvPr id="17" name="arrow-16"/>
          <p:cNvSpPr/>
          <p:nvPr/>
        </p:nvSpPr>
        <p:spPr>
          <a:xfrm>
            <a:off x="8755380" y="3520440"/>
            <a:ext cx="0" cy="502920"/>
          </a:xfrm>
          <a:prstGeom prst="line">
            <a:avLst/>
          </a:prstGeom>
          <a:noFill/>
          <a:ln w="25400">
            <a:solidFill>
              <a:srgbClr val="3FB6D9"/>
            </a:solidFill>
            <a:prstDash val="solid"/>
            <a:tailEnd type="triangle"/>
          </a:ln>
        </p:spPr>
      </p:sp>
      <p:sp>
        <p:nvSpPr>
          <p:cNvPr id="18" name="icon-bg-17"/>
          <p:cNvSpPr/>
          <p:nvPr/>
        </p:nvSpPr>
        <p:spPr>
          <a:xfrm>
            <a:off x="8321040" y="406908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9" name="icon-1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6897" y="4294937"/>
            <a:ext cx="416966" cy="416966"/>
          </a:xfrm>
          <a:prstGeom prst="rect">
            <a:avLst/>
          </a:prstGeom>
        </p:spPr>
      </p:pic>
      <p:sp>
        <p:nvSpPr>
          <p:cNvPr id="20" name="text-19"/>
          <p:cNvSpPr txBox="1"/>
          <p:nvPr/>
        </p:nvSpPr>
        <p:spPr>
          <a:xfrm>
            <a:off x="9372600" y="41422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Clean water</a:t>
            </a:r>
            <a:endParaRPr lang="en-US" sz="1600" dirty="0"/>
          </a:p>
        </p:txBody>
      </p:sp>
      <p:sp>
        <p:nvSpPr>
          <p:cNvPr id="21" name="text-20"/>
          <p:cNvSpPr txBox="1"/>
          <p:nvPr/>
        </p:nvSpPr>
        <p:spPr>
          <a:xfrm>
            <a:off x="9372600" y="45079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$0.005–$0.01 per litre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water is scarce, expensive and logistically broken</a:t>
            </a:r>
            <a:endParaRPr lang="en-US" sz="3000" dirty="0"/>
          </a:p>
        </p:txBody>
      </p:sp>
      <p:sp>
        <p:nvSpPr>
          <p:cNvPr id="3" name="card-21"/>
          <p:cNvSpPr/>
          <p:nvPr/>
        </p:nvSpPr>
        <p:spPr>
          <a:xfrm>
            <a:off x="457200" y="1371600"/>
            <a:ext cx="3474720" cy="2834640"/>
          </a:xfrm>
          <a:prstGeom prst="roundRect">
            <a:avLst>
              <a:gd name="adj" fmla="val 3871"/>
            </a:avLst>
          </a:prstGeom>
          <a:solidFill>
            <a:schemeClr val="bg1"/>
          </a:solidFill>
          <a:ln w="9525">
            <a:solidFill>
              <a:srgbClr val="D5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A2E4D">
                <a:alpha val="12000"/>
              </a:srgbClr>
            </a:outerShdw>
          </a:effectLst>
        </p:spPr>
      </p:sp>
      <p:sp>
        <p:nvSpPr>
          <p:cNvPr id="4" name="text-22"/>
          <p:cNvSpPr txBox="1"/>
          <p:nvPr/>
        </p:nvSpPr>
        <p:spPr>
          <a:xfrm>
            <a:off x="731520" y="15087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2.2B</a:t>
            </a:r>
            <a:endParaRPr lang="en-US" sz="6000" dirty="0"/>
          </a:p>
        </p:txBody>
      </p:sp>
      <p:sp>
        <p:nvSpPr>
          <p:cNvPr id="5" name="text-23"/>
          <p:cNvSpPr txBox="1"/>
          <p:nvPr/>
        </p:nvSpPr>
        <p:spPr>
          <a:xfrm>
            <a:off x="731520" y="25146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people lack safely managed drinking water</a:t>
            </a:r>
            <a:endParaRPr lang="en-US" sz="1500" dirty="0"/>
          </a:p>
        </p:txBody>
      </p:sp>
      <p:sp>
        <p:nvSpPr>
          <p:cNvPr id="6" name="text-24"/>
          <p:cNvSpPr txBox="1"/>
          <p:nvPr/>
        </p:nvSpPr>
        <p:spPr>
          <a:xfrm>
            <a:off x="731520" y="3154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Indian cities approaching “Day Zero”:</a:t>
            </a:r>
            <a:endParaRPr lang="en-US" sz="1300" dirty="0"/>
          </a:p>
        </p:txBody>
      </p:sp>
      <p:sp>
        <p:nvSpPr>
          <p:cNvPr id="7" name="pill-25"/>
          <p:cNvSpPr/>
          <p:nvPr/>
        </p:nvSpPr>
        <p:spPr>
          <a:xfrm>
            <a:off x="731520" y="3566160"/>
            <a:ext cx="914400" cy="32918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8" name="text-26"/>
          <p:cNvSpPr txBox="1"/>
          <p:nvPr/>
        </p:nvSpPr>
        <p:spPr>
          <a:xfrm>
            <a:off x="731520" y="356616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Bengaluru</a:t>
            </a:r>
            <a:endParaRPr lang="en-US" sz="1100" dirty="0"/>
          </a:p>
        </p:txBody>
      </p:sp>
      <p:sp>
        <p:nvSpPr>
          <p:cNvPr id="9" name="pill-27"/>
          <p:cNvSpPr/>
          <p:nvPr/>
        </p:nvSpPr>
        <p:spPr>
          <a:xfrm>
            <a:off x="1737360" y="3566160"/>
            <a:ext cx="914400" cy="32918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10" name="text-28"/>
          <p:cNvSpPr txBox="1"/>
          <p:nvPr/>
        </p:nvSpPr>
        <p:spPr>
          <a:xfrm>
            <a:off x="1737360" y="356616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Chennai</a:t>
            </a:r>
            <a:endParaRPr lang="en-US" sz="1100" dirty="0"/>
          </a:p>
        </p:txBody>
      </p:sp>
      <p:sp>
        <p:nvSpPr>
          <p:cNvPr id="11" name="pill-29"/>
          <p:cNvSpPr/>
          <p:nvPr/>
        </p:nvSpPr>
        <p:spPr>
          <a:xfrm>
            <a:off x="2743200" y="3566160"/>
            <a:ext cx="914400" cy="32918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12" name="text-30"/>
          <p:cNvSpPr txBox="1"/>
          <p:nvPr/>
        </p:nvSpPr>
        <p:spPr>
          <a:xfrm>
            <a:off x="2743200" y="356616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Delhi</a:t>
            </a:r>
            <a:endParaRPr lang="en-US" sz="1100" dirty="0"/>
          </a:p>
        </p:txBody>
      </p:sp>
      <p:sp>
        <p:nvSpPr>
          <p:cNvPr id="13" name="card-31"/>
          <p:cNvSpPr/>
          <p:nvPr/>
        </p:nvSpPr>
        <p:spPr>
          <a:xfrm>
            <a:off x="4206240" y="1371600"/>
            <a:ext cx="3749040" cy="2834640"/>
          </a:xfrm>
          <a:prstGeom prst="roundRect">
            <a:avLst>
              <a:gd name="adj" fmla="val 3871"/>
            </a:avLst>
          </a:prstGeom>
          <a:solidFill>
            <a:schemeClr val="bg1"/>
          </a:solidFill>
          <a:ln w="9525">
            <a:solidFill>
              <a:srgbClr val="D5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A2E4D">
                <a:alpha val="12000"/>
              </a:srgbClr>
            </a:outerShdw>
          </a:effectLst>
        </p:spPr>
      </p:sp>
      <p:sp>
        <p:nvSpPr>
          <p:cNvPr id="14" name="text-32"/>
          <p:cNvSpPr txBox="1"/>
          <p:nvPr/>
        </p:nvSpPr>
        <p:spPr>
          <a:xfrm>
            <a:off x="4480560" y="1508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What people pay today</a:t>
            </a:r>
            <a:endParaRPr lang="en-US" sz="1600" dirty="0"/>
          </a:p>
        </p:txBody>
      </p:sp>
      <p:sp>
        <p:nvSpPr>
          <p:cNvPr id="15" name="text-33"/>
          <p:cNvSpPr txBox="1"/>
          <p:nvPr/>
        </p:nvSpPr>
        <p:spPr>
          <a:xfrm>
            <a:off x="4480560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Bottled</a:t>
            </a:r>
            <a:endParaRPr lang="en-US" sz="1300" dirty="0"/>
          </a:p>
        </p:txBody>
      </p:sp>
      <p:sp>
        <p:nvSpPr>
          <p:cNvPr id="16" name="bar-34"/>
          <p:cNvSpPr/>
          <p:nvPr/>
        </p:nvSpPr>
        <p:spPr>
          <a:xfrm>
            <a:off x="4480560" y="2304288"/>
            <a:ext cx="3200400" cy="384048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17" name="text-35"/>
          <p:cNvSpPr txBox="1"/>
          <p:nvPr/>
        </p:nvSpPr>
        <p:spPr>
          <a:xfrm>
            <a:off x="4572000" y="230428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₹15–20/L</a:t>
            </a:r>
            <a:endParaRPr lang="en-US" sz="1400" dirty="0"/>
          </a:p>
        </p:txBody>
      </p:sp>
      <p:sp>
        <p:nvSpPr>
          <p:cNvPr id="18" name="text-36"/>
          <p:cNvSpPr txBox="1"/>
          <p:nvPr/>
        </p:nvSpPr>
        <p:spPr>
          <a:xfrm>
            <a:off x="4480560" y="3063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Tanker</a:t>
            </a:r>
            <a:endParaRPr lang="en-US" sz="1300" dirty="0"/>
          </a:p>
        </p:txBody>
      </p:sp>
      <p:sp>
        <p:nvSpPr>
          <p:cNvPr id="19" name="bar-37"/>
          <p:cNvSpPr/>
          <p:nvPr/>
        </p:nvSpPr>
        <p:spPr>
          <a:xfrm>
            <a:off x="4480560" y="3355848"/>
            <a:ext cx="1600200" cy="384048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/>
        </p:spPr>
      </p:sp>
      <p:sp>
        <p:nvSpPr>
          <p:cNvPr id="20" name="text-38"/>
          <p:cNvSpPr txBox="1"/>
          <p:nvPr/>
        </p:nvSpPr>
        <p:spPr>
          <a:xfrm>
            <a:off x="4572000" y="335584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₹5–10/L</a:t>
            </a:r>
            <a:endParaRPr lang="en-US" sz="1400" dirty="0"/>
          </a:p>
        </p:txBody>
      </p:sp>
      <p:sp>
        <p:nvSpPr>
          <p:cNvPr id="21" name="text-39"/>
          <p:cNvSpPr txBox="1"/>
          <p:nvPr/>
        </p:nvSpPr>
        <p:spPr>
          <a:xfrm>
            <a:off x="6172200" y="33558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Unreliable, often contaminated</a:t>
            </a:r>
            <a:endParaRPr lang="en-US" sz="1100" dirty="0"/>
          </a:p>
        </p:txBody>
      </p:sp>
      <p:sp>
        <p:nvSpPr>
          <p:cNvPr id="22" name="card-40"/>
          <p:cNvSpPr/>
          <p:nvPr/>
        </p:nvSpPr>
        <p:spPr>
          <a:xfrm>
            <a:off x="8229600" y="1371600"/>
            <a:ext cx="3502152" cy="2834640"/>
          </a:xfrm>
          <a:prstGeom prst="roundRect">
            <a:avLst>
              <a:gd name="adj" fmla="val 3871"/>
            </a:avLst>
          </a:prstGeom>
          <a:solidFill>
            <a:schemeClr val="bg1"/>
          </a:solidFill>
          <a:ln w="9525">
            <a:solidFill>
              <a:srgbClr val="D5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A2E4D">
                <a:alpha val="12000"/>
              </a:srgbClr>
            </a:outerShdw>
          </a:effectLst>
        </p:spPr>
      </p:sp>
      <p:sp>
        <p:nvSpPr>
          <p:cNvPr id="23" name="text-41"/>
          <p:cNvSpPr txBox="1"/>
          <p:nvPr/>
        </p:nvSpPr>
        <p:spPr>
          <a:xfrm>
            <a:off x="8503920" y="1508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Existing fixes fail</a:t>
            </a:r>
            <a:endParaRPr lang="en-US" sz="1600" dirty="0"/>
          </a:p>
        </p:txBody>
      </p:sp>
      <p:sp>
        <p:nvSpPr>
          <p:cNvPr id="24" name="text-42"/>
          <p:cNvSpPr txBox="1"/>
          <p:nvPr/>
        </p:nvSpPr>
        <p:spPr>
          <a:xfrm>
            <a:off x="8503920" y="196596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Desalination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Only works on the coast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Reverse osmosis (RO)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Needs a source water supply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Both fail where groundwater is depleted.</a:t>
            </a:r>
            <a:endParaRPr lang="en-US" sz="1400" dirty="0"/>
          </a:p>
        </p:txBody>
      </p:sp>
      <p:sp>
        <p:nvSpPr>
          <p:cNvPr id="25" name="card-43"/>
          <p:cNvSpPr/>
          <p:nvPr/>
        </p:nvSpPr>
        <p:spPr>
          <a:xfrm>
            <a:off x="457200" y="4389120"/>
            <a:ext cx="1127729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26" name="icon-bg-44"/>
          <p:cNvSpPr/>
          <p:nvPr/>
        </p:nvSpPr>
        <p:spPr>
          <a:xfrm>
            <a:off x="685800" y="4572000"/>
            <a:ext cx="777240" cy="7772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7" name="icon-4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4774082"/>
            <a:ext cx="373075" cy="373075"/>
          </a:xfrm>
          <a:prstGeom prst="rect">
            <a:avLst/>
          </a:prstGeom>
        </p:spPr>
      </p:pic>
      <p:sp>
        <p:nvSpPr>
          <p:cNvPr id="28" name="text-46"/>
          <p:cNvSpPr txBox="1"/>
          <p:nvPr/>
        </p:nvSpPr>
        <p:spPr>
          <a:xfrm>
            <a:off x="1691640" y="4389120"/>
            <a:ext cx="98142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Demand already exists.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Indian Railways has directed zonal railways, hospitals, staff colonies and remote level crossings to install atmospheric water generators (AWGs) where water scarcity exists.</a:t>
            </a:r>
            <a:endParaRPr lang="en-US" sz="1500" dirty="0"/>
          </a:p>
        </p:txBody>
      </p:sp>
      <p:sp>
        <p:nvSpPr>
          <p:cNvPr id="29" name="keymsg-bg-47"/>
          <p:cNvSpPr/>
          <p:nvPr/>
        </p:nvSpPr>
        <p:spPr>
          <a:xfrm>
            <a:off x="457200" y="5760720"/>
            <a:ext cx="11277295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/>
        </p:spPr>
      </p:sp>
      <p:sp>
        <p:nvSpPr>
          <p:cNvPr id="30" name="icon-bg-48"/>
          <p:cNvSpPr/>
          <p:nvPr/>
        </p:nvSpPr>
        <p:spPr>
          <a:xfrm>
            <a:off x="585216" y="586130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1" name="icon-4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4" y="5956402"/>
            <a:ext cx="175565" cy="175565"/>
          </a:xfrm>
          <a:prstGeom prst="rect">
            <a:avLst/>
          </a:prstGeom>
        </p:spPr>
      </p:pic>
      <p:sp>
        <p:nvSpPr>
          <p:cNvPr id="32" name="text-50"/>
          <p:cNvSpPr txBox="1"/>
          <p:nvPr/>
        </p:nvSpPr>
        <p:spPr>
          <a:xfrm>
            <a:off x="1097280" y="57607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The problem is not scarcity. It is the cost and logistics of delivering clean water.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forces make ultra-low-cost atmospheric water inevitable</a:t>
            </a:r>
            <a:endParaRPr lang="en-US" sz="3000" dirty="0"/>
          </a:p>
        </p:txBody>
      </p:sp>
      <p:sp>
        <p:nvSpPr>
          <p:cNvPr id="3" name="card-51"/>
          <p:cNvSpPr/>
          <p:nvPr/>
        </p:nvSpPr>
        <p:spPr>
          <a:xfrm>
            <a:off x="457200" y="1371600"/>
            <a:ext cx="347472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rgbClr val="D5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A2E4D">
                <a:alpha val="12000"/>
              </a:srgbClr>
            </a:outerShdw>
          </a:effectLst>
        </p:spPr>
      </p:sp>
      <p:sp>
        <p:nvSpPr>
          <p:cNvPr id="4" name="icon-bg-52"/>
          <p:cNvSpPr/>
          <p:nvPr/>
        </p:nvSpPr>
        <p:spPr>
          <a:xfrm>
            <a:off x="640080" y="155448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5" name="icon-5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726" y="1697126"/>
            <a:ext cx="263347" cy="263347"/>
          </a:xfrm>
          <a:prstGeom prst="rect">
            <a:avLst/>
          </a:prstGeom>
        </p:spPr>
      </p:pic>
      <p:sp>
        <p:nvSpPr>
          <p:cNvPr id="6" name="text-54"/>
          <p:cNvSpPr txBox="1"/>
          <p:nvPr/>
        </p:nvSpPr>
        <p:spPr>
          <a:xfrm>
            <a:off x="1325880" y="1554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Sorbent cost collapse</a:t>
            </a:r>
            <a:endParaRPr lang="en-US" sz="1300" dirty="0"/>
          </a:p>
        </p:txBody>
      </p:sp>
      <p:sp>
        <p:nvSpPr>
          <p:cNvPr id="7" name="text-55"/>
          <p:cNvSpPr txBox="1"/>
          <p:nvPr/>
        </p:nvSpPr>
        <p:spPr>
          <a:xfrm>
            <a:off x="1325880" y="18013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40–200x cheaper</a:t>
            </a:r>
            <a:endParaRPr lang="en-US" sz="1800" dirty="0"/>
          </a:p>
        </p:txBody>
      </p:sp>
      <p:sp>
        <p:nvSpPr>
          <p:cNvPr id="8" name="text-56"/>
          <p:cNvSpPr txBox="1"/>
          <p:nvPr/>
        </p:nvSpPr>
        <p:spPr>
          <a:xfrm>
            <a:off x="640080" y="2267712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Agri-waste and recycled-polymer sorbents cost $0.46–$2.50/kg vs $100+/kg for MOFs.</a:t>
            </a:r>
            <a:endParaRPr lang="en-US" sz="1250" dirty="0"/>
          </a:p>
        </p:txBody>
      </p:sp>
      <p:sp>
        <p:nvSpPr>
          <p:cNvPr id="9" name="card-57"/>
          <p:cNvSpPr/>
          <p:nvPr/>
        </p:nvSpPr>
        <p:spPr>
          <a:xfrm>
            <a:off x="4069080" y="1371600"/>
            <a:ext cx="347472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rgbClr val="D5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A2E4D">
                <a:alpha val="12000"/>
              </a:srgbClr>
            </a:outerShdw>
          </a:effectLst>
        </p:spPr>
      </p:sp>
      <p:sp>
        <p:nvSpPr>
          <p:cNvPr id="10" name="icon-bg-58"/>
          <p:cNvSpPr/>
          <p:nvPr/>
        </p:nvSpPr>
        <p:spPr>
          <a:xfrm>
            <a:off x="4251960" y="155448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1" name="icon-5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4606" y="1697126"/>
            <a:ext cx="263347" cy="263347"/>
          </a:xfrm>
          <a:prstGeom prst="rect">
            <a:avLst/>
          </a:prstGeom>
        </p:spPr>
      </p:pic>
      <p:sp>
        <p:nvSpPr>
          <p:cNvPr id="12" name="text-60"/>
          <p:cNvSpPr txBox="1"/>
          <p:nvPr/>
        </p:nvSpPr>
        <p:spPr>
          <a:xfrm>
            <a:off x="4937760" y="1554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Free desorption energy</a:t>
            </a:r>
            <a:endParaRPr lang="en-US" sz="1300" dirty="0"/>
          </a:p>
        </p:txBody>
      </p:sp>
      <p:sp>
        <p:nvSpPr>
          <p:cNvPr id="13" name="text-61"/>
          <p:cNvSpPr txBox="1"/>
          <p:nvPr/>
        </p:nvSpPr>
        <p:spPr>
          <a:xfrm>
            <a:off x="4937760" y="18013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134°C from the sun</a:t>
            </a:r>
            <a:endParaRPr lang="en-US" sz="1800" dirty="0"/>
          </a:p>
        </p:txBody>
      </p:sp>
      <p:sp>
        <p:nvSpPr>
          <p:cNvPr id="14" name="text-62"/>
          <p:cNvSpPr txBox="1"/>
          <p:nvPr/>
        </p:nvSpPr>
        <p:spPr>
          <a:xfrm>
            <a:off x="4251960" y="2267712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Solar thermal regenerates sorbents at zero marginal electricity. Photothermal hydrogels self-regenerate at 71°C under 0.5 sun.</a:t>
            </a:r>
            <a:endParaRPr lang="en-US" sz="1250" dirty="0"/>
          </a:p>
        </p:txBody>
      </p:sp>
      <p:sp>
        <p:nvSpPr>
          <p:cNvPr id="15" name="card-63"/>
          <p:cNvSpPr/>
          <p:nvPr/>
        </p:nvSpPr>
        <p:spPr>
          <a:xfrm>
            <a:off x="457200" y="3520440"/>
            <a:ext cx="347472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rgbClr val="D5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A2E4D">
                <a:alpha val="12000"/>
              </a:srgbClr>
            </a:outerShdw>
          </a:effectLst>
        </p:spPr>
      </p:sp>
      <p:sp>
        <p:nvSpPr>
          <p:cNvPr id="16" name="icon-bg-64"/>
          <p:cNvSpPr/>
          <p:nvPr/>
        </p:nvSpPr>
        <p:spPr>
          <a:xfrm>
            <a:off x="640080" y="3703320"/>
            <a:ext cx="548640" cy="548640"/>
          </a:xfrm>
          <a:prstGeom prst="ellipse">
            <a:avLst/>
          </a:prstGeom>
          <a:solidFill>
            <a:srgbClr val="E8702A"/>
          </a:solidFill>
          <a:ln/>
        </p:spPr>
      </p:sp>
      <p:pic>
        <p:nvPicPr>
          <p:cNvPr id="17" name="icon-6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26" y="3845966"/>
            <a:ext cx="263347" cy="263347"/>
          </a:xfrm>
          <a:prstGeom prst="rect">
            <a:avLst/>
          </a:prstGeom>
        </p:spPr>
      </p:pic>
      <p:sp>
        <p:nvSpPr>
          <p:cNvPr id="18" name="text-66"/>
          <p:cNvSpPr txBox="1"/>
          <p:nvPr/>
        </p:nvSpPr>
        <p:spPr>
          <a:xfrm>
            <a:off x="1325880" y="3703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Waste heat everywhere</a:t>
            </a:r>
            <a:endParaRPr lang="en-US" sz="1300" dirty="0"/>
          </a:p>
        </p:txBody>
      </p:sp>
      <p:sp>
        <p:nvSpPr>
          <p:cNvPr id="19" name="text-67"/>
          <p:cNvSpPr txBox="1"/>
          <p:nvPr/>
        </p:nvSpPr>
        <p:spPr>
          <a:xfrm>
            <a:off x="1325880" y="395020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−34.4% energy</a:t>
            </a:r>
            <a:endParaRPr lang="en-US" sz="1800" dirty="0"/>
          </a:p>
        </p:txBody>
      </p:sp>
      <p:sp>
        <p:nvSpPr>
          <p:cNvPr id="20" name="text-68"/>
          <p:cNvSpPr txBox="1"/>
          <p:nvPr/>
        </p:nvSpPr>
        <p:spPr>
          <a:xfrm>
            <a:off x="640080" y="4416552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Hybrid systems hit 315 Wh/kg (50% RH, 30°C). Passive hybrid designs reach 0.2 kWh/L.</a:t>
            </a:r>
            <a:endParaRPr lang="en-US" sz="1250" dirty="0"/>
          </a:p>
        </p:txBody>
      </p:sp>
      <p:sp>
        <p:nvSpPr>
          <p:cNvPr id="21" name="card-69"/>
          <p:cNvSpPr/>
          <p:nvPr/>
        </p:nvSpPr>
        <p:spPr>
          <a:xfrm>
            <a:off x="4069080" y="3520440"/>
            <a:ext cx="347472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rgbClr val="D5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A2E4D">
                <a:alpha val="12000"/>
              </a:srgbClr>
            </a:outerShdw>
          </a:effectLst>
        </p:spPr>
      </p:sp>
      <p:sp>
        <p:nvSpPr>
          <p:cNvPr id="22" name="icon-bg-70"/>
          <p:cNvSpPr/>
          <p:nvPr/>
        </p:nvSpPr>
        <p:spPr>
          <a:xfrm>
            <a:off x="4251960" y="37033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icon-7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4606" y="3845966"/>
            <a:ext cx="263347" cy="263347"/>
          </a:xfrm>
          <a:prstGeom prst="rect">
            <a:avLst/>
          </a:prstGeom>
        </p:spPr>
      </p:pic>
      <p:sp>
        <p:nvSpPr>
          <p:cNvPr id="24" name="text-72"/>
          <p:cNvSpPr txBox="1"/>
          <p:nvPr/>
        </p:nvSpPr>
        <p:spPr>
          <a:xfrm>
            <a:off x="4937760" y="3703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Policy tailwind</a:t>
            </a:r>
            <a:endParaRPr lang="en-US" sz="1300" dirty="0"/>
          </a:p>
        </p:txBody>
      </p:sp>
      <p:sp>
        <p:nvSpPr>
          <p:cNvPr id="25" name="text-73"/>
          <p:cNvSpPr txBox="1"/>
          <p:nvPr/>
        </p:nvSpPr>
        <p:spPr>
          <a:xfrm>
            <a:off x="4937760" y="395020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Govt. demand now</a:t>
            </a:r>
            <a:endParaRPr lang="en-US" sz="1800" dirty="0"/>
          </a:p>
        </p:txBody>
      </p:sp>
      <p:sp>
        <p:nvSpPr>
          <p:cNvPr id="26" name="text-74"/>
          <p:cNvSpPr txBox="1"/>
          <p:nvPr/>
        </p:nvSpPr>
        <p:spPr>
          <a:xfrm>
            <a:off x="4251960" y="4416552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Indian Railways AWG mandate = immediate government procurement demand.</a:t>
            </a:r>
            <a:endParaRPr lang="en-US" sz="1250" dirty="0"/>
          </a:p>
        </p:txBody>
      </p:sp>
      <p:sp>
        <p:nvSpPr>
          <p:cNvPr id="27" name="card-75"/>
          <p:cNvSpPr/>
          <p:nvPr/>
        </p:nvSpPr>
        <p:spPr>
          <a:xfrm>
            <a:off x="7726680" y="1371600"/>
            <a:ext cx="4005072" cy="4160520"/>
          </a:xfrm>
          <a:prstGeom prst="roundRect">
            <a:avLst>
              <a:gd name="adj" fmla="val 2740"/>
            </a:avLst>
          </a:prstGeom>
          <a:solidFill>
            <a:schemeClr val="bg1"/>
          </a:solidFill>
          <a:ln w="9525">
            <a:solidFill>
              <a:srgbClr val="D5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A2E4D">
                <a:alpha val="12000"/>
              </a:srgbClr>
            </a:outerShdw>
          </a:effectLst>
        </p:spPr>
      </p:sp>
      <p:graphicFrame>
        <p:nvGraphicFramePr>
          <p:cNvPr id="28" name="chart-awg-market" descr=""/>
          <p:cNvGraphicFramePr/>
          <p:nvPr/>
        </p:nvGraphicFramePr>
        <p:xfrm>
          <a:off x="7863840" y="1508760"/>
          <a:ext cx="37490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9" name="text-76"/>
          <p:cNvSpPr txBox="1"/>
          <p:nvPr/>
        </p:nvSpPr>
        <p:spPr>
          <a:xfrm>
            <a:off x="7909560" y="4892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8.70% CAGR → $1.158B by 2034</a:t>
            </a:r>
            <a:endParaRPr lang="en-US" sz="1500" dirty="0"/>
          </a:p>
        </p:txBody>
      </p:sp>
      <p:sp>
        <p:nvSpPr>
          <p:cNvPr id="30" name="keymsg-bg-77"/>
          <p:cNvSpPr/>
          <p:nvPr/>
        </p:nvSpPr>
        <p:spPr>
          <a:xfrm>
            <a:off x="457200" y="5760720"/>
            <a:ext cx="11277295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/>
        </p:spPr>
      </p:sp>
      <p:sp>
        <p:nvSpPr>
          <p:cNvPr id="31" name="icon-bg-78"/>
          <p:cNvSpPr/>
          <p:nvPr/>
        </p:nvSpPr>
        <p:spPr>
          <a:xfrm>
            <a:off x="585216" y="586130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2" name="icon-79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314" y="5956402"/>
            <a:ext cx="175565" cy="175565"/>
          </a:xfrm>
          <a:prstGeom prst="rect">
            <a:avLst/>
          </a:prstGeom>
        </p:spPr>
      </p:pic>
      <p:sp>
        <p:nvSpPr>
          <p:cNvPr id="33" name="text-80"/>
          <p:cNvSpPr txBox="1"/>
          <p:nvPr/>
        </p:nvSpPr>
        <p:spPr>
          <a:xfrm>
            <a:off x="1097280" y="57607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The economics flipped. Water from air is no longer a premium product — it is the cheap one.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sorption + solar thermal + waste heat + 5-stage filtration, as a service</a:t>
            </a:r>
            <a:endParaRPr lang="en-US" sz="3000" dirty="0"/>
          </a:p>
        </p:txBody>
      </p:sp>
      <p:sp>
        <p:nvSpPr>
          <p:cNvPr id="3" name="icon-bg-81"/>
          <p:cNvSpPr/>
          <p:nvPr/>
        </p:nvSpPr>
        <p:spPr>
          <a:xfrm>
            <a:off x="874101" y="137160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" name="icon-8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183" y="1573682"/>
            <a:ext cx="373075" cy="373075"/>
          </a:xfrm>
          <a:prstGeom prst="rect">
            <a:avLst/>
          </a:prstGeom>
        </p:spPr>
      </p:pic>
      <p:sp>
        <p:nvSpPr>
          <p:cNvPr id="5" name="text-83"/>
          <p:cNvSpPr txBox="1"/>
          <p:nvPr/>
        </p:nvSpPr>
        <p:spPr>
          <a:xfrm>
            <a:off x="457200" y="2212848"/>
            <a:ext cx="16110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Air</a:t>
            </a:r>
            <a:endParaRPr lang="en-US" sz="1200" dirty="0"/>
          </a:p>
        </p:txBody>
      </p:sp>
      <p:sp>
        <p:nvSpPr>
          <p:cNvPr id="6" name="arrow-84"/>
          <p:cNvSpPr/>
          <p:nvPr/>
        </p:nvSpPr>
        <p:spPr>
          <a:xfrm>
            <a:off x="1715349" y="1760220"/>
            <a:ext cx="696642" cy="0"/>
          </a:xfrm>
          <a:prstGeom prst="line">
            <a:avLst/>
          </a:prstGeom>
          <a:noFill/>
          <a:ln w="22225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7" name="icon-bg-85"/>
          <p:cNvSpPr/>
          <p:nvPr/>
        </p:nvSpPr>
        <p:spPr>
          <a:xfrm>
            <a:off x="2485143" y="1371600"/>
            <a:ext cx="777240" cy="7772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8" name="icon-8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7226" y="1573682"/>
            <a:ext cx="373075" cy="373075"/>
          </a:xfrm>
          <a:prstGeom prst="rect">
            <a:avLst/>
          </a:prstGeom>
        </p:spPr>
      </p:pic>
      <p:sp>
        <p:nvSpPr>
          <p:cNvPr id="9" name="text-87"/>
          <p:cNvSpPr txBox="1"/>
          <p:nvPr/>
        </p:nvSpPr>
        <p:spPr>
          <a:xfrm>
            <a:off x="2068242" y="2212848"/>
            <a:ext cx="16110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Sorbent bed</a:t>
            </a:r>
            <a:endParaRPr lang="en-US" sz="1200" dirty="0"/>
          </a:p>
        </p:txBody>
      </p:sp>
      <p:sp>
        <p:nvSpPr>
          <p:cNvPr id="10" name="arrow-88"/>
          <p:cNvSpPr/>
          <p:nvPr/>
        </p:nvSpPr>
        <p:spPr>
          <a:xfrm>
            <a:off x="3326391" y="1760220"/>
            <a:ext cx="696642" cy="0"/>
          </a:xfrm>
          <a:prstGeom prst="line">
            <a:avLst/>
          </a:prstGeom>
          <a:noFill/>
          <a:ln w="22225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11" name="icon-bg-89"/>
          <p:cNvSpPr/>
          <p:nvPr/>
        </p:nvSpPr>
        <p:spPr>
          <a:xfrm>
            <a:off x="4096185" y="1371600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2" name="icon-9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8268" y="1573682"/>
            <a:ext cx="373075" cy="373075"/>
          </a:xfrm>
          <a:prstGeom prst="rect">
            <a:avLst/>
          </a:prstGeom>
        </p:spPr>
      </p:pic>
      <p:sp>
        <p:nvSpPr>
          <p:cNvPr id="13" name="text-91"/>
          <p:cNvSpPr txBox="1"/>
          <p:nvPr/>
        </p:nvSpPr>
        <p:spPr>
          <a:xfrm>
            <a:off x="3679284" y="2212848"/>
            <a:ext cx="16110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Solar / waste-heat desorption</a:t>
            </a:r>
            <a:endParaRPr lang="en-US" sz="1200" dirty="0"/>
          </a:p>
        </p:txBody>
      </p:sp>
      <p:sp>
        <p:nvSpPr>
          <p:cNvPr id="14" name="arrow-92"/>
          <p:cNvSpPr/>
          <p:nvPr/>
        </p:nvSpPr>
        <p:spPr>
          <a:xfrm>
            <a:off x="4937433" y="1760220"/>
            <a:ext cx="696642" cy="0"/>
          </a:xfrm>
          <a:prstGeom prst="line">
            <a:avLst/>
          </a:prstGeom>
          <a:noFill/>
          <a:ln w="22225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15" name="icon-bg-93"/>
          <p:cNvSpPr/>
          <p:nvPr/>
        </p:nvSpPr>
        <p:spPr>
          <a:xfrm>
            <a:off x="5707228" y="137160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con-9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9310" y="1573682"/>
            <a:ext cx="373075" cy="373075"/>
          </a:xfrm>
          <a:prstGeom prst="rect">
            <a:avLst/>
          </a:prstGeom>
        </p:spPr>
      </p:pic>
      <p:sp>
        <p:nvSpPr>
          <p:cNvPr id="17" name="text-95"/>
          <p:cNvSpPr txBox="1"/>
          <p:nvPr/>
        </p:nvSpPr>
        <p:spPr>
          <a:xfrm>
            <a:off x="5290327" y="2212848"/>
            <a:ext cx="16110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Condenser</a:t>
            </a:r>
            <a:endParaRPr lang="en-US" sz="1200" dirty="0"/>
          </a:p>
        </p:txBody>
      </p:sp>
      <p:sp>
        <p:nvSpPr>
          <p:cNvPr id="18" name="arrow-96"/>
          <p:cNvSpPr/>
          <p:nvPr/>
        </p:nvSpPr>
        <p:spPr>
          <a:xfrm>
            <a:off x="6548476" y="1760220"/>
            <a:ext cx="696642" cy="0"/>
          </a:xfrm>
          <a:prstGeom prst="line">
            <a:avLst/>
          </a:prstGeom>
          <a:noFill/>
          <a:ln w="22225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19" name="icon-bg-97"/>
          <p:cNvSpPr/>
          <p:nvPr/>
        </p:nvSpPr>
        <p:spPr>
          <a:xfrm>
            <a:off x="7318270" y="1371600"/>
            <a:ext cx="777240" cy="7772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0" name="icon-98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0352" y="1573682"/>
            <a:ext cx="373075" cy="373075"/>
          </a:xfrm>
          <a:prstGeom prst="rect">
            <a:avLst/>
          </a:prstGeom>
        </p:spPr>
      </p:pic>
      <p:sp>
        <p:nvSpPr>
          <p:cNvPr id="21" name="text-99"/>
          <p:cNvSpPr txBox="1"/>
          <p:nvPr/>
        </p:nvSpPr>
        <p:spPr>
          <a:xfrm>
            <a:off x="6901369" y="2212848"/>
            <a:ext cx="16110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5-stage filtration</a:t>
            </a:r>
            <a:endParaRPr lang="en-US" sz="1200" dirty="0"/>
          </a:p>
        </p:txBody>
      </p:sp>
      <p:sp>
        <p:nvSpPr>
          <p:cNvPr id="22" name="arrow-100"/>
          <p:cNvSpPr/>
          <p:nvPr/>
        </p:nvSpPr>
        <p:spPr>
          <a:xfrm>
            <a:off x="8159518" y="1760220"/>
            <a:ext cx="696642" cy="0"/>
          </a:xfrm>
          <a:prstGeom prst="line">
            <a:avLst/>
          </a:prstGeom>
          <a:noFill/>
          <a:ln w="22225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23" name="icon-bg-101"/>
          <p:cNvSpPr/>
          <p:nvPr/>
        </p:nvSpPr>
        <p:spPr>
          <a:xfrm>
            <a:off x="8929312" y="137160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4" name="icon-102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1394" y="1573682"/>
            <a:ext cx="373075" cy="373075"/>
          </a:xfrm>
          <a:prstGeom prst="rect">
            <a:avLst/>
          </a:prstGeom>
        </p:spPr>
      </p:pic>
      <p:sp>
        <p:nvSpPr>
          <p:cNvPr id="25" name="text-103"/>
          <p:cNvSpPr txBox="1"/>
          <p:nvPr/>
        </p:nvSpPr>
        <p:spPr>
          <a:xfrm>
            <a:off x="8512411" y="2212848"/>
            <a:ext cx="16110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Potable water</a:t>
            </a:r>
            <a:endParaRPr lang="en-US" sz="1200" dirty="0"/>
          </a:p>
        </p:txBody>
      </p:sp>
      <p:sp>
        <p:nvSpPr>
          <p:cNvPr id="26" name="arrow-104"/>
          <p:cNvSpPr/>
          <p:nvPr/>
        </p:nvSpPr>
        <p:spPr>
          <a:xfrm>
            <a:off x="9770560" y="1760220"/>
            <a:ext cx="696642" cy="0"/>
          </a:xfrm>
          <a:prstGeom prst="line">
            <a:avLst/>
          </a:prstGeom>
          <a:noFill/>
          <a:ln w="22225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27" name="icon-bg-105"/>
          <p:cNvSpPr/>
          <p:nvPr/>
        </p:nvSpPr>
        <p:spPr>
          <a:xfrm>
            <a:off x="10540354" y="1371600"/>
            <a:ext cx="777240" cy="7772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8" name="icon-10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42437" y="1573682"/>
            <a:ext cx="373075" cy="373075"/>
          </a:xfrm>
          <a:prstGeom prst="rect">
            <a:avLst/>
          </a:prstGeom>
        </p:spPr>
      </p:pic>
      <p:sp>
        <p:nvSpPr>
          <p:cNvPr id="29" name="text-107"/>
          <p:cNvSpPr txBox="1"/>
          <p:nvPr/>
        </p:nvSpPr>
        <p:spPr>
          <a:xfrm>
            <a:off x="10123453" y="2212848"/>
            <a:ext cx="16110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Customer</a:t>
            </a:r>
            <a:endParaRPr lang="en-US" sz="1200" dirty="0"/>
          </a:p>
        </p:txBody>
      </p:sp>
      <p:sp>
        <p:nvSpPr>
          <p:cNvPr id="30" name="card-108"/>
          <p:cNvSpPr/>
          <p:nvPr/>
        </p:nvSpPr>
        <p:spPr>
          <a:xfrm>
            <a:off x="457200" y="2926080"/>
            <a:ext cx="2109155" cy="2606040"/>
          </a:xfrm>
          <a:prstGeom prst="roundRect">
            <a:avLst>
              <a:gd name="adj" fmla="val 5202"/>
            </a:avLst>
          </a:prstGeom>
          <a:solidFill>
            <a:schemeClr val="bg1"/>
          </a:solidFill>
          <a:ln w="9525">
            <a:solidFill>
              <a:srgbClr val="D5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A2E4D">
                <a:alpha val="12000"/>
              </a:srgbClr>
            </a:outerShdw>
          </a:effectLst>
        </p:spPr>
      </p:sp>
      <p:sp>
        <p:nvSpPr>
          <p:cNvPr id="31" name="text-109"/>
          <p:cNvSpPr txBox="1"/>
          <p:nvPr/>
        </p:nvSpPr>
        <p:spPr>
          <a:xfrm>
            <a:off x="640080" y="30632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32" name="text-110"/>
          <p:cNvSpPr txBox="1"/>
          <p:nvPr/>
        </p:nvSpPr>
        <p:spPr>
          <a:xfrm>
            <a:off x="640080" y="3520440"/>
            <a:ext cx="17433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Extract</a:t>
            </a:r>
            <a:endParaRPr lang="en-US" sz="1600" dirty="0"/>
          </a:p>
        </p:txBody>
      </p:sp>
      <p:sp>
        <p:nvSpPr>
          <p:cNvPr id="33" name="text-111"/>
          <p:cNvSpPr txBox="1"/>
          <p:nvPr/>
        </p:nvSpPr>
        <p:spPr>
          <a:xfrm>
            <a:off x="640080" y="3931920"/>
            <a:ext cx="178911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Ultra-low-cost sorbent captures moisture from ambient air at 30–80% RH.</a:t>
            </a:r>
            <a:endParaRPr lang="en-US" sz="1300" dirty="0"/>
          </a:p>
        </p:txBody>
      </p:sp>
      <p:sp>
        <p:nvSpPr>
          <p:cNvPr id="34" name="card-112"/>
          <p:cNvSpPr/>
          <p:nvPr/>
        </p:nvSpPr>
        <p:spPr>
          <a:xfrm>
            <a:off x="2749235" y="2926080"/>
            <a:ext cx="2109155" cy="2606040"/>
          </a:xfrm>
          <a:prstGeom prst="roundRect">
            <a:avLst>
              <a:gd name="adj" fmla="val 5202"/>
            </a:avLst>
          </a:prstGeom>
          <a:solidFill>
            <a:schemeClr val="bg1"/>
          </a:solidFill>
          <a:ln w="9525">
            <a:solidFill>
              <a:srgbClr val="D5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A2E4D">
                <a:alpha val="12000"/>
              </a:srgbClr>
            </a:outerShdw>
          </a:effectLst>
        </p:spPr>
      </p:sp>
      <p:sp>
        <p:nvSpPr>
          <p:cNvPr id="35" name="text-113"/>
          <p:cNvSpPr txBox="1"/>
          <p:nvPr/>
        </p:nvSpPr>
        <p:spPr>
          <a:xfrm>
            <a:off x="2932115" y="30632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36" name="text-114"/>
          <p:cNvSpPr txBox="1"/>
          <p:nvPr/>
        </p:nvSpPr>
        <p:spPr>
          <a:xfrm>
            <a:off x="2932115" y="3520440"/>
            <a:ext cx="17433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Regenerate</a:t>
            </a:r>
            <a:endParaRPr lang="en-US" sz="1600" dirty="0"/>
          </a:p>
        </p:txBody>
      </p:sp>
      <p:sp>
        <p:nvSpPr>
          <p:cNvPr id="37" name="text-115"/>
          <p:cNvSpPr txBox="1"/>
          <p:nvPr/>
        </p:nvSpPr>
        <p:spPr>
          <a:xfrm>
            <a:off x="2932115" y="3931920"/>
            <a:ext cx="178911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Solar thermal (134°C) and recovered waste heat release the vapour at near-zero marginal energy cost.</a:t>
            </a:r>
            <a:endParaRPr lang="en-US" sz="1300" dirty="0"/>
          </a:p>
        </p:txBody>
      </p:sp>
      <p:sp>
        <p:nvSpPr>
          <p:cNvPr id="38" name="card-116"/>
          <p:cNvSpPr/>
          <p:nvPr/>
        </p:nvSpPr>
        <p:spPr>
          <a:xfrm>
            <a:off x="5041270" y="2926080"/>
            <a:ext cx="2109155" cy="2606040"/>
          </a:xfrm>
          <a:prstGeom prst="roundRect">
            <a:avLst>
              <a:gd name="adj" fmla="val 5202"/>
            </a:avLst>
          </a:prstGeom>
          <a:solidFill>
            <a:schemeClr val="bg1"/>
          </a:solidFill>
          <a:ln w="9525">
            <a:solidFill>
              <a:srgbClr val="D5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A2E4D">
                <a:alpha val="12000"/>
              </a:srgbClr>
            </a:outerShdw>
          </a:effectLst>
        </p:spPr>
      </p:sp>
      <p:sp>
        <p:nvSpPr>
          <p:cNvPr id="39" name="text-117"/>
          <p:cNvSpPr txBox="1"/>
          <p:nvPr/>
        </p:nvSpPr>
        <p:spPr>
          <a:xfrm>
            <a:off x="5224150" y="30632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40" name="text-118"/>
          <p:cNvSpPr txBox="1"/>
          <p:nvPr/>
        </p:nvSpPr>
        <p:spPr>
          <a:xfrm>
            <a:off x="5224150" y="3520440"/>
            <a:ext cx="17433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Condense &amp; filter</a:t>
            </a:r>
            <a:endParaRPr lang="en-US" sz="1600" dirty="0"/>
          </a:p>
        </p:txBody>
      </p:sp>
      <p:sp>
        <p:nvSpPr>
          <p:cNvPr id="41" name="text-119"/>
          <p:cNvSpPr txBox="1"/>
          <p:nvPr/>
        </p:nvSpPr>
        <p:spPr>
          <a:xfrm>
            <a:off x="5224150" y="3931920"/>
            <a:ext cx="178911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5 stages: sediment, activated carbon, optional RO, UV sterilisation, mineralisation.</a:t>
            </a:r>
            <a:endParaRPr lang="en-US" sz="1300" dirty="0"/>
          </a:p>
        </p:txBody>
      </p:sp>
      <p:sp>
        <p:nvSpPr>
          <p:cNvPr id="42" name="card-120"/>
          <p:cNvSpPr/>
          <p:nvPr/>
        </p:nvSpPr>
        <p:spPr>
          <a:xfrm>
            <a:off x="7333305" y="2926080"/>
            <a:ext cx="2109155" cy="2606040"/>
          </a:xfrm>
          <a:prstGeom prst="roundRect">
            <a:avLst>
              <a:gd name="adj" fmla="val 5202"/>
            </a:avLst>
          </a:prstGeom>
          <a:solidFill>
            <a:schemeClr val="bg1"/>
          </a:solidFill>
          <a:ln w="9525">
            <a:solidFill>
              <a:srgbClr val="D5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A2E4D">
                <a:alpha val="12000"/>
              </a:srgbClr>
            </a:outerShdw>
          </a:effectLst>
        </p:spPr>
      </p:sp>
      <p:sp>
        <p:nvSpPr>
          <p:cNvPr id="43" name="text-121"/>
          <p:cNvSpPr txBox="1"/>
          <p:nvPr/>
        </p:nvSpPr>
        <p:spPr>
          <a:xfrm>
            <a:off x="7516185" y="30632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44" name="text-122"/>
          <p:cNvSpPr txBox="1"/>
          <p:nvPr/>
        </p:nvSpPr>
        <p:spPr>
          <a:xfrm>
            <a:off x="7516185" y="3520440"/>
            <a:ext cx="17433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Deliver</a:t>
            </a:r>
            <a:endParaRPr lang="en-US" sz="1600" dirty="0"/>
          </a:p>
        </p:txBody>
      </p:sp>
      <p:sp>
        <p:nvSpPr>
          <p:cNvPr id="45" name="text-123"/>
          <p:cNvSpPr txBox="1"/>
          <p:nvPr/>
        </p:nvSpPr>
        <p:spPr>
          <a:xfrm>
            <a:off x="7516185" y="3931920"/>
            <a:ext cx="178911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Water-as-a-Service subscriptions, equipment leasing, franchise deployment.</a:t>
            </a:r>
            <a:endParaRPr lang="en-US" sz="1300" dirty="0"/>
          </a:p>
        </p:txBody>
      </p:sp>
      <p:sp>
        <p:nvSpPr>
          <p:cNvPr id="46" name="card-124"/>
          <p:cNvSpPr/>
          <p:nvPr/>
        </p:nvSpPr>
        <p:spPr>
          <a:xfrm>
            <a:off x="9625340" y="2926080"/>
            <a:ext cx="2109155" cy="2606040"/>
          </a:xfrm>
          <a:prstGeom prst="roundRect">
            <a:avLst>
              <a:gd name="adj" fmla="val 5202"/>
            </a:avLst>
          </a:prstGeom>
          <a:solidFill>
            <a:schemeClr val="bg1"/>
          </a:solidFill>
          <a:ln w="9525">
            <a:solidFill>
              <a:srgbClr val="D5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A2E4D">
                <a:alpha val="12000"/>
              </a:srgbClr>
            </a:outerShdw>
          </a:effectLst>
        </p:spPr>
      </p:sp>
      <p:sp>
        <p:nvSpPr>
          <p:cNvPr id="47" name="text-125"/>
          <p:cNvSpPr txBox="1"/>
          <p:nvPr/>
        </p:nvSpPr>
        <p:spPr>
          <a:xfrm>
            <a:off x="9808220" y="30632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48" name="text-126"/>
          <p:cNvSpPr txBox="1"/>
          <p:nvPr/>
        </p:nvSpPr>
        <p:spPr>
          <a:xfrm>
            <a:off x="9808220" y="3520440"/>
            <a:ext cx="17433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Certify</a:t>
            </a:r>
            <a:endParaRPr lang="en-US" sz="1600" dirty="0"/>
          </a:p>
        </p:txBody>
      </p:sp>
      <p:sp>
        <p:nvSpPr>
          <p:cNvPr id="49" name="text-127"/>
          <p:cNvSpPr txBox="1"/>
          <p:nvPr/>
        </p:nvSpPr>
        <p:spPr>
          <a:xfrm>
            <a:off x="9808220" y="3931920"/>
            <a:ext cx="178911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ASSE 1090, BIS, NSF/ANSI 372, WHO Guidelines.</a:t>
            </a:r>
            <a:endParaRPr lang="en-US" sz="1300" dirty="0"/>
          </a:p>
        </p:txBody>
      </p:sp>
      <p:sp>
        <p:nvSpPr>
          <p:cNvPr id="50" name="keymsg-bg-128"/>
          <p:cNvSpPr/>
          <p:nvPr/>
        </p:nvSpPr>
        <p:spPr>
          <a:xfrm>
            <a:off x="457200" y="5760720"/>
            <a:ext cx="11277295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/>
        </p:spPr>
      </p:sp>
      <p:sp>
        <p:nvSpPr>
          <p:cNvPr id="51" name="icon-bg-129"/>
          <p:cNvSpPr/>
          <p:nvPr/>
        </p:nvSpPr>
        <p:spPr>
          <a:xfrm>
            <a:off x="585216" y="586130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2" name="icon-130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314" y="5956402"/>
            <a:ext cx="175565" cy="175565"/>
          </a:xfrm>
          <a:prstGeom prst="rect">
            <a:avLst/>
          </a:prstGeom>
        </p:spPr>
      </p:pic>
      <p:sp>
        <p:nvSpPr>
          <p:cNvPr id="53" name="text-131"/>
          <p:cNvSpPr txBox="1"/>
          <p:nvPr/>
        </p:nvSpPr>
        <p:spPr>
          <a:xfrm>
            <a:off x="1097280" y="57607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We do not sell machines. We sell certified water at a fraction of bottled-water cost.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$0.005–$0.01 per litre. Here is exactly how we get there</a:t>
            </a:r>
            <a:endParaRPr lang="en-US" sz="3000" dirty="0"/>
          </a:p>
        </p:txBody>
      </p:sp>
      <p:sp>
        <p:nvSpPr>
          <p:cNvPr id="3" name="card-132"/>
          <p:cNvSpPr/>
          <p:nvPr/>
        </p:nvSpPr>
        <p:spPr>
          <a:xfrm>
            <a:off x="457200" y="1371600"/>
            <a:ext cx="3200400" cy="4160520"/>
          </a:xfrm>
          <a:prstGeom prst="roundRect">
            <a:avLst>
              <a:gd name="adj" fmla="val 3429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A2E4D">
                <a:alpha val="12000"/>
              </a:srgbClr>
            </a:outerShdw>
          </a:effectLst>
        </p:spPr>
      </p:sp>
      <p:sp>
        <p:nvSpPr>
          <p:cNvPr id="4" name="text-133"/>
          <p:cNvSpPr txBox="1"/>
          <p:nvPr/>
        </p:nvSpPr>
        <p:spPr>
          <a:xfrm>
            <a:off x="731520" y="1600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LCOW at scale</a:t>
            </a:r>
            <a:endParaRPr lang="en-US" sz="1400" dirty="0"/>
          </a:p>
        </p:txBody>
      </p:sp>
      <p:sp>
        <p:nvSpPr>
          <p:cNvPr id="5" name="text-134"/>
          <p:cNvSpPr txBox="1"/>
          <p:nvPr/>
        </p:nvSpPr>
        <p:spPr>
          <a:xfrm>
            <a:off x="731520" y="19659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$0.005–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$0.01</a:t>
            </a:r>
            <a:endParaRPr lang="en-US" sz="4400" dirty="0"/>
          </a:p>
        </p:txBody>
      </p:sp>
      <p:sp>
        <p:nvSpPr>
          <p:cNvPr id="6" name="text-135"/>
          <p:cNvSpPr txBox="1"/>
          <p:nvPr/>
        </p:nvSpPr>
        <p:spPr>
          <a:xfrm>
            <a:off x="73152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per litre</a:t>
            </a:r>
            <a:endParaRPr lang="en-US" sz="1600" dirty="0"/>
          </a:p>
        </p:txBody>
      </p:sp>
      <p:sp>
        <p:nvSpPr>
          <p:cNvPr id="7" name="text-136"/>
          <p:cNvSpPr txBox="1"/>
          <p:nvPr/>
        </p:nvSpPr>
        <p:spPr>
          <a:xfrm>
            <a:off x="731520" y="397764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75–87%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below conventional AWG ($0.02–$0.04/L)</a:t>
            </a:r>
            <a:endParaRPr lang="en-US" sz="1400" dirty="0"/>
          </a:p>
        </p:txBody>
      </p:sp>
      <p:sp>
        <p:nvSpPr>
          <p:cNvPr id="8" name="text-137"/>
          <p:cNvSpPr txBox="1"/>
          <p:nvPr/>
        </p:nvSpPr>
        <p:spPr>
          <a:xfrm>
            <a:off x="731520" y="4800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= ₹0.40–₹0.80 per litre</a:t>
            </a:r>
            <a:endParaRPr lang="en-US" sz="1400" dirty="0"/>
          </a:p>
        </p:txBody>
      </p:sp>
      <p:sp>
        <p:nvSpPr>
          <p:cNvPr id="9" name="text-138"/>
          <p:cNvSpPr txBox="1"/>
          <p:nvPr/>
        </p:nvSpPr>
        <p:spPr>
          <a:xfrm>
            <a:off x="4023360" y="1371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COST DRIVER</a:t>
            </a:r>
            <a:endParaRPr lang="en-US" sz="1100" dirty="0"/>
          </a:p>
        </p:txBody>
      </p:sp>
      <p:sp>
        <p:nvSpPr>
          <p:cNvPr id="10" name="text-139"/>
          <p:cNvSpPr txBox="1"/>
          <p:nvPr/>
        </p:nvSpPr>
        <p:spPr>
          <a:xfrm>
            <a:off x="6035040" y="1371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CONVENTIONAL AWG</a:t>
            </a:r>
            <a:endParaRPr lang="en-US" sz="1100" dirty="0"/>
          </a:p>
        </p:txBody>
      </p:sp>
      <p:sp>
        <p:nvSpPr>
          <p:cNvPr id="11" name="text-140"/>
          <p:cNvSpPr txBox="1"/>
          <p:nvPr/>
        </p:nvSpPr>
        <p:spPr>
          <a:xfrm>
            <a:off x="8138160" y="1371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ACQUAHT</a:t>
            </a:r>
            <a:endParaRPr lang="en-US" sz="1100" dirty="0"/>
          </a:p>
        </p:txBody>
      </p:sp>
      <p:sp>
        <p:nvSpPr>
          <p:cNvPr id="12" name="text-141"/>
          <p:cNvSpPr txBox="1"/>
          <p:nvPr/>
        </p:nvSpPr>
        <p:spPr>
          <a:xfrm>
            <a:off x="10591495" y="1371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CUT</a:t>
            </a:r>
            <a:endParaRPr lang="en-US" sz="1100" dirty="0"/>
          </a:p>
        </p:txBody>
      </p:sp>
      <p:sp>
        <p:nvSpPr>
          <p:cNvPr id="13" name="card-142"/>
          <p:cNvSpPr/>
          <p:nvPr/>
        </p:nvSpPr>
        <p:spPr>
          <a:xfrm>
            <a:off x="3886200" y="1691640"/>
            <a:ext cx="7848295" cy="676656"/>
          </a:xfrm>
          <a:prstGeom prst="roundRect">
            <a:avLst>
              <a:gd name="adj" fmla="val 16216"/>
            </a:avLst>
          </a:prstGeom>
          <a:solidFill>
            <a:schemeClr val="bg1"/>
          </a:solidFill>
          <a:ln w="9525">
            <a:solidFill>
              <a:srgbClr val="D5E3EC"/>
            </a:solidFill>
            <a:prstDash val="solid"/>
          </a:ln>
        </p:spPr>
      </p:sp>
      <p:sp>
        <p:nvSpPr>
          <p:cNvPr id="14" name="text-143"/>
          <p:cNvSpPr txBox="1"/>
          <p:nvPr/>
        </p:nvSpPr>
        <p:spPr>
          <a:xfrm>
            <a:off x="4023360" y="1691640"/>
            <a:ext cx="1965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Sorbent material</a:t>
            </a:r>
            <a:endParaRPr lang="en-US" sz="1300" dirty="0"/>
          </a:p>
        </p:txBody>
      </p:sp>
      <p:sp>
        <p:nvSpPr>
          <p:cNvPr id="15" name="text-144"/>
          <p:cNvSpPr txBox="1"/>
          <p:nvPr/>
        </p:nvSpPr>
        <p:spPr>
          <a:xfrm>
            <a:off x="6035040" y="1691640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trike="sngStrike" dirty="0">
                <a:solidFill>
                  <a:schemeClr val="accent5"/>
                </a:solidFill>
              </a:rPr>
              <a:t>MOF: $100+/kg</a:t>
            </a:r>
            <a:endParaRPr lang="en-US" sz="1250" dirty="0"/>
          </a:p>
        </p:txBody>
      </p:sp>
      <p:sp>
        <p:nvSpPr>
          <p:cNvPr id="16" name="arrow-145"/>
          <p:cNvSpPr/>
          <p:nvPr/>
        </p:nvSpPr>
        <p:spPr>
          <a:xfrm>
            <a:off x="7818120" y="2029968"/>
            <a:ext cx="256032" cy="0"/>
          </a:xfrm>
          <a:prstGeom prst="line">
            <a:avLst/>
          </a:prstGeom>
          <a:noFill/>
          <a:ln w="1905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17" name="text-146"/>
          <p:cNvSpPr txBox="1"/>
          <p:nvPr/>
        </p:nvSpPr>
        <p:spPr>
          <a:xfrm>
            <a:off x="8138160" y="1691640"/>
            <a:ext cx="236189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Jute/CaCl₂ &lt;$0.50/kg · PANSAP $2.50/kg · Starch-PEG/CaCl₂ $0.46/kg</a:t>
            </a:r>
            <a:endParaRPr lang="en-US" sz="1250" dirty="0"/>
          </a:p>
        </p:txBody>
      </p:sp>
      <p:sp>
        <p:nvSpPr>
          <p:cNvPr id="18" name="pill-147"/>
          <p:cNvSpPr/>
          <p:nvPr/>
        </p:nvSpPr>
        <p:spPr>
          <a:xfrm>
            <a:off x="10591495" y="1865376"/>
            <a:ext cx="100584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9" name="text-148"/>
          <p:cNvSpPr txBox="1"/>
          <p:nvPr/>
        </p:nvSpPr>
        <p:spPr>
          <a:xfrm>
            <a:off x="10591495" y="186537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40–200x</a:t>
            </a:r>
            <a:endParaRPr lang="en-US" sz="1200" dirty="0"/>
          </a:p>
        </p:txBody>
      </p:sp>
      <p:sp>
        <p:nvSpPr>
          <p:cNvPr id="20" name="card-149"/>
          <p:cNvSpPr/>
          <p:nvPr/>
        </p:nvSpPr>
        <p:spPr>
          <a:xfrm>
            <a:off x="3886200" y="2459736"/>
            <a:ext cx="7848295" cy="676656"/>
          </a:xfrm>
          <a:prstGeom prst="roundRect">
            <a:avLst>
              <a:gd name="adj" fmla="val 16216"/>
            </a:avLst>
          </a:prstGeom>
          <a:solidFill>
            <a:schemeClr val="bg1"/>
          </a:solidFill>
          <a:ln w="9525">
            <a:solidFill>
              <a:srgbClr val="D5E3EC"/>
            </a:solidFill>
            <a:prstDash val="solid"/>
          </a:ln>
        </p:spPr>
      </p:sp>
      <p:sp>
        <p:nvSpPr>
          <p:cNvPr id="21" name="text-150"/>
          <p:cNvSpPr txBox="1"/>
          <p:nvPr/>
        </p:nvSpPr>
        <p:spPr>
          <a:xfrm>
            <a:off x="4023360" y="2459736"/>
            <a:ext cx="1965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Desorption energy</a:t>
            </a:r>
            <a:endParaRPr lang="en-US" sz="1300" dirty="0"/>
          </a:p>
        </p:txBody>
      </p:sp>
      <p:sp>
        <p:nvSpPr>
          <p:cNvPr id="22" name="text-151"/>
          <p:cNvSpPr txBox="1"/>
          <p:nvPr/>
        </p:nvSpPr>
        <p:spPr>
          <a:xfrm>
            <a:off x="6035040" y="2459736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trike="sngStrike" dirty="0">
                <a:solidFill>
                  <a:schemeClr val="accent5"/>
                </a:solidFill>
              </a:rPr>
              <a:t>0.84–2.1 kWh/L electrical</a:t>
            </a:r>
            <a:endParaRPr lang="en-US" sz="1250" dirty="0"/>
          </a:p>
        </p:txBody>
      </p:sp>
      <p:sp>
        <p:nvSpPr>
          <p:cNvPr id="23" name="arrow-152"/>
          <p:cNvSpPr/>
          <p:nvPr/>
        </p:nvSpPr>
        <p:spPr>
          <a:xfrm>
            <a:off x="7818120" y="2798064"/>
            <a:ext cx="256032" cy="0"/>
          </a:xfrm>
          <a:prstGeom prst="line">
            <a:avLst/>
          </a:prstGeom>
          <a:noFill/>
          <a:ln w="1905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24" name="text-153"/>
          <p:cNvSpPr txBox="1"/>
          <p:nvPr/>
        </p:nvSpPr>
        <p:spPr>
          <a:xfrm>
            <a:off x="8138160" y="2459736"/>
            <a:ext cx="236189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Solar thermal + waste heat: near-zero marginal</a:t>
            </a:r>
            <a:endParaRPr lang="en-US" sz="1250" dirty="0"/>
          </a:p>
        </p:txBody>
      </p:sp>
      <p:sp>
        <p:nvSpPr>
          <p:cNvPr id="25" name="pill-154"/>
          <p:cNvSpPr/>
          <p:nvPr/>
        </p:nvSpPr>
        <p:spPr>
          <a:xfrm>
            <a:off x="10591495" y="2633472"/>
            <a:ext cx="100584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26" name="text-155"/>
          <p:cNvSpPr txBox="1"/>
          <p:nvPr/>
        </p:nvSpPr>
        <p:spPr>
          <a:xfrm>
            <a:off x="10591495" y="263347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~90%</a:t>
            </a:r>
            <a:endParaRPr lang="en-US" sz="1200" dirty="0"/>
          </a:p>
        </p:txBody>
      </p:sp>
      <p:sp>
        <p:nvSpPr>
          <p:cNvPr id="27" name="card-156"/>
          <p:cNvSpPr/>
          <p:nvPr/>
        </p:nvSpPr>
        <p:spPr>
          <a:xfrm>
            <a:off x="3886200" y="3227832"/>
            <a:ext cx="7848295" cy="676656"/>
          </a:xfrm>
          <a:prstGeom prst="roundRect">
            <a:avLst>
              <a:gd name="adj" fmla="val 16216"/>
            </a:avLst>
          </a:prstGeom>
          <a:solidFill>
            <a:schemeClr val="bg1"/>
          </a:solidFill>
          <a:ln w="9525">
            <a:solidFill>
              <a:srgbClr val="D5E3EC"/>
            </a:solidFill>
            <a:prstDash val="solid"/>
          </a:ln>
        </p:spPr>
      </p:sp>
      <p:sp>
        <p:nvSpPr>
          <p:cNvPr id="28" name="text-157"/>
          <p:cNvSpPr txBox="1"/>
          <p:nvPr/>
        </p:nvSpPr>
        <p:spPr>
          <a:xfrm>
            <a:off x="4023360" y="3227832"/>
            <a:ext cx="1965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Specific energy (system)</a:t>
            </a:r>
            <a:endParaRPr lang="en-US" sz="1300" dirty="0"/>
          </a:p>
        </p:txBody>
      </p:sp>
      <p:sp>
        <p:nvSpPr>
          <p:cNvPr id="29" name="text-158"/>
          <p:cNvSpPr txBox="1"/>
          <p:nvPr/>
        </p:nvSpPr>
        <p:spPr>
          <a:xfrm>
            <a:off x="6035040" y="3227832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trike="sngStrike" dirty="0">
                <a:solidFill>
                  <a:schemeClr val="accent5"/>
                </a:solidFill>
              </a:rPr>
              <a:t>1.5–2.1 kWh/L</a:t>
            </a:r>
            <a:endParaRPr lang="en-US" sz="1250" dirty="0"/>
          </a:p>
        </p:txBody>
      </p:sp>
      <p:sp>
        <p:nvSpPr>
          <p:cNvPr id="30" name="arrow-159"/>
          <p:cNvSpPr/>
          <p:nvPr/>
        </p:nvSpPr>
        <p:spPr>
          <a:xfrm>
            <a:off x="7818120" y="3566160"/>
            <a:ext cx="256032" cy="0"/>
          </a:xfrm>
          <a:prstGeom prst="line">
            <a:avLst/>
          </a:prstGeom>
          <a:noFill/>
          <a:ln w="1905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31" name="text-160"/>
          <p:cNvSpPr txBox="1"/>
          <p:nvPr/>
        </p:nvSpPr>
        <p:spPr>
          <a:xfrm>
            <a:off x="8138160" y="3227832"/>
            <a:ext cx="236189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0.2–0.5 kWh/L (passive / hybrid)</a:t>
            </a:r>
            <a:endParaRPr lang="en-US" sz="1250" dirty="0"/>
          </a:p>
        </p:txBody>
      </p:sp>
      <p:sp>
        <p:nvSpPr>
          <p:cNvPr id="32" name="pill-161"/>
          <p:cNvSpPr/>
          <p:nvPr/>
        </p:nvSpPr>
        <p:spPr>
          <a:xfrm>
            <a:off x="10591495" y="3401568"/>
            <a:ext cx="100584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33" name="text-162"/>
          <p:cNvSpPr txBox="1"/>
          <p:nvPr/>
        </p:nvSpPr>
        <p:spPr>
          <a:xfrm>
            <a:off x="10591495" y="34015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70–85%</a:t>
            </a:r>
            <a:endParaRPr lang="en-US" sz="1200" dirty="0"/>
          </a:p>
        </p:txBody>
      </p:sp>
      <p:sp>
        <p:nvSpPr>
          <p:cNvPr id="34" name="card-163"/>
          <p:cNvSpPr/>
          <p:nvPr/>
        </p:nvSpPr>
        <p:spPr>
          <a:xfrm>
            <a:off x="3886200" y="3995928"/>
            <a:ext cx="7848295" cy="676656"/>
          </a:xfrm>
          <a:prstGeom prst="roundRect">
            <a:avLst>
              <a:gd name="adj" fmla="val 16216"/>
            </a:avLst>
          </a:prstGeom>
          <a:solidFill>
            <a:schemeClr val="bg1"/>
          </a:solidFill>
          <a:ln w="9525">
            <a:solidFill>
              <a:srgbClr val="D5E3EC"/>
            </a:solidFill>
            <a:prstDash val="solid"/>
          </a:ln>
        </p:spPr>
      </p:sp>
      <p:sp>
        <p:nvSpPr>
          <p:cNvPr id="35" name="text-164"/>
          <p:cNvSpPr txBox="1"/>
          <p:nvPr/>
        </p:nvSpPr>
        <p:spPr>
          <a:xfrm>
            <a:off x="4023360" y="3995928"/>
            <a:ext cx="1965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System CapEx (100 L/day)</a:t>
            </a:r>
            <a:endParaRPr lang="en-US" sz="1300" dirty="0"/>
          </a:p>
        </p:txBody>
      </p:sp>
      <p:sp>
        <p:nvSpPr>
          <p:cNvPr id="36" name="text-165"/>
          <p:cNvSpPr txBox="1"/>
          <p:nvPr/>
        </p:nvSpPr>
        <p:spPr>
          <a:xfrm>
            <a:off x="6035040" y="3995928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trike="sngStrike" dirty="0">
                <a:solidFill>
                  <a:schemeClr val="accent5"/>
                </a:solidFill>
              </a:rPr>
              <a:t>$8,000–$12,000</a:t>
            </a:r>
            <a:endParaRPr lang="en-US" sz="1250" dirty="0"/>
          </a:p>
        </p:txBody>
      </p:sp>
      <p:sp>
        <p:nvSpPr>
          <p:cNvPr id="37" name="arrow-166"/>
          <p:cNvSpPr/>
          <p:nvPr/>
        </p:nvSpPr>
        <p:spPr>
          <a:xfrm>
            <a:off x="7818120" y="4334256"/>
            <a:ext cx="256032" cy="0"/>
          </a:xfrm>
          <a:prstGeom prst="line">
            <a:avLst/>
          </a:prstGeom>
          <a:noFill/>
          <a:ln w="1905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38" name="text-167"/>
          <p:cNvSpPr txBox="1"/>
          <p:nvPr/>
        </p:nvSpPr>
        <p:spPr>
          <a:xfrm>
            <a:off x="8138160" y="3995928"/>
            <a:ext cx="236189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$2,030–$3,950 (BOM)</a:t>
            </a:r>
            <a:endParaRPr lang="en-US" sz="1250" dirty="0"/>
          </a:p>
        </p:txBody>
      </p:sp>
      <p:sp>
        <p:nvSpPr>
          <p:cNvPr id="39" name="pill-168"/>
          <p:cNvSpPr/>
          <p:nvPr/>
        </p:nvSpPr>
        <p:spPr>
          <a:xfrm>
            <a:off x="10591495" y="4169664"/>
            <a:ext cx="100584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40" name="text-169"/>
          <p:cNvSpPr txBox="1"/>
          <p:nvPr/>
        </p:nvSpPr>
        <p:spPr>
          <a:xfrm>
            <a:off x="10591495" y="416966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60–75%</a:t>
            </a:r>
            <a:endParaRPr lang="en-US" sz="1200" dirty="0"/>
          </a:p>
        </p:txBody>
      </p:sp>
      <p:sp>
        <p:nvSpPr>
          <p:cNvPr id="41" name="card-170"/>
          <p:cNvSpPr/>
          <p:nvPr/>
        </p:nvSpPr>
        <p:spPr>
          <a:xfrm>
            <a:off x="3886200" y="4764024"/>
            <a:ext cx="7848295" cy="676656"/>
          </a:xfrm>
          <a:prstGeom prst="roundRect">
            <a:avLst>
              <a:gd name="adj" fmla="val 16216"/>
            </a:avLst>
          </a:prstGeom>
          <a:solidFill>
            <a:srgbClr val="FDEBCC"/>
          </a:solidFill>
          <a:ln w="9525">
            <a:solidFill>
              <a:srgbClr val="D5E3EC"/>
            </a:solidFill>
            <a:prstDash val="solid"/>
          </a:ln>
        </p:spPr>
      </p:sp>
      <p:sp>
        <p:nvSpPr>
          <p:cNvPr id="42" name="text-171"/>
          <p:cNvSpPr txBox="1"/>
          <p:nvPr/>
        </p:nvSpPr>
        <p:spPr>
          <a:xfrm>
            <a:off x="4023360" y="4764024"/>
            <a:ext cx="1965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LCOW</a:t>
            </a:r>
            <a:endParaRPr lang="en-US" sz="1300" dirty="0"/>
          </a:p>
        </p:txBody>
      </p:sp>
      <p:sp>
        <p:nvSpPr>
          <p:cNvPr id="43" name="text-172"/>
          <p:cNvSpPr txBox="1"/>
          <p:nvPr/>
        </p:nvSpPr>
        <p:spPr>
          <a:xfrm>
            <a:off x="6035040" y="4764024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trike="sngStrike" dirty="0">
                <a:solidFill>
                  <a:schemeClr val="accent5"/>
                </a:solidFill>
              </a:rPr>
              <a:t>$0.02–$0.04/L</a:t>
            </a:r>
            <a:endParaRPr lang="en-US" sz="1250" dirty="0"/>
          </a:p>
        </p:txBody>
      </p:sp>
      <p:sp>
        <p:nvSpPr>
          <p:cNvPr id="44" name="arrow-173"/>
          <p:cNvSpPr/>
          <p:nvPr/>
        </p:nvSpPr>
        <p:spPr>
          <a:xfrm>
            <a:off x="7818120" y="5102352"/>
            <a:ext cx="256032" cy="0"/>
          </a:xfrm>
          <a:prstGeom prst="line">
            <a:avLst/>
          </a:prstGeom>
          <a:noFill/>
          <a:ln w="1905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45" name="text-174"/>
          <p:cNvSpPr txBox="1"/>
          <p:nvPr/>
        </p:nvSpPr>
        <p:spPr>
          <a:xfrm>
            <a:off x="8138160" y="4764024"/>
            <a:ext cx="236189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$0.005–$0.01/L</a:t>
            </a:r>
            <a:endParaRPr lang="en-US" sz="1250" dirty="0"/>
          </a:p>
        </p:txBody>
      </p:sp>
      <p:sp>
        <p:nvSpPr>
          <p:cNvPr id="46" name="pill-175"/>
          <p:cNvSpPr/>
          <p:nvPr/>
        </p:nvSpPr>
        <p:spPr>
          <a:xfrm>
            <a:off x="10591495" y="4937760"/>
            <a:ext cx="100584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47" name="text-176"/>
          <p:cNvSpPr txBox="1"/>
          <p:nvPr/>
        </p:nvSpPr>
        <p:spPr>
          <a:xfrm>
            <a:off x="10591495" y="493776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75–87%</a:t>
            </a:r>
            <a:endParaRPr lang="en-US" sz="1200" dirty="0"/>
          </a:p>
        </p:txBody>
      </p:sp>
      <p:sp>
        <p:nvSpPr>
          <p:cNvPr id="48" name="keymsg-bg-177"/>
          <p:cNvSpPr/>
          <p:nvPr/>
        </p:nvSpPr>
        <p:spPr>
          <a:xfrm>
            <a:off x="457200" y="5760720"/>
            <a:ext cx="11277295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/>
        </p:spPr>
      </p:sp>
      <p:sp>
        <p:nvSpPr>
          <p:cNvPr id="49" name="icon-bg-178"/>
          <p:cNvSpPr/>
          <p:nvPr/>
        </p:nvSpPr>
        <p:spPr>
          <a:xfrm>
            <a:off x="585216" y="586130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0" name="icon-17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4" y="5956402"/>
            <a:ext cx="175565" cy="175565"/>
          </a:xfrm>
          <a:prstGeom prst="rect">
            <a:avLst/>
          </a:prstGeom>
        </p:spPr>
      </p:pic>
      <p:sp>
        <p:nvSpPr>
          <p:cNvPr id="51" name="text-180"/>
          <p:cNvSpPr txBox="1"/>
          <p:nvPr/>
        </p:nvSpPr>
        <p:spPr>
          <a:xfrm>
            <a:off x="1097280" y="57607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Two levers do almost all the work: sorbent cost and desorption energy. We attack both.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four-stage hybrid system that wastes nothing</a:t>
            </a:r>
            <a:endParaRPr lang="en-US" sz="3000" dirty="0"/>
          </a:p>
        </p:txBody>
      </p:sp>
      <p:sp>
        <p:nvSpPr>
          <p:cNvPr id="3" name="card-181"/>
          <p:cNvSpPr/>
          <p:nvPr/>
        </p:nvSpPr>
        <p:spPr>
          <a:xfrm>
            <a:off x="457200" y="1371600"/>
            <a:ext cx="2377440" cy="26060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9525">
            <a:solidFill>
              <a:srgbClr val="D5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A2E4D">
                <a:alpha val="12000"/>
              </a:srgbClr>
            </a:outerShdw>
          </a:effectLst>
        </p:spPr>
      </p:sp>
      <p:sp>
        <p:nvSpPr>
          <p:cNvPr id="4" name="icon-bg-182"/>
          <p:cNvSpPr/>
          <p:nvPr/>
        </p:nvSpPr>
        <p:spPr>
          <a:xfrm>
            <a:off x="640080" y="153619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-18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726" y="1678838"/>
            <a:ext cx="263347" cy="263347"/>
          </a:xfrm>
          <a:prstGeom prst="rect">
            <a:avLst/>
          </a:prstGeom>
        </p:spPr>
      </p:pic>
      <p:sp>
        <p:nvSpPr>
          <p:cNvPr id="6" name="text-184"/>
          <p:cNvSpPr txBox="1"/>
          <p:nvPr/>
        </p:nvSpPr>
        <p:spPr>
          <a:xfrm>
            <a:off x="1325880" y="1554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Stage 1</a:t>
            </a:r>
            <a:endParaRPr lang="en-US" sz="1100" dirty="0"/>
          </a:p>
        </p:txBody>
      </p:sp>
      <p:sp>
        <p:nvSpPr>
          <p:cNvPr id="7" name="text-185"/>
          <p:cNvSpPr txBox="1"/>
          <p:nvPr/>
        </p:nvSpPr>
        <p:spPr>
          <a:xfrm>
            <a:off x="1325880" y="176479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Condensation</a:t>
            </a:r>
            <a:endParaRPr lang="en-US" sz="1400" dirty="0"/>
          </a:p>
        </p:txBody>
      </p:sp>
      <p:sp>
        <p:nvSpPr>
          <p:cNvPr id="8" name="text-186"/>
          <p:cNvSpPr txBox="1"/>
          <p:nvPr/>
        </p:nvSpPr>
        <p:spPr>
          <a:xfrm>
            <a:off x="640080" y="233172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Vapour compression makes water in humid air — and waste heat as a by-product.</a:t>
            </a:r>
            <a:endParaRPr lang="en-US" sz="1250" dirty="0"/>
          </a:p>
        </p:txBody>
      </p:sp>
      <p:sp>
        <p:nvSpPr>
          <p:cNvPr id="9" name="card-187"/>
          <p:cNvSpPr/>
          <p:nvPr/>
        </p:nvSpPr>
        <p:spPr>
          <a:xfrm>
            <a:off x="3423818" y="1371600"/>
            <a:ext cx="2377440" cy="26060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9525">
            <a:solidFill>
              <a:srgbClr val="D5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A2E4D">
                <a:alpha val="12000"/>
              </a:srgbClr>
            </a:outerShdw>
          </a:effectLst>
        </p:spPr>
      </p:sp>
      <p:sp>
        <p:nvSpPr>
          <p:cNvPr id="10" name="icon-bg-188"/>
          <p:cNvSpPr/>
          <p:nvPr/>
        </p:nvSpPr>
        <p:spPr>
          <a:xfrm>
            <a:off x="3606698" y="1536192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1" name="icon-18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345" y="1678838"/>
            <a:ext cx="263347" cy="263347"/>
          </a:xfrm>
          <a:prstGeom prst="rect">
            <a:avLst/>
          </a:prstGeom>
        </p:spPr>
      </p:pic>
      <p:sp>
        <p:nvSpPr>
          <p:cNvPr id="12" name="text-190"/>
          <p:cNvSpPr txBox="1"/>
          <p:nvPr/>
        </p:nvSpPr>
        <p:spPr>
          <a:xfrm>
            <a:off x="4292498" y="1554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Stage 2</a:t>
            </a:r>
            <a:endParaRPr lang="en-US" sz="1100" dirty="0"/>
          </a:p>
        </p:txBody>
      </p:sp>
      <p:sp>
        <p:nvSpPr>
          <p:cNvPr id="13" name="text-191"/>
          <p:cNvSpPr txBox="1"/>
          <p:nvPr/>
        </p:nvSpPr>
        <p:spPr>
          <a:xfrm>
            <a:off x="4292498" y="176479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Sorption</a:t>
            </a:r>
            <a:endParaRPr lang="en-US" sz="1400" dirty="0"/>
          </a:p>
        </p:txBody>
      </p:sp>
      <p:sp>
        <p:nvSpPr>
          <p:cNvPr id="14" name="text-192"/>
          <p:cNvSpPr txBox="1"/>
          <p:nvPr/>
        </p:nvSpPr>
        <p:spPr>
          <a:xfrm>
            <a:off x="3606698" y="233172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CaCl₂ salt-solution circuit uses Stage 1’s waste heat to capture extra water with no major external energy.</a:t>
            </a:r>
            <a:endParaRPr lang="en-US" sz="1250" dirty="0"/>
          </a:p>
        </p:txBody>
      </p:sp>
      <p:sp>
        <p:nvSpPr>
          <p:cNvPr id="15" name="card-193"/>
          <p:cNvSpPr/>
          <p:nvPr/>
        </p:nvSpPr>
        <p:spPr>
          <a:xfrm>
            <a:off x="6390437" y="1371600"/>
            <a:ext cx="2377440" cy="26060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9525">
            <a:solidFill>
              <a:srgbClr val="D5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A2E4D">
                <a:alpha val="12000"/>
              </a:srgbClr>
            </a:outerShdw>
          </a:effectLst>
        </p:spPr>
      </p:sp>
      <p:sp>
        <p:nvSpPr>
          <p:cNvPr id="16" name="icon-bg-194"/>
          <p:cNvSpPr/>
          <p:nvPr/>
        </p:nvSpPr>
        <p:spPr>
          <a:xfrm>
            <a:off x="6573317" y="1536192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icon-19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63" y="1678838"/>
            <a:ext cx="263347" cy="263347"/>
          </a:xfrm>
          <a:prstGeom prst="rect">
            <a:avLst/>
          </a:prstGeom>
        </p:spPr>
      </p:pic>
      <p:sp>
        <p:nvSpPr>
          <p:cNvPr id="18" name="text-196"/>
          <p:cNvSpPr txBox="1"/>
          <p:nvPr/>
        </p:nvSpPr>
        <p:spPr>
          <a:xfrm>
            <a:off x="7259117" y="1554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Stage 3</a:t>
            </a:r>
            <a:endParaRPr lang="en-US" sz="1100" dirty="0"/>
          </a:p>
        </p:txBody>
      </p:sp>
      <p:sp>
        <p:nvSpPr>
          <p:cNvPr id="19" name="text-197"/>
          <p:cNvSpPr txBox="1"/>
          <p:nvPr/>
        </p:nvSpPr>
        <p:spPr>
          <a:xfrm>
            <a:off x="7259117" y="176479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Solar thermal desorption</a:t>
            </a:r>
            <a:endParaRPr lang="en-US" sz="1400" dirty="0"/>
          </a:p>
        </p:txBody>
      </p:sp>
      <p:sp>
        <p:nvSpPr>
          <p:cNvPr id="20" name="text-198"/>
          <p:cNvSpPr txBox="1"/>
          <p:nvPr/>
        </p:nvSpPr>
        <p:spPr>
          <a:xfrm>
            <a:off x="6573317" y="233172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Double-ended vacuum tubes (4.86 m², 134.2°C peak) drive daytime desorption at zero marginal electricity.</a:t>
            </a:r>
            <a:endParaRPr lang="en-US" sz="1250" dirty="0"/>
          </a:p>
        </p:txBody>
      </p:sp>
      <p:sp>
        <p:nvSpPr>
          <p:cNvPr id="21" name="card-199"/>
          <p:cNvSpPr/>
          <p:nvPr/>
        </p:nvSpPr>
        <p:spPr>
          <a:xfrm>
            <a:off x="9357055" y="1371600"/>
            <a:ext cx="2377440" cy="26060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9525">
            <a:solidFill>
              <a:srgbClr val="D5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A2E4D">
                <a:alpha val="12000"/>
              </a:srgbClr>
            </a:outerShdw>
          </a:effectLst>
        </p:spPr>
      </p:sp>
      <p:sp>
        <p:nvSpPr>
          <p:cNvPr id="22" name="icon-bg-200"/>
          <p:cNvSpPr/>
          <p:nvPr/>
        </p:nvSpPr>
        <p:spPr>
          <a:xfrm>
            <a:off x="9539935" y="1536192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3" name="icon-20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2582" y="1678838"/>
            <a:ext cx="263347" cy="263347"/>
          </a:xfrm>
          <a:prstGeom prst="rect">
            <a:avLst/>
          </a:prstGeom>
        </p:spPr>
      </p:pic>
      <p:sp>
        <p:nvSpPr>
          <p:cNvPr id="24" name="text-202"/>
          <p:cNvSpPr txBox="1"/>
          <p:nvPr/>
        </p:nvSpPr>
        <p:spPr>
          <a:xfrm>
            <a:off x="10225735" y="1554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Stage 4</a:t>
            </a:r>
            <a:endParaRPr lang="en-US" sz="1100" dirty="0"/>
          </a:p>
        </p:txBody>
      </p:sp>
      <p:sp>
        <p:nvSpPr>
          <p:cNvPr id="25" name="text-203"/>
          <p:cNvSpPr txBox="1"/>
          <p:nvPr/>
        </p:nvSpPr>
        <p:spPr>
          <a:xfrm>
            <a:off x="10225735" y="176479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Thermal storage</a:t>
            </a:r>
            <a:endParaRPr lang="en-US" sz="1400" dirty="0"/>
          </a:p>
        </p:txBody>
      </p:sp>
      <p:sp>
        <p:nvSpPr>
          <p:cNvPr id="26" name="text-204"/>
          <p:cNvSpPr txBox="1"/>
          <p:nvPr/>
        </p:nvSpPr>
        <p:spPr>
          <a:xfrm>
            <a:off x="9539935" y="233172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Low-cost phase-change material or sand bed stores solar heat for night and cloudy days.</a:t>
            </a:r>
            <a:endParaRPr lang="en-US" sz="1250" dirty="0"/>
          </a:p>
        </p:txBody>
      </p:sp>
      <p:sp>
        <p:nvSpPr>
          <p:cNvPr id="27" name="arrow-205"/>
          <p:cNvSpPr/>
          <p:nvPr/>
        </p:nvSpPr>
        <p:spPr>
          <a:xfrm>
            <a:off x="2880360" y="2606040"/>
            <a:ext cx="497738" cy="0"/>
          </a:xfrm>
          <a:prstGeom prst="line">
            <a:avLst/>
          </a:prstGeom>
          <a:noFill/>
          <a:ln w="38100">
            <a:solidFill>
              <a:srgbClr val="E8702A"/>
            </a:solidFill>
            <a:prstDash val="solid"/>
            <a:tailEnd type="triangle"/>
          </a:ln>
        </p:spPr>
      </p:sp>
      <p:sp>
        <p:nvSpPr>
          <p:cNvPr id="28" name="text-206"/>
          <p:cNvSpPr txBox="1"/>
          <p:nvPr/>
        </p:nvSpPr>
        <p:spPr>
          <a:xfrm>
            <a:off x="2743200" y="2240280"/>
            <a:ext cx="772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702A"/>
                </a:solidFill>
              </a:rPr>
              <a:t>waste heat</a:t>
            </a:r>
            <a:endParaRPr lang="en-US" sz="1000" dirty="0"/>
          </a:p>
        </p:txBody>
      </p:sp>
      <p:sp>
        <p:nvSpPr>
          <p:cNvPr id="29" name="arrow-207"/>
          <p:cNvSpPr/>
          <p:nvPr/>
        </p:nvSpPr>
        <p:spPr>
          <a:xfrm>
            <a:off x="5846978" y="2606040"/>
            <a:ext cx="497738" cy="0"/>
          </a:xfrm>
          <a:prstGeom prst="line">
            <a:avLst/>
          </a:prstGeom>
          <a:noFill/>
          <a:ln w="38100">
            <a:solidFill>
              <a:srgbClr val="F2A124"/>
            </a:solidFill>
            <a:prstDash val="solid"/>
            <a:tailEnd type="triangle"/>
          </a:ln>
        </p:spPr>
      </p:sp>
      <p:sp>
        <p:nvSpPr>
          <p:cNvPr id="30" name="text-208"/>
          <p:cNvSpPr txBox="1"/>
          <p:nvPr/>
        </p:nvSpPr>
        <p:spPr>
          <a:xfrm>
            <a:off x="5709818" y="2240280"/>
            <a:ext cx="772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+ solar heat</a:t>
            </a:r>
            <a:endParaRPr lang="en-US" sz="1000" dirty="0"/>
          </a:p>
        </p:txBody>
      </p:sp>
      <p:sp>
        <p:nvSpPr>
          <p:cNvPr id="31" name="arrow-209"/>
          <p:cNvSpPr/>
          <p:nvPr/>
        </p:nvSpPr>
        <p:spPr>
          <a:xfrm>
            <a:off x="8813597" y="2606040"/>
            <a:ext cx="497738" cy="0"/>
          </a:xfrm>
          <a:prstGeom prst="line">
            <a:avLst/>
          </a:prstGeom>
          <a:noFill/>
          <a:ln w="38100">
            <a:solidFill>
              <a:srgbClr val="F2A124"/>
            </a:solidFill>
            <a:prstDash val="solid"/>
            <a:tailEnd type="triangle"/>
          </a:ln>
        </p:spPr>
      </p:sp>
      <p:sp>
        <p:nvSpPr>
          <p:cNvPr id="32" name="text-210"/>
          <p:cNvSpPr txBox="1"/>
          <p:nvPr/>
        </p:nvSpPr>
        <p:spPr>
          <a:xfrm>
            <a:off x="8676437" y="2240280"/>
            <a:ext cx="772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excess heat</a:t>
            </a:r>
            <a:endParaRPr lang="en-US" sz="1000" dirty="0"/>
          </a:p>
        </p:txBody>
      </p:sp>
      <p:sp>
        <p:nvSpPr>
          <p:cNvPr id="33" name="loop-211"/>
          <p:cNvSpPr/>
          <p:nvPr/>
        </p:nvSpPr>
        <p:spPr>
          <a:xfrm>
            <a:off x="10545775" y="3977640"/>
            <a:ext cx="0" cy="320040"/>
          </a:xfrm>
          <a:prstGeom prst="line">
            <a:avLst/>
          </a:prstGeom>
          <a:noFill/>
          <a:ln w="31750">
            <a:solidFill>
              <a:srgbClr val="E8702A"/>
            </a:solidFill>
            <a:prstDash val="dash"/>
          </a:ln>
        </p:spPr>
      </p:sp>
      <p:sp>
        <p:nvSpPr>
          <p:cNvPr id="34" name="loop-212"/>
          <p:cNvSpPr/>
          <p:nvPr/>
        </p:nvSpPr>
        <p:spPr>
          <a:xfrm>
            <a:off x="4612538" y="4297680"/>
            <a:ext cx="5933237" cy="0"/>
          </a:xfrm>
          <a:prstGeom prst="line">
            <a:avLst/>
          </a:prstGeom>
          <a:noFill/>
          <a:ln w="31750">
            <a:solidFill>
              <a:srgbClr val="E8702A"/>
            </a:solidFill>
            <a:prstDash val="dash"/>
          </a:ln>
        </p:spPr>
      </p:sp>
      <p:sp>
        <p:nvSpPr>
          <p:cNvPr id="35" name="loop-213"/>
          <p:cNvSpPr/>
          <p:nvPr/>
        </p:nvSpPr>
        <p:spPr>
          <a:xfrm flipV="1">
            <a:off x="4612538" y="4005072"/>
            <a:ext cx="0" cy="292608"/>
          </a:xfrm>
          <a:prstGeom prst="line">
            <a:avLst/>
          </a:prstGeom>
          <a:noFill/>
          <a:ln w="31750">
            <a:solidFill>
              <a:srgbClr val="E8702A"/>
            </a:solidFill>
            <a:prstDash val="dash"/>
            <a:tailEnd type="triangle"/>
          </a:ln>
        </p:spPr>
      </p:sp>
      <p:sp>
        <p:nvSpPr>
          <p:cNvPr id="36" name="text-214"/>
          <p:cNvSpPr txBox="1"/>
          <p:nvPr/>
        </p:nvSpPr>
        <p:spPr>
          <a:xfrm>
            <a:off x="4886858" y="4023360"/>
            <a:ext cx="538459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E8702A"/>
                </a:solidFill>
              </a:rPr>
              <a:t>Stored heat drives overnight / cloudy-day desorption</a:t>
            </a:r>
            <a:endParaRPr lang="en-US" sz="1100" dirty="0"/>
          </a:p>
        </p:txBody>
      </p:sp>
      <p:sp>
        <p:nvSpPr>
          <p:cNvPr id="37" name="card-215"/>
          <p:cNvSpPr/>
          <p:nvPr/>
        </p:nvSpPr>
        <p:spPr>
          <a:xfrm>
            <a:off x="457200" y="4526280"/>
            <a:ext cx="3637178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38" name="text-216"/>
          <p:cNvSpPr txBox="1"/>
          <p:nvPr/>
        </p:nvSpPr>
        <p:spPr>
          <a:xfrm>
            <a:off x="685800" y="4553712"/>
            <a:ext cx="32714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315 Wh/kg</a:t>
            </a:r>
            <a:endParaRPr lang="en-US" sz="2800" dirty="0"/>
          </a:p>
        </p:txBody>
      </p:sp>
      <p:sp>
        <p:nvSpPr>
          <p:cNvPr id="39" name="text-217"/>
          <p:cNvSpPr txBox="1"/>
          <p:nvPr/>
        </p:nvSpPr>
        <p:spPr>
          <a:xfrm>
            <a:off x="685800" y="5120640"/>
            <a:ext cx="3271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hybrid operation</a:t>
            </a:r>
            <a:endParaRPr lang="en-US" sz="1300" dirty="0"/>
          </a:p>
        </p:txBody>
      </p:sp>
      <p:sp>
        <p:nvSpPr>
          <p:cNvPr id="40" name="card-218"/>
          <p:cNvSpPr/>
          <p:nvPr/>
        </p:nvSpPr>
        <p:spPr>
          <a:xfrm>
            <a:off x="4277258" y="4526280"/>
            <a:ext cx="3637178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41" name="text-219"/>
          <p:cNvSpPr txBox="1"/>
          <p:nvPr/>
        </p:nvSpPr>
        <p:spPr>
          <a:xfrm>
            <a:off x="4505858" y="4553712"/>
            <a:ext cx="32714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34.4%</a:t>
            </a:r>
            <a:endParaRPr lang="en-US" sz="2800" dirty="0"/>
          </a:p>
        </p:txBody>
      </p:sp>
      <p:sp>
        <p:nvSpPr>
          <p:cNvPr id="42" name="text-220"/>
          <p:cNvSpPr txBox="1"/>
          <p:nvPr/>
        </p:nvSpPr>
        <p:spPr>
          <a:xfrm>
            <a:off x="4505858" y="5120640"/>
            <a:ext cx="3271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energy saving vs basic vapour compression</a:t>
            </a:r>
            <a:endParaRPr lang="en-US" sz="1300" dirty="0"/>
          </a:p>
        </p:txBody>
      </p:sp>
      <p:sp>
        <p:nvSpPr>
          <p:cNvPr id="43" name="card-221"/>
          <p:cNvSpPr/>
          <p:nvPr/>
        </p:nvSpPr>
        <p:spPr>
          <a:xfrm>
            <a:off x="8097317" y="4526280"/>
            <a:ext cx="3637178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44" name="text-222"/>
          <p:cNvSpPr txBox="1"/>
          <p:nvPr/>
        </p:nvSpPr>
        <p:spPr>
          <a:xfrm>
            <a:off x="8325917" y="4553712"/>
            <a:ext cx="32714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 kWh/L</a:t>
            </a:r>
            <a:endParaRPr lang="en-US" sz="2800" dirty="0"/>
          </a:p>
        </p:txBody>
      </p:sp>
      <p:sp>
        <p:nvSpPr>
          <p:cNvPr id="45" name="text-223"/>
          <p:cNvSpPr txBox="1"/>
          <p:nvPr/>
        </p:nvSpPr>
        <p:spPr>
          <a:xfrm>
            <a:off x="8325917" y="5120640"/>
            <a:ext cx="3271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passive configurations</a:t>
            </a:r>
            <a:endParaRPr lang="en-US" sz="1300" dirty="0"/>
          </a:p>
        </p:txBody>
      </p:sp>
      <p:sp>
        <p:nvSpPr>
          <p:cNvPr id="46" name="keymsg-bg-224"/>
          <p:cNvSpPr/>
          <p:nvPr/>
        </p:nvSpPr>
        <p:spPr>
          <a:xfrm>
            <a:off x="457200" y="5760720"/>
            <a:ext cx="11277295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/>
        </p:spPr>
      </p:sp>
      <p:sp>
        <p:nvSpPr>
          <p:cNvPr id="47" name="icon-bg-225"/>
          <p:cNvSpPr/>
          <p:nvPr/>
        </p:nvSpPr>
        <p:spPr>
          <a:xfrm>
            <a:off x="585216" y="586130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48" name="icon-226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314" y="5956402"/>
            <a:ext cx="175565" cy="175565"/>
          </a:xfrm>
          <a:prstGeom prst="rect">
            <a:avLst/>
          </a:prstGeom>
        </p:spPr>
      </p:pic>
      <p:sp>
        <p:nvSpPr>
          <p:cNvPr id="49" name="text-227"/>
          <p:cNvSpPr txBox="1"/>
          <p:nvPr/>
        </p:nvSpPr>
        <p:spPr>
          <a:xfrm>
            <a:off x="1097280" y="57607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We do not choose between condensation and sorption. We chain them so each stage powers the next.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replaced $100/kg MOFs with agricultural waste and recycled polymer</a:t>
            </a:r>
            <a:endParaRPr lang="en-US" sz="3000" dirty="0"/>
          </a:p>
        </p:txBody>
      </p:sp>
      <p:sp>
        <p:nvSpPr>
          <p:cNvPr id="3" name="card-228"/>
          <p:cNvSpPr/>
          <p:nvPr/>
        </p:nvSpPr>
        <p:spPr>
          <a:xfrm>
            <a:off x="457200" y="1371600"/>
            <a:ext cx="6766560" cy="4206240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 w="9525">
            <a:solidFill>
              <a:srgbClr val="D5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A2E4D">
                <a:alpha val="12000"/>
              </a:srgbClr>
            </a:outerShdw>
          </a:effectLst>
        </p:spPr>
      </p:sp>
      <p:graphicFrame>
        <p:nvGraphicFramePr>
          <p:cNvPr id="4" name="chart-sorbent-cost" descr=""/>
          <p:cNvGraphicFramePr/>
          <p:nvPr/>
        </p:nvGraphicFramePr>
        <p:xfrm>
          <a:off x="594360" y="1463040"/>
          <a:ext cx="64922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-229"/>
          <p:cNvSpPr/>
          <p:nvPr/>
        </p:nvSpPr>
        <p:spPr>
          <a:xfrm>
            <a:off x="7452360" y="1371600"/>
            <a:ext cx="4282135" cy="233172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A2E4D">
                <a:alpha val="12000"/>
              </a:srgbClr>
            </a:outerShdw>
          </a:effectLst>
        </p:spPr>
      </p:sp>
      <p:sp>
        <p:nvSpPr>
          <p:cNvPr id="6" name="text-230"/>
          <p:cNvSpPr txBox="1"/>
          <p:nvPr/>
        </p:nvSpPr>
        <p:spPr>
          <a:xfrm>
            <a:off x="7680960" y="1508760"/>
            <a:ext cx="3824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MVP PROOF POINT</a:t>
            </a:r>
            <a:endParaRPr lang="en-US" sz="1200" dirty="0"/>
          </a:p>
        </p:txBody>
      </p:sp>
      <p:sp>
        <p:nvSpPr>
          <p:cNvPr id="7" name="text-231"/>
          <p:cNvSpPr txBox="1"/>
          <p:nvPr/>
        </p:nvSpPr>
        <p:spPr>
          <a:xfrm>
            <a:off x="7680960" y="1783080"/>
            <a:ext cx="38249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5,850 ml/day</a:t>
            </a:r>
            <a:endParaRPr lang="en-US" sz="3400" dirty="0"/>
          </a:p>
        </p:txBody>
      </p:sp>
      <p:sp>
        <p:nvSpPr>
          <p:cNvPr id="8" name="text-232"/>
          <p:cNvSpPr txBox="1"/>
          <p:nvPr/>
        </p:nvSpPr>
        <p:spPr>
          <a:xfrm>
            <a:off x="7680960" y="2468880"/>
            <a:ext cx="38249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from 12 kg of Jute/CaCl₂ composite at $0.086/L — published testing.</a:t>
            </a:r>
            <a:endParaRPr lang="en-US" sz="1500" dirty="0"/>
          </a:p>
        </p:txBody>
      </p:sp>
      <p:sp>
        <p:nvSpPr>
          <p:cNvPr id="9" name="card-233"/>
          <p:cNvSpPr/>
          <p:nvPr/>
        </p:nvSpPr>
        <p:spPr>
          <a:xfrm>
            <a:off x="7452360" y="3886200"/>
            <a:ext cx="4282135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9525">
            <a:solidFill>
              <a:srgbClr val="D5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A2E4D">
                <a:alpha val="12000"/>
              </a:srgbClr>
            </a:outerShdw>
          </a:effectLst>
        </p:spPr>
      </p:sp>
      <p:sp>
        <p:nvSpPr>
          <p:cNvPr id="10" name="icon-bg-234"/>
          <p:cNvSpPr/>
          <p:nvPr/>
        </p:nvSpPr>
        <p:spPr>
          <a:xfrm>
            <a:off x="7680960" y="406908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1" name="icon-23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1719" y="4199839"/>
            <a:ext cx="241402" cy="241402"/>
          </a:xfrm>
          <a:prstGeom prst="rect">
            <a:avLst/>
          </a:prstGeom>
        </p:spPr>
      </p:pic>
      <p:sp>
        <p:nvSpPr>
          <p:cNvPr id="12" name="text-236"/>
          <p:cNvSpPr txBox="1"/>
          <p:nvPr/>
        </p:nvSpPr>
        <p:spPr>
          <a:xfrm>
            <a:off x="8321040" y="4096512"/>
            <a:ext cx="3276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Beats silica gel</a:t>
            </a:r>
            <a:endParaRPr lang="en-US" sz="1700" dirty="0"/>
          </a:p>
        </p:txBody>
      </p:sp>
      <p:sp>
        <p:nvSpPr>
          <p:cNvPr id="13" name="text-237"/>
          <p:cNvSpPr txBox="1"/>
          <p:nvPr/>
        </p:nvSpPr>
        <p:spPr>
          <a:xfrm>
            <a:off x="7680960" y="4663440"/>
            <a:ext cx="3870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4–5x the water uptake of silica gel (0.26 g/g) — at a fraction of the cost.</a:t>
            </a:r>
            <a:endParaRPr lang="en-US" sz="1400" dirty="0"/>
          </a:p>
        </p:txBody>
      </p:sp>
      <p:sp>
        <p:nvSpPr>
          <p:cNvPr id="14" name="keymsg-bg-238"/>
          <p:cNvSpPr/>
          <p:nvPr/>
        </p:nvSpPr>
        <p:spPr>
          <a:xfrm>
            <a:off x="457200" y="5760720"/>
            <a:ext cx="11277295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/>
        </p:spPr>
      </p:sp>
      <p:sp>
        <p:nvSpPr>
          <p:cNvPr id="15" name="icon-bg-239"/>
          <p:cNvSpPr/>
          <p:nvPr/>
        </p:nvSpPr>
        <p:spPr>
          <a:xfrm>
            <a:off x="585216" y="586130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icon-24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14" y="5956402"/>
            <a:ext cx="175565" cy="175565"/>
          </a:xfrm>
          <a:prstGeom prst="rect">
            <a:avLst/>
          </a:prstGeom>
        </p:spPr>
      </p:pic>
      <p:sp>
        <p:nvSpPr>
          <p:cNvPr id="17" name="text-241"/>
          <p:cNvSpPr txBox="1"/>
          <p:nvPr/>
        </p:nvSpPr>
        <p:spPr>
          <a:xfrm>
            <a:off x="1097280" y="57607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The sorbent is the single biggest cost line in any AWG. We cut it by up to 200x — and it works better than silica gel.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sorbent line-up: tested, ranked and costed</a:t>
            </a:r>
            <a:endParaRPr lang="en-US" sz="3000" dirty="0"/>
          </a:p>
        </p:txBody>
      </p:sp>
      <p:graphicFrame>
        <p:nvGraphicFramePr>
          <p:cNvPr id="9" name="table-2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7295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560320"/>
                <a:gridCol w="2103120"/>
                <a:gridCol w="1828800"/>
                <a:gridCol w="1764792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Sorbent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uptake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Regeneration temp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4D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Jute/CaCl₂ composite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at moderate RH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134°C (solar thermal)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$0.086/L water cost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MVP primary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Starch-PEG/CaCl₂ hydrogel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1.47 g/g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71.1°C at 0.5 sun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$0.46/kg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273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 validation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Unprocessed succulent biomass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1.28 g/g (CR) · 1.08 g/g (AC)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65°C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273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Lab-validated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Agricultural straw waste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0.50–1.29 g/g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Solar-driven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Waste product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273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Lab-validated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PANSAP (recycled polymer)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Moderate–high at &gt;40% RH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0.9–1.2 kWh/L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~$2.50/kg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2A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Scale-up phase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Silica gel (baseline)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 g/g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80–120°C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$1–3/kg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5B6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MOF-801/303 (industry std.)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at low RH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60–80°C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$100+/kg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D953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 on cost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keymsg-bg-243"/>
          <p:cNvSpPr/>
          <p:nvPr/>
        </p:nvSpPr>
        <p:spPr>
          <a:xfrm>
            <a:off x="457200" y="5760720"/>
            <a:ext cx="11277295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/>
        </p:spPr>
      </p:sp>
      <p:sp>
        <p:nvSpPr>
          <p:cNvPr id="5" name="icon-bg-244"/>
          <p:cNvSpPr/>
          <p:nvPr/>
        </p:nvSpPr>
        <p:spPr>
          <a:xfrm>
            <a:off x="585216" y="586130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icon-24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4" y="5956402"/>
            <a:ext cx="175565" cy="175565"/>
          </a:xfrm>
          <a:prstGeom prst="rect">
            <a:avLst/>
          </a:prstGeom>
        </p:spPr>
      </p:pic>
      <p:sp>
        <p:nvSpPr>
          <p:cNvPr id="7" name="text-246"/>
          <p:cNvSpPr txBox="1"/>
          <p:nvPr/>
        </p:nvSpPr>
        <p:spPr>
          <a:xfrm>
            <a:off x="1097280" y="57607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Five sorbents beat silica gel on uptake or cost. We run the cheapest as primary and keep the rest in parallel.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deleted the electricity bill from the desorption step</a:t>
            </a:r>
            <a:endParaRPr lang="en-US" sz="3000" dirty="0"/>
          </a:p>
        </p:txBody>
      </p:sp>
      <p:sp>
        <p:nvSpPr>
          <p:cNvPr id="3" name="icon-bg-247"/>
          <p:cNvSpPr/>
          <p:nvPr/>
        </p:nvSpPr>
        <p:spPr>
          <a:xfrm>
            <a:off x="457200" y="132588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4" name="icon-24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444752"/>
            <a:ext cx="219456" cy="219456"/>
          </a:xfrm>
          <a:prstGeom prst="rect">
            <a:avLst/>
          </a:prstGeom>
        </p:spPr>
      </p:pic>
      <p:sp>
        <p:nvSpPr>
          <p:cNvPr id="5" name="text-249"/>
          <p:cNvSpPr txBox="1"/>
          <p:nvPr/>
        </p:nvSpPr>
        <p:spPr>
          <a:xfrm>
            <a:off x="1051560" y="1325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Solar thermal</a:t>
            </a:r>
            <a:endParaRPr lang="en-US" sz="1800" dirty="0"/>
          </a:p>
        </p:txBody>
      </p:sp>
      <p:graphicFrame>
        <p:nvGraphicFramePr>
          <p:cNvPr id="10" name="table-2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5501488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97280"/>
                <a:gridCol w="1005840"/>
                <a:gridCol w="156819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73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73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73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impact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73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Double-ended vacuum tube collector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134.2°C peak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 thermal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electrical desorption energy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Photothermal hydrogel (MXene)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71.1°C at 0.5 sun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Passive solar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Self-regenerating under sunlight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Passive solar-driven desorption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Ambient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Near-zero energy cost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Thermal storage (PCM / sand)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Overnight release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Stored solar heat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Eliminates peak power demand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</a:tr>
            </a:tbl>
          </a:graphicData>
        </a:graphic>
      </p:graphicFrame>
      <p:sp>
        <p:nvSpPr>
          <p:cNvPr id="7" name="icon-bg-251"/>
          <p:cNvSpPr/>
          <p:nvPr/>
        </p:nvSpPr>
        <p:spPr>
          <a:xfrm>
            <a:off x="6233008" y="1325880"/>
            <a:ext cx="457200" cy="457200"/>
          </a:xfrm>
          <a:prstGeom prst="ellipse">
            <a:avLst/>
          </a:prstGeom>
          <a:solidFill>
            <a:srgbClr val="E8702A"/>
          </a:solidFill>
          <a:ln/>
        </p:spPr>
      </p:sp>
      <p:pic>
        <p:nvPicPr>
          <p:cNvPr id="8" name="icon-25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1880" y="1444752"/>
            <a:ext cx="219456" cy="219456"/>
          </a:xfrm>
          <a:prstGeom prst="rect">
            <a:avLst/>
          </a:prstGeom>
        </p:spPr>
      </p:pic>
      <p:sp>
        <p:nvSpPr>
          <p:cNvPr id="9" name="text-253"/>
          <p:cNvSpPr txBox="1"/>
          <p:nvPr/>
        </p:nvSpPr>
        <p:spPr>
          <a:xfrm>
            <a:off x="6827368" y="1325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Waste-heat recovery</a:t>
            </a:r>
            <a:endParaRPr lang="en-US" sz="1800" dirty="0"/>
          </a:p>
        </p:txBody>
      </p:sp>
      <p:graphicFrame>
        <p:nvGraphicFramePr>
          <p:cNvPr id="19" name="table-2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33008" y="1874520"/>
          <a:ext cx="5501488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691640"/>
                <a:gridCol w="152247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2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 savings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2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Optimal conditions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2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VCC + salt-solution circuit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35–50% RH, 30°C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Condenser waste-heat recovery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67% less electricity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Various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Multicyclic sorption + waste heat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Desorption in &lt;10 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90°C waste heat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Passive hybrid with sorption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 kWh/L achieved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humidity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</a:tr>
            </a:tbl>
          </a:graphicData>
        </a:graphic>
      </p:graphicFrame>
      <p:sp>
        <p:nvSpPr>
          <p:cNvPr id="11" name="icon-bg-255"/>
          <p:cNvSpPr/>
          <p:nvPr/>
        </p:nvSpPr>
        <p:spPr>
          <a:xfrm>
            <a:off x="2926080" y="480060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2" name="icon-25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6275" y="4990795"/>
            <a:ext cx="351130" cy="351130"/>
          </a:xfrm>
          <a:prstGeom prst="rect">
            <a:avLst/>
          </a:prstGeom>
        </p:spPr>
      </p:pic>
      <p:sp>
        <p:nvSpPr>
          <p:cNvPr id="13" name="arrow-257"/>
          <p:cNvSpPr/>
          <p:nvPr/>
        </p:nvSpPr>
        <p:spPr>
          <a:xfrm>
            <a:off x="3749040" y="5212080"/>
            <a:ext cx="1280160" cy="0"/>
          </a:xfrm>
          <a:prstGeom prst="line">
            <a:avLst/>
          </a:prstGeom>
          <a:noFill/>
          <a:ln w="38100">
            <a:solidFill>
              <a:srgbClr val="F2A124"/>
            </a:solidFill>
            <a:prstDash val="solid"/>
            <a:tailEnd type="triangle"/>
          </a:ln>
        </p:spPr>
      </p:sp>
      <p:sp>
        <p:nvSpPr>
          <p:cNvPr id="14" name="card-258"/>
          <p:cNvSpPr/>
          <p:nvPr/>
        </p:nvSpPr>
        <p:spPr>
          <a:xfrm>
            <a:off x="5166360" y="4800600"/>
            <a:ext cx="1874520" cy="82296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A2E4D">
                <a:alpha val="12000"/>
              </a:srgbClr>
            </a:outerShdw>
          </a:effectLst>
        </p:spPr>
      </p:sp>
      <p:sp>
        <p:nvSpPr>
          <p:cNvPr id="15" name="text-259"/>
          <p:cNvSpPr txBox="1"/>
          <p:nvPr/>
        </p:nvSpPr>
        <p:spPr>
          <a:xfrm>
            <a:off x="5166360" y="48006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Desorption chamber</a:t>
            </a:r>
            <a:endParaRPr lang="en-US" sz="1400" dirty="0"/>
          </a:p>
        </p:txBody>
      </p:sp>
      <p:sp>
        <p:nvSpPr>
          <p:cNvPr id="16" name="arrow-260"/>
          <p:cNvSpPr/>
          <p:nvPr/>
        </p:nvSpPr>
        <p:spPr>
          <a:xfrm flipH="1">
            <a:off x="7178040" y="5212080"/>
            <a:ext cx="1280160" cy="0"/>
          </a:xfrm>
          <a:prstGeom prst="line">
            <a:avLst/>
          </a:prstGeom>
          <a:noFill/>
          <a:ln w="38100">
            <a:solidFill>
              <a:srgbClr val="E8702A"/>
            </a:solidFill>
            <a:prstDash val="solid"/>
            <a:tailEnd type="triangle"/>
          </a:ln>
        </p:spPr>
      </p:sp>
      <p:sp>
        <p:nvSpPr>
          <p:cNvPr id="17" name="icon-bg-261"/>
          <p:cNvSpPr/>
          <p:nvPr/>
        </p:nvSpPr>
        <p:spPr>
          <a:xfrm>
            <a:off x="8549640" y="4846320"/>
            <a:ext cx="731520" cy="731520"/>
          </a:xfrm>
          <a:prstGeom prst="ellipse">
            <a:avLst/>
          </a:prstGeom>
          <a:solidFill>
            <a:srgbClr val="E8702A"/>
          </a:solidFill>
          <a:ln/>
        </p:spPr>
      </p:sp>
      <p:pic>
        <p:nvPicPr>
          <p:cNvPr id="18" name="icon-26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9835" y="5036515"/>
            <a:ext cx="351130" cy="351130"/>
          </a:xfrm>
          <a:prstGeom prst="rect">
            <a:avLst/>
          </a:prstGeom>
        </p:spPr>
      </p:pic>
      <p:sp>
        <p:nvSpPr>
          <p:cNvPr id="19" name="text-263"/>
          <p:cNvSpPr txBox="1"/>
          <p:nvPr/>
        </p:nvSpPr>
        <p:spPr>
          <a:xfrm>
            <a:off x="457200" y="434340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Integration targets: data centres, industrial facilities, commercial buildings with HVAC — anywhere waste heat already exists.</a:t>
            </a:r>
            <a:endParaRPr lang="en-US" sz="1400" dirty="0"/>
          </a:p>
        </p:txBody>
      </p:sp>
      <p:sp>
        <p:nvSpPr>
          <p:cNvPr id="20" name="keymsg-bg-264"/>
          <p:cNvSpPr/>
          <p:nvPr/>
        </p:nvSpPr>
        <p:spPr>
          <a:xfrm>
            <a:off x="457200" y="5760720"/>
            <a:ext cx="11277295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/>
        </p:spPr>
      </p:sp>
      <p:sp>
        <p:nvSpPr>
          <p:cNvPr id="21" name="icon-bg-265"/>
          <p:cNvSpPr/>
          <p:nvPr/>
        </p:nvSpPr>
        <p:spPr>
          <a:xfrm>
            <a:off x="585216" y="586130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2" name="icon-266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314" y="5956402"/>
            <a:ext cx="175565" cy="175565"/>
          </a:xfrm>
          <a:prstGeom prst="rect">
            <a:avLst/>
          </a:prstGeom>
        </p:spPr>
      </p:pic>
      <p:sp>
        <p:nvSpPr>
          <p:cNvPr id="23" name="text-267"/>
          <p:cNvSpPr txBox="1"/>
          <p:nvPr/>
        </p:nvSpPr>
        <p:spPr>
          <a:xfrm>
            <a:off x="1097280" y="57607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Desorption is the energy hog in every sorption AWG. We made it free with sunlight and waste heat.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from air is pure at condensation. We make it potable and great-tasting</a:t>
            </a:r>
            <a:endParaRPr lang="en-US" sz="3000" dirty="0"/>
          </a:p>
        </p:txBody>
      </p:sp>
      <p:sp>
        <p:nvSpPr>
          <p:cNvPr id="3" name="text-268"/>
          <p:cNvSpPr txBox="1"/>
          <p:nvPr/>
        </p:nvSpPr>
        <p:spPr>
          <a:xfrm>
            <a:off x="457200" y="1325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5-stage filtration</a:t>
            </a:r>
            <a:endParaRPr lang="en-US" sz="1600" dirty="0"/>
          </a:p>
        </p:txBody>
      </p:sp>
      <p:sp>
        <p:nvSpPr>
          <p:cNvPr id="4" name="stage-269"/>
          <p:cNvSpPr/>
          <p:nvPr/>
        </p:nvSpPr>
        <p:spPr>
          <a:xfrm>
            <a:off x="457200" y="1719072"/>
            <a:ext cx="3931920" cy="585216"/>
          </a:xfrm>
          <a:prstGeom prst="roundRect">
            <a:avLst>
              <a:gd name="adj" fmla="val 12500"/>
            </a:avLst>
          </a:prstGeom>
          <a:solidFill>
            <a:srgbClr val="9BD3EA"/>
          </a:solidFill>
          <a:ln/>
        </p:spPr>
      </p:sp>
      <p:sp>
        <p:nvSpPr>
          <p:cNvPr id="5" name="text-270"/>
          <p:cNvSpPr txBox="1"/>
          <p:nvPr/>
        </p:nvSpPr>
        <p:spPr>
          <a:xfrm>
            <a:off x="566928" y="1719072"/>
            <a:ext cx="320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-271"/>
          <p:cNvSpPr txBox="1"/>
          <p:nvPr/>
        </p:nvSpPr>
        <p:spPr>
          <a:xfrm>
            <a:off x="914400" y="1719072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Sediment filter (5–10 µm)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particulates</a:t>
            </a:r>
            <a:endParaRPr lang="en-US" sz="1300" dirty="0"/>
          </a:p>
        </p:txBody>
      </p:sp>
      <p:sp>
        <p:nvSpPr>
          <p:cNvPr id="7" name="stage-272"/>
          <p:cNvSpPr/>
          <p:nvPr/>
        </p:nvSpPr>
        <p:spPr>
          <a:xfrm>
            <a:off x="457200" y="2386584"/>
            <a:ext cx="3931920" cy="585216"/>
          </a:xfrm>
          <a:prstGeom prst="roundRect">
            <a:avLst>
              <a:gd name="adj" fmla="val 12500"/>
            </a:avLst>
          </a:prstGeom>
          <a:solidFill>
            <a:srgbClr val="6FC0E0"/>
          </a:solidFill>
          <a:ln/>
        </p:spPr>
      </p:sp>
      <p:sp>
        <p:nvSpPr>
          <p:cNvPr id="8" name="text-273"/>
          <p:cNvSpPr txBox="1"/>
          <p:nvPr/>
        </p:nvSpPr>
        <p:spPr>
          <a:xfrm>
            <a:off x="566928" y="2386584"/>
            <a:ext cx="320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-274"/>
          <p:cNvSpPr txBox="1"/>
          <p:nvPr/>
        </p:nvSpPr>
        <p:spPr>
          <a:xfrm>
            <a:off x="914400" y="2386584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Activated carbon block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VOCs, odours, chlorine</a:t>
            </a:r>
            <a:endParaRPr lang="en-US" sz="1300" dirty="0"/>
          </a:p>
        </p:txBody>
      </p:sp>
      <p:sp>
        <p:nvSpPr>
          <p:cNvPr id="10" name="stage-275"/>
          <p:cNvSpPr/>
          <p:nvPr/>
        </p:nvSpPr>
        <p:spPr>
          <a:xfrm>
            <a:off x="457200" y="3054096"/>
            <a:ext cx="3931920" cy="585216"/>
          </a:xfrm>
          <a:prstGeom prst="roundRect">
            <a:avLst>
              <a:gd name="adj" fmla="val 12500"/>
            </a:avLst>
          </a:prstGeom>
          <a:solidFill>
            <a:srgbClr val="3FA6D3"/>
          </a:solidFill>
          <a:ln/>
        </p:spPr>
      </p:sp>
      <p:sp>
        <p:nvSpPr>
          <p:cNvPr id="11" name="text-276"/>
          <p:cNvSpPr txBox="1"/>
          <p:nvPr/>
        </p:nvSpPr>
        <p:spPr>
          <a:xfrm>
            <a:off x="566928" y="3054096"/>
            <a:ext cx="320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text-277"/>
          <p:cNvSpPr txBox="1"/>
          <p:nvPr/>
        </p:nvSpPr>
        <p:spPr>
          <a:xfrm>
            <a:off x="914400" y="3054096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Reverse osmosis (optional)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arid / dusty, higher TDS</a:t>
            </a:r>
            <a:endParaRPr lang="en-US" sz="1300" dirty="0"/>
          </a:p>
        </p:txBody>
      </p:sp>
      <p:sp>
        <p:nvSpPr>
          <p:cNvPr id="13" name="stage-278"/>
          <p:cNvSpPr/>
          <p:nvPr/>
        </p:nvSpPr>
        <p:spPr>
          <a:xfrm>
            <a:off x="457200" y="3721608"/>
            <a:ext cx="3931920" cy="585216"/>
          </a:xfrm>
          <a:prstGeom prst="roundRect">
            <a:avLst>
              <a:gd name="adj" fmla="val 12500"/>
            </a:avLst>
          </a:prstGeom>
          <a:solidFill>
            <a:srgbClr val="1E86C0"/>
          </a:solidFill>
          <a:ln/>
        </p:spPr>
      </p:sp>
      <p:sp>
        <p:nvSpPr>
          <p:cNvPr id="14" name="text-279"/>
          <p:cNvSpPr txBox="1"/>
          <p:nvPr/>
        </p:nvSpPr>
        <p:spPr>
          <a:xfrm>
            <a:off x="566928" y="3721608"/>
            <a:ext cx="320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5" name="text-280"/>
          <p:cNvSpPr txBox="1"/>
          <p:nvPr/>
        </p:nvSpPr>
        <p:spPr>
          <a:xfrm>
            <a:off x="914400" y="3721608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UV sterilisation (254 nm)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bacteria and viruses</a:t>
            </a:r>
            <a:endParaRPr lang="en-US" sz="1300" dirty="0"/>
          </a:p>
        </p:txBody>
      </p:sp>
      <p:sp>
        <p:nvSpPr>
          <p:cNvPr id="16" name="stage-281"/>
          <p:cNvSpPr/>
          <p:nvPr/>
        </p:nvSpPr>
        <p:spPr>
          <a:xfrm>
            <a:off x="457200" y="4389120"/>
            <a:ext cx="3931920" cy="585216"/>
          </a:xfrm>
          <a:prstGeom prst="roundRect">
            <a:avLst>
              <a:gd name="adj" fmla="val 12500"/>
            </a:avLst>
          </a:prstGeom>
          <a:solidFill>
            <a:srgbClr val="0A5E96"/>
          </a:solidFill>
          <a:ln/>
        </p:spPr>
      </p:sp>
      <p:sp>
        <p:nvSpPr>
          <p:cNvPr id="17" name="text-282"/>
          <p:cNvSpPr txBox="1"/>
          <p:nvPr/>
        </p:nvSpPr>
        <p:spPr>
          <a:xfrm>
            <a:off x="566928" y="4389120"/>
            <a:ext cx="320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18" name="text-283"/>
          <p:cNvSpPr txBox="1"/>
          <p:nvPr/>
        </p:nvSpPr>
        <p:spPr>
          <a:xfrm>
            <a:off x="914400" y="4389120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Mineralisation cartridge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Ca + Mg for taste and health</a:t>
            </a:r>
            <a:endParaRPr lang="en-US" sz="1300" dirty="0"/>
          </a:p>
        </p:txBody>
      </p:sp>
      <p:sp>
        <p:nvSpPr>
          <p:cNvPr id="19" name="text-284"/>
          <p:cNvSpPr txBox="1"/>
          <p:nvPr/>
        </p:nvSpPr>
        <p:spPr>
          <a:xfrm>
            <a:off x="466344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Testing protocol</a:t>
            </a:r>
            <a:endParaRPr lang="en-US" sz="1600" dirty="0"/>
          </a:p>
        </p:txBody>
      </p:sp>
      <p:graphicFrame>
        <p:nvGraphicFramePr>
          <p:cNvPr id="11" name="table-2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719072"/>
          <a:ext cx="7071055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691640"/>
                <a:gridCol w="1828800"/>
                <a:gridCol w="217901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4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6.5–8.5 (WHO)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IoT pH sensor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500 mg/L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IoT TDS sensor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Turbidity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5 NTU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Turbidity meter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Microbial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CFU/100 mL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Membrane filtration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(3rd-party lab)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 metals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Below WHO limits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ICP-MS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Quarterly (3rd-party lab)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-286"/>
          <p:cNvSpPr txBox="1"/>
          <p:nvPr/>
        </p:nvSpPr>
        <p:spPr>
          <a:xfrm>
            <a:off x="466344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Certifications</a:t>
            </a:r>
            <a:endParaRPr lang="en-US" sz="1200" dirty="0"/>
          </a:p>
        </p:txBody>
      </p:sp>
      <p:sp>
        <p:nvSpPr>
          <p:cNvPr id="22" name="pill-287"/>
          <p:cNvSpPr/>
          <p:nvPr/>
        </p:nvSpPr>
        <p:spPr>
          <a:xfrm>
            <a:off x="4663440" y="4462272"/>
            <a:ext cx="164592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3" name="text-288"/>
          <p:cNvSpPr txBox="1"/>
          <p:nvPr/>
        </p:nvSpPr>
        <p:spPr>
          <a:xfrm>
            <a:off x="4663440" y="44622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ASSE 1090</a:t>
            </a:r>
            <a:endParaRPr lang="en-US" sz="1200" dirty="0"/>
          </a:p>
        </p:txBody>
      </p:sp>
      <p:sp>
        <p:nvSpPr>
          <p:cNvPr id="24" name="pill-289"/>
          <p:cNvSpPr/>
          <p:nvPr/>
        </p:nvSpPr>
        <p:spPr>
          <a:xfrm>
            <a:off x="6446520" y="4462272"/>
            <a:ext cx="164592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5" name="text-290"/>
          <p:cNvSpPr txBox="1"/>
          <p:nvPr/>
        </p:nvSpPr>
        <p:spPr>
          <a:xfrm>
            <a:off x="6446520" y="44622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BIS (India)</a:t>
            </a:r>
            <a:endParaRPr lang="en-US" sz="1200" dirty="0"/>
          </a:p>
        </p:txBody>
      </p:sp>
      <p:sp>
        <p:nvSpPr>
          <p:cNvPr id="26" name="pill-291"/>
          <p:cNvSpPr/>
          <p:nvPr/>
        </p:nvSpPr>
        <p:spPr>
          <a:xfrm>
            <a:off x="8229600" y="4462272"/>
            <a:ext cx="164592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7" name="text-292"/>
          <p:cNvSpPr txBox="1"/>
          <p:nvPr/>
        </p:nvSpPr>
        <p:spPr>
          <a:xfrm>
            <a:off x="8229600" y="44622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NSF/ANSI 372</a:t>
            </a:r>
            <a:endParaRPr lang="en-US" sz="1200" dirty="0"/>
          </a:p>
        </p:txBody>
      </p:sp>
      <p:sp>
        <p:nvSpPr>
          <p:cNvPr id="28" name="pill-293"/>
          <p:cNvSpPr/>
          <p:nvPr/>
        </p:nvSpPr>
        <p:spPr>
          <a:xfrm>
            <a:off x="10012680" y="4462272"/>
            <a:ext cx="164592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9" name="text-294"/>
          <p:cNvSpPr txBox="1"/>
          <p:nvPr/>
        </p:nvSpPr>
        <p:spPr>
          <a:xfrm>
            <a:off x="10012680" y="44622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WHO Guidelines</a:t>
            </a:r>
            <a:endParaRPr lang="en-US" sz="1200" dirty="0"/>
          </a:p>
        </p:txBody>
      </p:sp>
      <p:sp>
        <p:nvSpPr>
          <p:cNvPr id="30" name="text-295"/>
          <p:cNvSpPr txBox="1"/>
          <p:nvPr/>
        </p:nvSpPr>
        <p:spPr>
          <a:xfrm>
            <a:off x="4663440" y="4937760"/>
            <a:ext cx="70710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New sorbents: PANSAP condensate validated against Brazilian potable standards. Post-treatment with remineralisation is standard.</a:t>
            </a:r>
            <a:endParaRPr lang="en-US" sz="1200" dirty="0"/>
          </a:p>
        </p:txBody>
      </p:sp>
      <p:sp>
        <p:nvSpPr>
          <p:cNvPr id="31" name="keymsg-bg-296"/>
          <p:cNvSpPr/>
          <p:nvPr/>
        </p:nvSpPr>
        <p:spPr>
          <a:xfrm>
            <a:off x="457200" y="5760720"/>
            <a:ext cx="11277295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/>
        </p:spPr>
      </p:sp>
      <p:sp>
        <p:nvSpPr>
          <p:cNvPr id="32" name="icon-bg-297"/>
          <p:cNvSpPr/>
          <p:nvPr/>
        </p:nvSpPr>
        <p:spPr>
          <a:xfrm>
            <a:off x="585216" y="586130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3" name="icon-29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4" y="5956402"/>
            <a:ext cx="175565" cy="175565"/>
          </a:xfrm>
          <a:prstGeom prst="rect">
            <a:avLst/>
          </a:prstGeom>
        </p:spPr>
      </p:pic>
      <p:sp>
        <p:nvSpPr>
          <p:cNvPr id="34" name="text-299"/>
          <p:cNvSpPr txBox="1"/>
          <p:nvPr/>
        </p:nvSpPr>
        <p:spPr>
          <a:xfrm>
            <a:off x="1097280" y="57607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Cheap water is worthless if it is unsafe. Certification is a cost of entry, not an afterthought.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MVP: two prototypes, one validation plan, a clear path to scale</a:t>
            </a:r>
            <a:endParaRPr lang="en-US" sz="3000" dirty="0"/>
          </a:p>
        </p:txBody>
      </p:sp>
      <p:graphicFrame>
        <p:nvGraphicFramePr>
          <p:cNvPr id="12" name="table-3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51206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874520"/>
                <a:gridCol w="18745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MVP: 100 L/day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Scale-up: 1,000 L/day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4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output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L/day @ 30°C, 60% RH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 L/day @ 30°C, 60% RH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 energy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1.5 kWh/L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1.0 kWh/L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quality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WHO/EPA potable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WHO/EPA potable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90%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95%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cost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$8,000 all-in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$40,000 all-in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301"/>
          <p:cNvSpPr txBox="1"/>
          <p:nvPr/>
        </p:nvSpPr>
        <p:spPr>
          <a:xfrm>
            <a:off x="457200" y="48920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i="1" dirty="0">
                <a:solidFill>
                  <a:schemeClr val="accent1"/>
                </a:solidFill>
              </a:rPr>
              <a:t>Scale the same architecture 10x.</a:t>
            </a:r>
            <a:endParaRPr lang="en-US" sz="1500" dirty="0"/>
          </a:p>
        </p:txBody>
      </p:sp>
      <p:sp>
        <p:nvSpPr>
          <p:cNvPr id="5" name="card-302"/>
          <p:cNvSpPr/>
          <p:nvPr/>
        </p:nvSpPr>
        <p:spPr>
          <a:xfrm>
            <a:off x="5852160" y="1371600"/>
            <a:ext cx="2826868" cy="4160520"/>
          </a:xfrm>
          <a:prstGeom prst="roundRect">
            <a:avLst>
              <a:gd name="adj" fmla="val 3882"/>
            </a:avLst>
          </a:prstGeom>
          <a:solidFill>
            <a:schemeClr val="bg1"/>
          </a:solidFill>
          <a:ln w="9525">
            <a:solidFill>
              <a:srgbClr val="D5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A2E4D">
                <a:alpha val="12000"/>
              </a:srgbClr>
            </a:outerShdw>
          </a:effectLst>
        </p:spPr>
      </p:sp>
      <p:sp>
        <p:nvSpPr>
          <p:cNvPr id="6" name="icon-bg-303"/>
          <p:cNvSpPr/>
          <p:nvPr/>
        </p:nvSpPr>
        <p:spPr>
          <a:xfrm>
            <a:off x="6080760" y="1554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-30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7181" y="1720901"/>
            <a:ext cx="307238" cy="307238"/>
          </a:xfrm>
          <a:prstGeom prst="rect">
            <a:avLst/>
          </a:prstGeom>
        </p:spPr>
      </p:pic>
      <p:sp>
        <p:nvSpPr>
          <p:cNvPr id="8" name="text-305"/>
          <p:cNvSpPr txBox="1"/>
          <p:nvPr/>
        </p:nvSpPr>
        <p:spPr>
          <a:xfrm>
            <a:off x="6858000" y="1572768"/>
            <a:ext cx="17295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Prototype A</a:t>
            </a:r>
            <a:endParaRPr lang="en-US" sz="1800" dirty="0"/>
          </a:p>
        </p:txBody>
      </p:sp>
      <p:sp>
        <p:nvSpPr>
          <p:cNvPr id="9" name="text-306"/>
          <p:cNvSpPr txBox="1"/>
          <p:nvPr/>
        </p:nvSpPr>
        <p:spPr>
          <a:xfrm>
            <a:off x="6858000" y="1892808"/>
            <a:ext cx="17295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Condensation · humid climates</a:t>
            </a:r>
            <a:endParaRPr lang="en-US" sz="1200" dirty="0"/>
          </a:p>
        </p:txBody>
      </p:sp>
      <p:sp>
        <p:nvSpPr>
          <p:cNvPr id="10" name="text-307"/>
          <p:cNvSpPr txBox="1"/>
          <p:nvPr/>
        </p:nvSpPr>
        <p:spPr>
          <a:xfrm>
            <a:off x="6080760" y="2423160"/>
            <a:ext cx="241538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Hermetic rotary compressor (1.5 HP, R410A), microchannel evaporator + condenser coils, thermostatic expansion valve, 120–200 CFM axial fan, ESP32 IoT controller. Airflow 500–800 m³/h; evaporator coil at 5–10°C.</a:t>
            </a:r>
            <a:endParaRPr lang="en-US" sz="1300" dirty="0"/>
          </a:p>
        </p:txBody>
      </p:sp>
      <p:sp>
        <p:nvSpPr>
          <p:cNvPr id="11" name="card-308"/>
          <p:cNvSpPr/>
          <p:nvPr/>
        </p:nvSpPr>
        <p:spPr>
          <a:xfrm>
            <a:off x="8907628" y="1371600"/>
            <a:ext cx="2826868" cy="4160520"/>
          </a:xfrm>
          <a:prstGeom prst="roundRect">
            <a:avLst>
              <a:gd name="adj" fmla="val 3882"/>
            </a:avLst>
          </a:prstGeom>
          <a:solidFill>
            <a:schemeClr val="bg1"/>
          </a:solidFill>
          <a:ln w="9525">
            <a:solidFill>
              <a:srgbClr val="D5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A2E4D">
                <a:alpha val="12000"/>
              </a:srgbClr>
            </a:outerShdw>
          </a:effectLst>
        </p:spPr>
      </p:sp>
      <p:sp>
        <p:nvSpPr>
          <p:cNvPr id="12" name="icon-bg-309"/>
          <p:cNvSpPr/>
          <p:nvPr/>
        </p:nvSpPr>
        <p:spPr>
          <a:xfrm>
            <a:off x="9136228" y="155448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3" name="icon-31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2648" y="1720901"/>
            <a:ext cx="307238" cy="307238"/>
          </a:xfrm>
          <a:prstGeom prst="rect">
            <a:avLst/>
          </a:prstGeom>
        </p:spPr>
      </p:pic>
      <p:sp>
        <p:nvSpPr>
          <p:cNvPr id="14" name="text-311"/>
          <p:cNvSpPr txBox="1"/>
          <p:nvPr/>
        </p:nvSpPr>
        <p:spPr>
          <a:xfrm>
            <a:off x="9913468" y="1572768"/>
            <a:ext cx="17295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Prototype B</a:t>
            </a:r>
            <a:endParaRPr lang="en-US" sz="1800" dirty="0"/>
          </a:p>
        </p:txBody>
      </p:sp>
      <p:sp>
        <p:nvSpPr>
          <p:cNvPr id="15" name="text-312"/>
          <p:cNvSpPr txBox="1"/>
          <p:nvPr/>
        </p:nvSpPr>
        <p:spPr>
          <a:xfrm>
            <a:off x="9913468" y="1892808"/>
            <a:ext cx="17295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Sorption · arid climates</a:t>
            </a:r>
            <a:endParaRPr lang="en-US" sz="1200" dirty="0"/>
          </a:p>
        </p:txBody>
      </p:sp>
      <p:sp>
        <p:nvSpPr>
          <p:cNvPr id="16" name="text-313"/>
          <p:cNvSpPr txBox="1"/>
          <p:nvPr/>
        </p:nvSpPr>
        <p:spPr>
          <a:xfrm>
            <a:off x="9136228" y="2423160"/>
            <a:ext cx="241538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Dual chamber, continuous: Chamber A adsorbs while Chamber B desorbs. 12 kg Jute/CaCl₂ sorbent. Solar thermal collector + waste-heat loop for desorption.</a:t>
            </a:r>
            <a:endParaRPr lang="en-US" sz="1300" dirty="0"/>
          </a:p>
        </p:txBody>
      </p:sp>
      <p:sp>
        <p:nvSpPr>
          <p:cNvPr id="17" name="keymsg-bg-314"/>
          <p:cNvSpPr/>
          <p:nvPr/>
        </p:nvSpPr>
        <p:spPr>
          <a:xfrm>
            <a:off x="457200" y="5760720"/>
            <a:ext cx="11277295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/>
        </p:spPr>
      </p:sp>
      <p:sp>
        <p:nvSpPr>
          <p:cNvPr id="18" name="icon-bg-315"/>
          <p:cNvSpPr/>
          <p:nvPr/>
        </p:nvSpPr>
        <p:spPr>
          <a:xfrm>
            <a:off x="585216" y="586130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9" name="icon-31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14" y="5956402"/>
            <a:ext cx="175565" cy="175565"/>
          </a:xfrm>
          <a:prstGeom prst="rect">
            <a:avLst/>
          </a:prstGeom>
        </p:spPr>
      </p:pic>
      <p:sp>
        <p:nvSpPr>
          <p:cNvPr id="20" name="text-317"/>
          <p:cNvSpPr txBox="1"/>
          <p:nvPr/>
        </p:nvSpPr>
        <p:spPr>
          <a:xfrm>
            <a:off x="1097280" y="57607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We prove the technology at 100 L/day for under $4,000 in materials — then scale the same architecture to 1,000 L/day.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Sorption MVP bill of materials: under $4,000</a:t>
            </a:r>
            <a:endParaRPr lang="en-US" sz="3000" dirty="0"/>
          </a:p>
        </p:txBody>
      </p:sp>
      <p:graphicFrame>
        <p:nvGraphicFramePr>
          <p:cNvPr id="13" name="table-3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37947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1430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(USD)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4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Sorbent (Jute/CaCl₂, 12 kg)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$50–100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Adsorption chambers + heat exchangers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$400–800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 thermal collector (4.86 m²)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$300–500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Condenser coil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$150–300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$80–150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Valves &amp; controls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$200–400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table-3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1371600"/>
          <a:ext cx="37947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1430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(USD)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4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Thermal storage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$100–200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5-stage filtration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$300–600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 tank (100–200 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$100–200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IoT controller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$50–100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Enclosure &amp; frame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$200–400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Miscellaneous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$100–200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</a:tr>
            </a:tbl>
          </a:graphicData>
        </a:graphic>
      </p:graphicFrame>
      <p:sp>
        <p:nvSpPr>
          <p:cNvPr id="5" name="card-320"/>
          <p:cNvSpPr/>
          <p:nvPr/>
        </p:nvSpPr>
        <p:spPr>
          <a:xfrm>
            <a:off x="8503920" y="1371600"/>
            <a:ext cx="3230575" cy="4160520"/>
          </a:xfrm>
          <a:prstGeom prst="roundRect">
            <a:avLst>
              <a:gd name="adj" fmla="val 3397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A2E4D">
                <a:alpha val="12000"/>
              </a:srgbClr>
            </a:outerShdw>
          </a:effectLst>
        </p:spPr>
      </p:sp>
      <p:sp>
        <p:nvSpPr>
          <p:cNvPr id="6" name="text-321"/>
          <p:cNvSpPr txBox="1"/>
          <p:nvPr/>
        </p:nvSpPr>
        <p:spPr>
          <a:xfrm>
            <a:off x="8778240" y="1600200"/>
            <a:ext cx="2681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TOTAL BOM</a:t>
            </a:r>
            <a:endParaRPr lang="en-US" sz="1300" dirty="0"/>
          </a:p>
        </p:txBody>
      </p:sp>
      <p:sp>
        <p:nvSpPr>
          <p:cNvPr id="7" name="text-322"/>
          <p:cNvSpPr txBox="1"/>
          <p:nvPr/>
        </p:nvSpPr>
        <p:spPr>
          <a:xfrm>
            <a:off x="8778240" y="1920240"/>
            <a:ext cx="26819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$2,030–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$3,950</a:t>
            </a:r>
            <a:endParaRPr lang="en-US" sz="4000" dirty="0"/>
          </a:p>
        </p:txBody>
      </p:sp>
      <p:sp>
        <p:nvSpPr>
          <p:cNvPr id="8" name="text-323"/>
          <p:cNvSpPr txBox="1"/>
          <p:nvPr/>
        </p:nvSpPr>
        <p:spPr>
          <a:xfrm>
            <a:off x="8778240" y="3429000"/>
            <a:ext cx="26819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vs $8,000–$12,000 for a conventional 100 L/day AWG</a:t>
            </a:r>
            <a:endParaRPr lang="en-US" sz="1500" dirty="0"/>
          </a:p>
        </p:txBody>
      </p:sp>
      <p:sp>
        <p:nvSpPr>
          <p:cNvPr id="9" name="text-324"/>
          <p:cNvSpPr txBox="1"/>
          <p:nvPr/>
        </p:nvSpPr>
        <p:spPr>
          <a:xfrm>
            <a:off x="8778240" y="4389120"/>
            <a:ext cx="26819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Sorbent is just </a:t>
            </a:r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$50–100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 of it.</a:t>
            </a:r>
            <a:endParaRPr lang="en-US" sz="1500" dirty="0"/>
          </a:p>
        </p:txBody>
      </p:sp>
      <p:sp>
        <p:nvSpPr>
          <p:cNvPr id="10" name="keymsg-bg-325"/>
          <p:cNvSpPr/>
          <p:nvPr/>
        </p:nvSpPr>
        <p:spPr>
          <a:xfrm>
            <a:off x="457200" y="5760720"/>
            <a:ext cx="11277295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/>
        </p:spPr>
      </p:sp>
      <p:sp>
        <p:nvSpPr>
          <p:cNvPr id="11" name="icon-bg-326"/>
          <p:cNvSpPr/>
          <p:nvPr/>
        </p:nvSpPr>
        <p:spPr>
          <a:xfrm>
            <a:off x="585216" y="586130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2" name="icon-32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4" y="5956402"/>
            <a:ext cx="175565" cy="175565"/>
          </a:xfrm>
          <a:prstGeom prst="rect">
            <a:avLst/>
          </a:prstGeom>
        </p:spPr>
      </p:pic>
      <p:sp>
        <p:nvSpPr>
          <p:cNvPr id="13" name="text-328"/>
          <p:cNvSpPr txBox="1"/>
          <p:nvPr/>
        </p:nvSpPr>
        <p:spPr>
          <a:xfrm>
            <a:off x="1097280" y="57607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60–75% lower CapEx than a conventional AWG — and the costliest parts (chambers, filtration) get cheaper with volume.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validation: lab → field → certification in 12 months</a:t>
            </a:r>
            <a:endParaRPr lang="en-US" sz="3000" dirty="0"/>
          </a:p>
        </p:txBody>
      </p:sp>
      <p:sp>
        <p:nvSpPr>
          <p:cNvPr id="3" name="timeline-329"/>
          <p:cNvSpPr/>
          <p:nvPr/>
        </p:nvSpPr>
        <p:spPr>
          <a:xfrm>
            <a:off x="1339825" y="1691640"/>
            <a:ext cx="9512046" cy="0"/>
          </a:xfrm>
          <a:prstGeom prst="line">
            <a:avLst/>
          </a:prstGeom>
          <a:noFill/>
          <a:ln w="38100">
            <a:solidFill>
              <a:srgbClr val="3FB6D9"/>
            </a:solidFill>
            <a:prstDash val="solid"/>
          </a:ln>
        </p:spPr>
      </p:sp>
      <p:sp>
        <p:nvSpPr>
          <p:cNvPr id="4" name="gate-330"/>
          <p:cNvSpPr/>
          <p:nvPr/>
        </p:nvSpPr>
        <p:spPr>
          <a:xfrm>
            <a:off x="1138657" y="1490472"/>
            <a:ext cx="402336" cy="402336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-331"/>
          <p:cNvSpPr txBox="1"/>
          <p:nvPr/>
        </p:nvSpPr>
        <p:spPr>
          <a:xfrm>
            <a:off x="457200" y="1188720"/>
            <a:ext cx="17652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M 0–2</a:t>
            </a:r>
            <a:endParaRPr lang="en-US" sz="1200" dirty="0"/>
          </a:p>
        </p:txBody>
      </p:sp>
      <p:sp>
        <p:nvSpPr>
          <p:cNvPr id="6" name="card-332"/>
          <p:cNvSpPr/>
          <p:nvPr/>
        </p:nvSpPr>
        <p:spPr>
          <a:xfrm>
            <a:off x="457200" y="2103120"/>
            <a:ext cx="1765249" cy="3429000"/>
          </a:xfrm>
          <a:prstGeom prst="roundRect">
            <a:avLst>
              <a:gd name="adj" fmla="val 6216"/>
            </a:avLst>
          </a:prstGeom>
          <a:solidFill>
            <a:schemeClr val="bg1"/>
          </a:solidFill>
          <a:ln w="9525">
            <a:solidFill>
              <a:srgbClr val="D5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A2E4D">
                <a:alpha val="12000"/>
              </a:srgbClr>
            </a:outerShdw>
          </a:effectLst>
        </p:spPr>
      </p:sp>
      <p:sp>
        <p:nvSpPr>
          <p:cNvPr id="7" name="text-333"/>
          <p:cNvSpPr txBox="1"/>
          <p:nvPr/>
        </p:nvSpPr>
        <p:spPr>
          <a:xfrm>
            <a:off x="566928" y="2194560"/>
            <a:ext cx="154579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Design &amp; simulation</a:t>
            </a:r>
            <a:endParaRPr lang="en-US" sz="1400" dirty="0"/>
          </a:p>
        </p:txBody>
      </p:sp>
      <p:sp>
        <p:nvSpPr>
          <p:cNvPr id="8" name="text-334"/>
          <p:cNvSpPr txBox="1"/>
          <p:nvPr/>
        </p:nvSpPr>
        <p:spPr>
          <a:xfrm>
            <a:off x="566928" y="2743200"/>
            <a:ext cx="154579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Thermodynamic modelling, CAD, component sourcing</a:t>
            </a:r>
            <a:endParaRPr lang="en-US" sz="1200" dirty="0"/>
          </a:p>
        </p:txBody>
      </p:sp>
      <p:sp>
        <p:nvSpPr>
          <p:cNvPr id="9" name="text-335"/>
          <p:cNvSpPr txBox="1"/>
          <p:nvPr/>
        </p:nvSpPr>
        <p:spPr>
          <a:xfrm>
            <a:off x="566928" y="4251960"/>
            <a:ext cx="154579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Delivers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Design package, BOM</a:t>
            </a:r>
            <a:endParaRPr lang="en-US" sz="1200" dirty="0"/>
          </a:p>
        </p:txBody>
      </p:sp>
      <p:sp>
        <p:nvSpPr>
          <p:cNvPr id="10" name="gate-336"/>
          <p:cNvSpPr/>
          <p:nvPr/>
        </p:nvSpPr>
        <p:spPr>
          <a:xfrm>
            <a:off x="3041066" y="1490472"/>
            <a:ext cx="402336" cy="402336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-337"/>
          <p:cNvSpPr txBox="1"/>
          <p:nvPr/>
        </p:nvSpPr>
        <p:spPr>
          <a:xfrm>
            <a:off x="2359609" y="1188720"/>
            <a:ext cx="17652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M 2–4</a:t>
            </a:r>
            <a:endParaRPr lang="en-US" sz="1200" dirty="0"/>
          </a:p>
        </p:txBody>
      </p:sp>
      <p:sp>
        <p:nvSpPr>
          <p:cNvPr id="12" name="card-338"/>
          <p:cNvSpPr/>
          <p:nvPr/>
        </p:nvSpPr>
        <p:spPr>
          <a:xfrm>
            <a:off x="2359609" y="2103120"/>
            <a:ext cx="1765249" cy="3429000"/>
          </a:xfrm>
          <a:prstGeom prst="roundRect">
            <a:avLst>
              <a:gd name="adj" fmla="val 6216"/>
            </a:avLst>
          </a:prstGeom>
          <a:solidFill>
            <a:schemeClr val="bg1"/>
          </a:solidFill>
          <a:ln w="9525">
            <a:solidFill>
              <a:srgbClr val="D5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A2E4D">
                <a:alpha val="12000"/>
              </a:srgbClr>
            </a:outerShdw>
          </a:effectLst>
        </p:spPr>
      </p:sp>
      <p:sp>
        <p:nvSpPr>
          <p:cNvPr id="13" name="text-339"/>
          <p:cNvSpPr txBox="1"/>
          <p:nvPr/>
        </p:nvSpPr>
        <p:spPr>
          <a:xfrm>
            <a:off x="2469337" y="2194560"/>
            <a:ext cx="154579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Prototype build</a:t>
            </a:r>
            <a:endParaRPr lang="en-US" sz="1400" dirty="0"/>
          </a:p>
        </p:txBody>
      </p:sp>
      <p:sp>
        <p:nvSpPr>
          <p:cNvPr id="14" name="text-340"/>
          <p:cNvSpPr txBox="1"/>
          <p:nvPr/>
        </p:nvSpPr>
        <p:spPr>
          <a:xfrm>
            <a:off x="2469337" y="2743200"/>
            <a:ext cx="154579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Assemble condensation MVP and sorption MVP</a:t>
            </a:r>
            <a:endParaRPr lang="en-US" sz="1200" dirty="0"/>
          </a:p>
        </p:txBody>
      </p:sp>
      <p:sp>
        <p:nvSpPr>
          <p:cNvPr id="15" name="text-341"/>
          <p:cNvSpPr txBox="1"/>
          <p:nvPr/>
        </p:nvSpPr>
        <p:spPr>
          <a:xfrm>
            <a:off x="2469337" y="4251960"/>
            <a:ext cx="154579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Delivers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Two working prototypes</a:t>
            </a:r>
            <a:endParaRPr lang="en-US" sz="1200" dirty="0"/>
          </a:p>
        </p:txBody>
      </p:sp>
      <p:sp>
        <p:nvSpPr>
          <p:cNvPr id="16" name="gate-342"/>
          <p:cNvSpPr/>
          <p:nvPr/>
        </p:nvSpPr>
        <p:spPr>
          <a:xfrm>
            <a:off x="4943475" y="1490472"/>
            <a:ext cx="402336" cy="402336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-343"/>
          <p:cNvSpPr txBox="1"/>
          <p:nvPr/>
        </p:nvSpPr>
        <p:spPr>
          <a:xfrm>
            <a:off x="4262018" y="1188720"/>
            <a:ext cx="17652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M 4–6</a:t>
            </a:r>
            <a:endParaRPr lang="en-US" sz="1200" dirty="0"/>
          </a:p>
        </p:txBody>
      </p:sp>
      <p:sp>
        <p:nvSpPr>
          <p:cNvPr id="18" name="card-344"/>
          <p:cNvSpPr/>
          <p:nvPr/>
        </p:nvSpPr>
        <p:spPr>
          <a:xfrm>
            <a:off x="4262018" y="2103120"/>
            <a:ext cx="1765249" cy="3429000"/>
          </a:xfrm>
          <a:prstGeom prst="roundRect">
            <a:avLst>
              <a:gd name="adj" fmla="val 6216"/>
            </a:avLst>
          </a:prstGeom>
          <a:solidFill>
            <a:schemeClr val="bg1"/>
          </a:solidFill>
          <a:ln w="9525">
            <a:solidFill>
              <a:srgbClr val="D5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A2E4D">
                <a:alpha val="12000"/>
              </a:srgbClr>
            </a:outerShdw>
          </a:effectLst>
        </p:spPr>
      </p:sp>
      <p:sp>
        <p:nvSpPr>
          <p:cNvPr id="19" name="text-345"/>
          <p:cNvSpPr txBox="1"/>
          <p:nvPr/>
        </p:nvSpPr>
        <p:spPr>
          <a:xfrm>
            <a:off x="4371746" y="2194560"/>
            <a:ext cx="154579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Lab testing</a:t>
            </a:r>
            <a:endParaRPr lang="en-US" sz="1400" dirty="0"/>
          </a:p>
        </p:txBody>
      </p:sp>
      <p:sp>
        <p:nvSpPr>
          <p:cNvPr id="20" name="text-346"/>
          <p:cNvSpPr txBox="1"/>
          <p:nvPr/>
        </p:nvSpPr>
        <p:spPr>
          <a:xfrm>
            <a:off x="4371746" y="2743200"/>
            <a:ext cx="154579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Controlled chamber: 20/25/30/35°C × 30–80% RH (6 steps)</a:t>
            </a:r>
            <a:endParaRPr lang="en-US" sz="1200" dirty="0"/>
          </a:p>
        </p:txBody>
      </p:sp>
      <p:sp>
        <p:nvSpPr>
          <p:cNvPr id="21" name="text-347"/>
          <p:cNvSpPr txBox="1"/>
          <p:nvPr/>
        </p:nvSpPr>
        <p:spPr>
          <a:xfrm>
            <a:off x="4371746" y="4251960"/>
            <a:ext cx="154579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Delivers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Performance curves, optimisation report</a:t>
            </a:r>
            <a:endParaRPr lang="en-US" sz="1200" dirty="0"/>
          </a:p>
        </p:txBody>
      </p:sp>
      <p:sp>
        <p:nvSpPr>
          <p:cNvPr id="22" name="gate-348"/>
          <p:cNvSpPr/>
          <p:nvPr/>
        </p:nvSpPr>
        <p:spPr>
          <a:xfrm>
            <a:off x="6845884" y="1490472"/>
            <a:ext cx="402336" cy="402336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-349"/>
          <p:cNvSpPr txBox="1"/>
          <p:nvPr/>
        </p:nvSpPr>
        <p:spPr>
          <a:xfrm>
            <a:off x="6164428" y="1188720"/>
            <a:ext cx="17652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M 6–9</a:t>
            </a:r>
            <a:endParaRPr lang="en-US" sz="1200" dirty="0"/>
          </a:p>
        </p:txBody>
      </p:sp>
      <p:sp>
        <p:nvSpPr>
          <p:cNvPr id="24" name="card-350"/>
          <p:cNvSpPr/>
          <p:nvPr/>
        </p:nvSpPr>
        <p:spPr>
          <a:xfrm>
            <a:off x="6164428" y="2103120"/>
            <a:ext cx="1765249" cy="3429000"/>
          </a:xfrm>
          <a:prstGeom prst="roundRect">
            <a:avLst>
              <a:gd name="adj" fmla="val 6216"/>
            </a:avLst>
          </a:prstGeom>
          <a:solidFill>
            <a:schemeClr val="bg1"/>
          </a:solidFill>
          <a:ln w="9525">
            <a:solidFill>
              <a:srgbClr val="D5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A2E4D">
                <a:alpha val="12000"/>
              </a:srgbClr>
            </a:outerShdw>
          </a:effectLst>
        </p:spPr>
      </p:sp>
      <p:sp>
        <p:nvSpPr>
          <p:cNvPr id="25" name="text-351"/>
          <p:cNvSpPr txBox="1"/>
          <p:nvPr/>
        </p:nvSpPr>
        <p:spPr>
          <a:xfrm>
            <a:off x="6274156" y="2194560"/>
            <a:ext cx="154579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Field pilot</a:t>
            </a:r>
            <a:endParaRPr lang="en-US" sz="1400" dirty="0"/>
          </a:p>
        </p:txBody>
      </p:sp>
      <p:sp>
        <p:nvSpPr>
          <p:cNvPr id="26" name="text-352"/>
          <p:cNvSpPr txBox="1"/>
          <p:nvPr/>
        </p:nvSpPr>
        <p:spPr>
          <a:xfrm>
            <a:off x="6274156" y="2743200"/>
            <a:ext cx="154579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 humid site (Mumbai/Chennai) + 1 arid site (Delhi/Ahmedabad), 3 months continuous</a:t>
            </a:r>
            <a:endParaRPr lang="en-US" sz="1200" dirty="0"/>
          </a:p>
        </p:txBody>
      </p:sp>
      <p:sp>
        <p:nvSpPr>
          <p:cNvPr id="27" name="text-353"/>
          <p:cNvSpPr txBox="1"/>
          <p:nvPr/>
        </p:nvSpPr>
        <p:spPr>
          <a:xfrm>
            <a:off x="6274156" y="4251960"/>
            <a:ext cx="154579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Delivers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Field data, MTBF, water quality reports</a:t>
            </a:r>
            <a:endParaRPr lang="en-US" sz="1200" dirty="0"/>
          </a:p>
        </p:txBody>
      </p:sp>
      <p:sp>
        <p:nvSpPr>
          <p:cNvPr id="28" name="gate-354"/>
          <p:cNvSpPr/>
          <p:nvPr/>
        </p:nvSpPr>
        <p:spPr>
          <a:xfrm>
            <a:off x="8748293" y="1490472"/>
            <a:ext cx="402336" cy="402336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-355"/>
          <p:cNvSpPr txBox="1"/>
          <p:nvPr/>
        </p:nvSpPr>
        <p:spPr>
          <a:xfrm>
            <a:off x="8066837" y="1188720"/>
            <a:ext cx="17652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M 9–12</a:t>
            </a:r>
            <a:endParaRPr lang="en-US" sz="1200" dirty="0"/>
          </a:p>
        </p:txBody>
      </p:sp>
      <p:sp>
        <p:nvSpPr>
          <p:cNvPr id="30" name="card-356"/>
          <p:cNvSpPr/>
          <p:nvPr/>
        </p:nvSpPr>
        <p:spPr>
          <a:xfrm>
            <a:off x="8066837" y="2103120"/>
            <a:ext cx="1765249" cy="3429000"/>
          </a:xfrm>
          <a:prstGeom prst="roundRect">
            <a:avLst>
              <a:gd name="adj" fmla="val 6216"/>
            </a:avLst>
          </a:prstGeom>
          <a:solidFill>
            <a:schemeClr val="bg1"/>
          </a:solidFill>
          <a:ln w="9525">
            <a:solidFill>
              <a:srgbClr val="D5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A2E4D">
                <a:alpha val="12000"/>
              </a:srgbClr>
            </a:outerShdw>
          </a:effectLst>
        </p:spPr>
      </p:sp>
      <p:sp>
        <p:nvSpPr>
          <p:cNvPr id="31" name="text-357"/>
          <p:cNvSpPr txBox="1"/>
          <p:nvPr/>
        </p:nvSpPr>
        <p:spPr>
          <a:xfrm>
            <a:off x="8176565" y="2194560"/>
            <a:ext cx="154579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Certification</a:t>
            </a:r>
            <a:endParaRPr lang="en-US" sz="1400" dirty="0"/>
          </a:p>
        </p:txBody>
      </p:sp>
      <p:sp>
        <p:nvSpPr>
          <p:cNvPr id="32" name="text-358"/>
          <p:cNvSpPr txBox="1"/>
          <p:nvPr/>
        </p:nvSpPr>
        <p:spPr>
          <a:xfrm>
            <a:off x="8176565" y="2743200"/>
            <a:ext cx="154579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ASSE 1090, BIS, third-party water testing</a:t>
            </a:r>
            <a:endParaRPr lang="en-US" sz="1200" dirty="0"/>
          </a:p>
        </p:txBody>
      </p:sp>
      <p:sp>
        <p:nvSpPr>
          <p:cNvPr id="33" name="text-359"/>
          <p:cNvSpPr txBox="1"/>
          <p:nvPr/>
        </p:nvSpPr>
        <p:spPr>
          <a:xfrm>
            <a:off x="8176565" y="4251960"/>
            <a:ext cx="154579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Delivers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Certifications, validated unit economics</a:t>
            </a:r>
            <a:endParaRPr lang="en-US" sz="1200" dirty="0"/>
          </a:p>
        </p:txBody>
      </p:sp>
      <p:sp>
        <p:nvSpPr>
          <p:cNvPr id="34" name="gate-360"/>
          <p:cNvSpPr/>
          <p:nvPr/>
        </p:nvSpPr>
        <p:spPr>
          <a:xfrm>
            <a:off x="10650703" y="1490472"/>
            <a:ext cx="402336" cy="402336"/>
          </a:xfrm>
          <a:prstGeom prst="ellipse">
            <a:avLst/>
          </a:prstGeom>
          <a:solidFill>
            <a:schemeClr val="accent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5" name="text-361"/>
          <p:cNvSpPr txBox="1"/>
          <p:nvPr/>
        </p:nvSpPr>
        <p:spPr>
          <a:xfrm>
            <a:off x="9969246" y="1188720"/>
            <a:ext cx="17652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M 12–18</a:t>
            </a:r>
            <a:endParaRPr lang="en-US" sz="1200" dirty="0"/>
          </a:p>
        </p:txBody>
      </p:sp>
      <p:sp>
        <p:nvSpPr>
          <p:cNvPr id="36" name="card-362"/>
          <p:cNvSpPr/>
          <p:nvPr/>
        </p:nvSpPr>
        <p:spPr>
          <a:xfrm>
            <a:off x="9969246" y="2103120"/>
            <a:ext cx="1765249" cy="3429000"/>
          </a:xfrm>
          <a:prstGeom prst="roundRect">
            <a:avLst>
              <a:gd name="adj" fmla="val 6216"/>
            </a:avLst>
          </a:prstGeom>
          <a:solidFill>
            <a:schemeClr val="bg1"/>
          </a:solidFill>
          <a:ln w="9525">
            <a:solidFill>
              <a:srgbClr val="D5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A2E4D">
                <a:alpha val="12000"/>
              </a:srgbClr>
            </a:outerShdw>
          </a:effectLst>
        </p:spPr>
      </p:sp>
      <p:sp>
        <p:nvSpPr>
          <p:cNvPr id="37" name="text-363"/>
          <p:cNvSpPr txBox="1"/>
          <p:nvPr/>
        </p:nvSpPr>
        <p:spPr>
          <a:xfrm>
            <a:off x="10078974" y="2194560"/>
            <a:ext cx="154579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Scale-up design</a:t>
            </a:r>
            <a:endParaRPr lang="en-US" sz="1400" dirty="0"/>
          </a:p>
        </p:txBody>
      </p:sp>
      <p:sp>
        <p:nvSpPr>
          <p:cNvPr id="38" name="text-364"/>
          <p:cNvSpPr txBox="1"/>
          <p:nvPr/>
        </p:nvSpPr>
        <p:spPr>
          <a:xfrm>
            <a:off x="10078974" y="2743200"/>
            <a:ext cx="154579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Design 1,000 L/day unit from MVP learnings</a:t>
            </a:r>
            <a:endParaRPr lang="en-US" sz="1200" dirty="0"/>
          </a:p>
        </p:txBody>
      </p:sp>
      <p:sp>
        <p:nvSpPr>
          <p:cNvPr id="39" name="text-365"/>
          <p:cNvSpPr txBox="1"/>
          <p:nvPr/>
        </p:nvSpPr>
        <p:spPr>
          <a:xfrm>
            <a:off x="10078974" y="4251960"/>
            <a:ext cx="154579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Delivers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Scale-up design, manufacturing plan</a:t>
            </a:r>
            <a:endParaRPr lang="en-US" sz="1200" dirty="0"/>
          </a:p>
        </p:txBody>
      </p:sp>
      <p:sp>
        <p:nvSpPr>
          <p:cNvPr id="40" name="keymsg-bg-366"/>
          <p:cNvSpPr/>
          <p:nvPr/>
        </p:nvSpPr>
        <p:spPr>
          <a:xfrm>
            <a:off x="457200" y="5760720"/>
            <a:ext cx="11277295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/>
        </p:spPr>
      </p:sp>
      <p:sp>
        <p:nvSpPr>
          <p:cNvPr id="41" name="icon-bg-367"/>
          <p:cNvSpPr/>
          <p:nvPr/>
        </p:nvSpPr>
        <p:spPr>
          <a:xfrm>
            <a:off x="585216" y="586130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42" name="icon-36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4" y="5956402"/>
            <a:ext cx="175565" cy="175565"/>
          </a:xfrm>
          <a:prstGeom prst="rect">
            <a:avLst/>
          </a:prstGeom>
        </p:spPr>
      </p:pic>
      <p:sp>
        <p:nvSpPr>
          <p:cNvPr id="43" name="text-369"/>
          <p:cNvSpPr txBox="1"/>
          <p:nvPr/>
        </p:nvSpPr>
        <p:spPr>
          <a:xfrm>
            <a:off x="1097280" y="57607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We do not claim performance. We measure it: L/h, kWh/L, TDS and pH, and mean time between failures.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24-month payback. 70–85% gross margin at scale</a:t>
            </a:r>
            <a:endParaRPr lang="en-US" sz="3000" dirty="0"/>
          </a:p>
        </p:txBody>
      </p:sp>
      <p:sp>
        <p:nvSpPr>
          <p:cNvPr id="3" name="card-370"/>
          <p:cNvSpPr/>
          <p:nvPr/>
        </p:nvSpPr>
        <p:spPr>
          <a:xfrm>
            <a:off x="457200" y="1371600"/>
            <a:ext cx="6583680" cy="4206240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 w="9525">
            <a:solidFill>
              <a:srgbClr val="D5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A2E4D">
                <a:alpha val="12000"/>
              </a:srgbClr>
            </a:outerShdw>
          </a:effectLst>
        </p:spPr>
      </p:sp>
      <p:graphicFrame>
        <p:nvGraphicFramePr>
          <p:cNvPr id="4" name="chart-lcow-waterfall" descr=""/>
          <p:cNvGraphicFramePr/>
          <p:nvPr/>
        </p:nvGraphicFramePr>
        <p:xfrm>
          <a:off x="594360" y="1463040"/>
          <a:ext cx="630936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-371"/>
          <p:cNvSpPr txBox="1"/>
          <p:nvPr/>
        </p:nvSpPr>
        <p:spPr>
          <a:xfrm>
            <a:off x="640080" y="523036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Last bar = $0.005–$0.01/L range (midpoint shown)</a:t>
            </a:r>
            <a:endParaRPr lang="en-US" sz="1000" dirty="0"/>
          </a:p>
        </p:txBody>
      </p:sp>
      <p:sp>
        <p:nvSpPr>
          <p:cNvPr id="6" name="card-372"/>
          <p:cNvSpPr/>
          <p:nvPr/>
        </p:nvSpPr>
        <p:spPr>
          <a:xfrm>
            <a:off x="7315200" y="1371600"/>
            <a:ext cx="1381658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7" name="text-373"/>
          <p:cNvSpPr txBox="1"/>
          <p:nvPr/>
        </p:nvSpPr>
        <p:spPr>
          <a:xfrm>
            <a:off x="7406640" y="1444752"/>
            <a:ext cx="1198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&lt;24 mo</a:t>
            </a:r>
            <a:endParaRPr lang="en-US" sz="2100" dirty="0"/>
          </a:p>
        </p:txBody>
      </p:sp>
      <p:sp>
        <p:nvSpPr>
          <p:cNvPr id="8" name="text-374"/>
          <p:cNvSpPr txBox="1"/>
          <p:nvPr/>
        </p:nvSpPr>
        <p:spPr>
          <a:xfrm>
            <a:off x="7406640" y="1993392"/>
            <a:ext cx="11987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payback</a:t>
            </a:r>
            <a:endParaRPr lang="en-US" sz="1100" dirty="0"/>
          </a:p>
        </p:txBody>
      </p:sp>
      <p:sp>
        <p:nvSpPr>
          <p:cNvPr id="9" name="card-375"/>
          <p:cNvSpPr/>
          <p:nvPr/>
        </p:nvSpPr>
        <p:spPr>
          <a:xfrm>
            <a:off x="8834018" y="1371600"/>
            <a:ext cx="1381658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0" name="text-376"/>
          <p:cNvSpPr txBox="1"/>
          <p:nvPr/>
        </p:nvSpPr>
        <p:spPr>
          <a:xfrm>
            <a:off x="8925458" y="1444752"/>
            <a:ext cx="1198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70–85%</a:t>
            </a:r>
            <a:endParaRPr lang="en-US" sz="2100" dirty="0"/>
          </a:p>
        </p:txBody>
      </p:sp>
      <p:sp>
        <p:nvSpPr>
          <p:cNvPr id="11" name="text-377"/>
          <p:cNvSpPr txBox="1"/>
          <p:nvPr/>
        </p:nvSpPr>
        <p:spPr>
          <a:xfrm>
            <a:off x="8925458" y="1993392"/>
            <a:ext cx="11987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gross margin at scale</a:t>
            </a:r>
            <a:endParaRPr lang="en-US" sz="1100" dirty="0"/>
          </a:p>
        </p:txBody>
      </p:sp>
      <p:sp>
        <p:nvSpPr>
          <p:cNvPr id="12" name="card-378"/>
          <p:cNvSpPr/>
          <p:nvPr/>
        </p:nvSpPr>
        <p:spPr>
          <a:xfrm>
            <a:off x="10352837" y="1371600"/>
            <a:ext cx="1381658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3" name="text-379"/>
          <p:cNvSpPr txBox="1"/>
          <p:nvPr/>
        </p:nvSpPr>
        <p:spPr>
          <a:xfrm>
            <a:off x="10444277" y="1444752"/>
            <a:ext cx="1198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₹5–8/L</a:t>
            </a:r>
            <a:endParaRPr lang="en-US" sz="2100" dirty="0"/>
          </a:p>
        </p:txBody>
      </p:sp>
      <p:sp>
        <p:nvSpPr>
          <p:cNvPr id="14" name="text-380"/>
          <p:cNvSpPr txBox="1"/>
          <p:nvPr/>
        </p:nvSpPr>
        <p:spPr>
          <a:xfrm>
            <a:off x="10444277" y="1993392"/>
            <a:ext cx="11987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price in India ($0.06–$0.10)</a:t>
            </a:r>
            <a:endParaRPr lang="en-US" sz="1100" dirty="0"/>
          </a:p>
        </p:txBody>
      </p:sp>
      <p:sp>
        <p:nvSpPr>
          <p:cNvPr id="15" name="text-381"/>
          <p:cNvSpPr txBox="1"/>
          <p:nvPr/>
        </p:nvSpPr>
        <p:spPr>
          <a:xfrm>
            <a:off x="7315200" y="2743200"/>
            <a:ext cx="4419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LCOW by climate (our system)</a:t>
            </a:r>
            <a:endParaRPr lang="en-US" sz="1300" dirty="0"/>
          </a:p>
        </p:txBody>
      </p:sp>
      <p:graphicFrame>
        <p:nvGraphicFramePr>
          <p:cNvPr id="15" name="table-38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3063240"/>
          <a:ext cx="4419295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868680"/>
                <a:gridCol w="1005840"/>
                <a:gridCol w="1584655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Climate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solar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 thermal + waste heat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4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Tropical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$0.06/L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$0.02/L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$0.008/L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$0.09/L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$0.04/L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$0.010/L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$0.17/L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$0.09/L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$0.012/L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keymsg-bg-383"/>
          <p:cNvSpPr/>
          <p:nvPr/>
        </p:nvSpPr>
        <p:spPr>
          <a:xfrm>
            <a:off x="457200" y="5760720"/>
            <a:ext cx="11277295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/>
        </p:spPr>
      </p:sp>
      <p:sp>
        <p:nvSpPr>
          <p:cNvPr id="18" name="icon-bg-384"/>
          <p:cNvSpPr/>
          <p:nvPr/>
        </p:nvSpPr>
        <p:spPr>
          <a:xfrm>
            <a:off x="585216" y="586130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9" name="icon-38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4" y="5956402"/>
            <a:ext cx="175565" cy="175565"/>
          </a:xfrm>
          <a:prstGeom prst="rect">
            <a:avLst/>
          </a:prstGeom>
        </p:spPr>
      </p:pic>
      <p:sp>
        <p:nvSpPr>
          <p:cNvPr id="20" name="text-386"/>
          <p:cNvSpPr txBox="1"/>
          <p:nvPr/>
        </p:nvSpPr>
        <p:spPr>
          <a:xfrm>
            <a:off x="1097280" y="57607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Every cost-reduction lever compounds. Sorbent + solar thermal + waste heat takes us from competitive to unbeatable.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 in detail</a:t>
            </a:r>
            <a:endParaRPr lang="en-US" sz="3000" dirty="0"/>
          </a:p>
        </p:txBody>
      </p:sp>
      <p:sp>
        <p:nvSpPr>
          <p:cNvPr id="3" name="text-387"/>
          <p:cNvSpPr txBox="1"/>
          <p:nvPr/>
        </p:nvSpPr>
        <p:spPr>
          <a:xfrm>
            <a:off x="457200" y="11887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Assumptions: 100 L/day unit · 300 days/year = 30,000 L/year · 5-year CapEx amortisation</a:t>
            </a:r>
            <a:endParaRPr lang="en-US" sz="1300" dirty="0"/>
          </a:p>
        </p:txBody>
      </p:sp>
      <p:graphicFrame>
        <p:nvGraphicFramePr>
          <p:cNvPr id="16" name="table-38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77295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2560320"/>
                <a:gridCol w="2560320"/>
                <a:gridCol w="2590495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Conventional AWG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sorption MVP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scaled system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4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$8,000–12,000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$3,500 (at volume)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production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30,000 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30,000 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30,000 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Amortised CapEx / year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$1,600–2,400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Sorbent replacement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$50/yr (2-yr cycle)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$25/yr (PANSAP, 3-yr cycle)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$300/yr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$300/yr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$250/yr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Labour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$200/yr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$200/yr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$150/yr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Electricity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$1,200–2,500/yr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$0–200/yr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$0–100/yr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annual OpEx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$3,300–5,400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73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73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LCOW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$0.06–$0.09/L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73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$0.045/L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73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$0.037/L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LCOW with waste-heat recovery (−34%)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73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$0.035/L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73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$0.028/L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LCOW with PANSAP + passive solar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$0.005–0.01/L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CC"/>
                    </a:solidFill>
                  </a:tcPr>
                </a:tc>
              </a:tr>
            </a:tbl>
          </a:graphicData>
        </a:graphic>
      </p:graphicFrame>
      <p:sp>
        <p:nvSpPr>
          <p:cNvPr id="5" name="keymsg-bg-389"/>
          <p:cNvSpPr/>
          <p:nvPr/>
        </p:nvSpPr>
        <p:spPr>
          <a:xfrm>
            <a:off x="457200" y="5760720"/>
            <a:ext cx="11277295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/>
        </p:spPr>
      </p:sp>
      <p:sp>
        <p:nvSpPr>
          <p:cNvPr id="6" name="icon-bg-390"/>
          <p:cNvSpPr/>
          <p:nvPr/>
        </p:nvSpPr>
        <p:spPr>
          <a:xfrm>
            <a:off x="585216" y="586130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7" name="icon-39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4" y="5956402"/>
            <a:ext cx="175565" cy="175565"/>
          </a:xfrm>
          <a:prstGeom prst="rect">
            <a:avLst/>
          </a:prstGeom>
        </p:spPr>
      </p:pic>
      <p:sp>
        <p:nvSpPr>
          <p:cNvPr id="8" name="text-392"/>
          <p:cNvSpPr txBox="1"/>
          <p:nvPr/>
        </p:nvSpPr>
        <p:spPr>
          <a:xfrm>
            <a:off x="1097280" y="57607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Electricity is the line we delete: $1,200–2,500/yr for a conventional AWG vs $0–200/yr for ours.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billion-dollar market with a government-backed beachhead</a:t>
            </a:r>
            <a:endParaRPr lang="en-US" sz="3000" dirty="0"/>
          </a:p>
        </p:txBody>
      </p:sp>
      <p:sp>
        <p:nvSpPr>
          <p:cNvPr id="3" name="funnel-393"/>
          <p:cNvSpPr/>
          <p:nvPr/>
        </p:nvSpPr>
        <p:spPr>
          <a:xfrm>
            <a:off x="457200" y="1371600"/>
            <a:ext cx="393192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4" name="text-394"/>
          <p:cNvSpPr txBox="1"/>
          <p:nvPr/>
        </p:nvSpPr>
        <p:spPr>
          <a:xfrm>
            <a:off x="548640" y="14630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 </a:t>
            </a:r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$1.158B</a:t>
            </a:r>
            <a:endParaRPr lang="en-US" sz="1400" dirty="0"/>
          </a:p>
        </p:txBody>
      </p:sp>
      <p:sp>
        <p:nvSpPr>
          <p:cNvPr id="5" name="text-395"/>
          <p:cNvSpPr txBox="1"/>
          <p:nvPr/>
        </p:nvSpPr>
        <p:spPr>
          <a:xfrm>
            <a:off x="594360" y="20116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Global AWG market by 2034 · 8.70% CAGR</a:t>
            </a:r>
            <a:endParaRPr lang="en-US" sz="1150" dirty="0"/>
          </a:p>
        </p:txBody>
      </p:sp>
      <p:sp>
        <p:nvSpPr>
          <p:cNvPr id="6" name="funnel-396"/>
          <p:cNvSpPr/>
          <p:nvPr/>
        </p:nvSpPr>
        <p:spPr>
          <a:xfrm>
            <a:off x="822960" y="2743200"/>
            <a:ext cx="3200400" cy="123444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/>
        </p:spPr>
      </p:sp>
      <p:sp>
        <p:nvSpPr>
          <p:cNvPr id="7" name="text-397"/>
          <p:cNvSpPr txBox="1"/>
          <p:nvPr/>
        </p:nvSpPr>
        <p:spPr>
          <a:xfrm>
            <a:off x="914400" y="2834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 </a:t>
            </a:r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$250M+</a:t>
            </a:r>
            <a:endParaRPr lang="en-US" sz="1400" dirty="0"/>
          </a:p>
        </p:txBody>
      </p:sp>
      <p:sp>
        <p:nvSpPr>
          <p:cNvPr id="8" name="text-398"/>
          <p:cNvSpPr txBox="1"/>
          <p:nvPr/>
        </p:nvSpPr>
        <p:spPr>
          <a:xfrm>
            <a:off x="960120" y="33832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India + UAE + Philippines + Africa institutional water</a:t>
            </a:r>
            <a:endParaRPr lang="en-US" sz="1150" dirty="0"/>
          </a:p>
        </p:txBody>
      </p:sp>
      <p:sp>
        <p:nvSpPr>
          <p:cNvPr id="9" name="funnel-399"/>
          <p:cNvSpPr/>
          <p:nvPr/>
        </p:nvSpPr>
        <p:spPr>
          <a:xfrm>
            <a:off x="1188720" y="4114800"/>
            <a:ext cx="2468880" cy="1234440"/>
          </a:xfrm>
          <a:prstGeom prst="roundRect">
            <a:avLst>
              <a:gd name="adj" fmla="val 8889"/>
            </a:avLst>
          </a:prstGeom>
          <a:solidFill>
            <a:schemeClr val="accent2"/>
          </a:solidFill>
          <a:ln/>
        </p:spPr>
      </p:sp>
      <p:sp>
        <p:nvSpPr>
          <p:cNvPr id="10" name="text-400"/>
          <p:cNvSpPr txBox="1"/>
          <p:nvPr/>
        </p:nvSpPr>
        <p:spPr>
          <a:xfrm>
            <a:off x="1280160" y="4206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 </a:t>
            </a:r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$8M</a:t>
            </a:r>
            <a:endParaRPr lang="en-US" sz="1400" dirty="0"/>
          </a:p>
        </p:txBody>
      </p:sp>
      <p:sp>
        <p:nvSpPr>
          <p:cNvPr id="11" name="text-401"/>
          <p:cNvSpPr txBox="1"/>
          <p:nvPr/>
        </p:nvSpPr>
        <p:spPr>
          <a:xfrm>
            <a:off x="1325880" y="47548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2,000 units by Year 3</a:t>
            </a:r>
            <a:endParaRPr lang="en-US" sz="1150" dirty="0"/>
          </a:p>
        </p:txBody>
      </p:sp>
      <p:graphicFrame>
        <p:nvGraphicFramePr>
          <p:cNvPr id="17" name="table-4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371600"/>
          <a:ext cx="7071055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1691640"/>
                <a:gridCol w="1691640"/>
                <a:gridCol w="1264615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need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Willingness to pay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4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Railway stations (India)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500–5,000 L/day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₹3.5–5/L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Hospitals &amp; clinics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200–2,000 L/day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₹5–8/L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Corporate campuses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1,000–10,000 L/day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₹4–6/L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73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87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centres (waste-heat sites)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5,000–50,000 L/day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$0.10–0.20/L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73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Residential (off-grid)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10–50 L/day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$0.20–0.40/L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B6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Events &amp; hospitality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100–1,000 L/day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₹8–15/L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B6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</a:tr>
            </a:tbl>
          </a:graphicData>
        </a:graphic>
      </p:graphicFrame>
      <p:sp>
        <p:nvSpPr>
          <p:cNvPr id="13" name="text-403"/>
          <p:cNvSpPr txBox="1"/>
          <p:nvPr/>
        </p:nvSpPr>
        <p:spPr>
          <a:xfrm>
            <a:off x="4663440" y="4572000"/>
            <a:ext cx="70710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702A"/>
                </a:solidFill>
              </a:rPr>
              <a:t>Why data centres: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they make continuous waste heat and already pay for cooling water. We turn their waste heat into free desorption energy.</a:t>
            </a:r>
            <a:endParaRPr lang="en-US" sz="1300" dirty="0"/>
          </a:p>
        </p:txBody>
      </p:sp>
      <p:sp>
        <p:nvSpPr>
          <p:cNvPr id="14" name="keymsg-bg-404"/>
          <p:cNvSpPr/>
          <p:nvPr/>
        </p:nvSpPr>
        <p:spPr>
          <a:xfrm>
            <a:off x="457200" y="5760720"/>
            <a:ext cx="11277295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/>
        </p:spPr>
      </p:sp>
      <p:sp>
        <p:nvSpPr>
          <p:cNvPr id="15" name="icon-bg-405"/>
          <p:cNvSpPr/>
          <p:nvPr/>
        </p:nvSpPr>
        <p:spPr>
          <a:xfrm>
            <a:off x="585216" y="586130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icon-40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4" y="5956402"/>
            <a:ext cx="175565" cy="175565"/>
          </a:xfrm>
          <a:prstGeom prst="rect">
            <a:avLst/>
          </a:prstGeom>
        </p:spPr>
      </p:pic>
      <p:sp>
        <p:nvSpPr>
          <p:cNvPr id="17" name="text-407"/>
          <p:cNvSpPr txBox="1"/>
          <p:nvPr/>
        </p:nvSpPr>
        <p:spPr>
          <a:xfrm>
            <a:off x="1097280" y="57607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Start with Indian Railways tenders. Expand into waste-heat-rich facilities where our economics are strongest.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revenue streams. One recurring-margin engine</a:t>
            </a:r>
            <a:endParaRPr lang="en-US" sz="3000" dirty="0"/>
          </a:p>
        </p:txBody>
      </p:sp>
      <p:sp>
        <p:nvSpPr>
          <p:cNvPr id="3" name="card-408"/>
          <p:cNvSpPr/>
          <p:nvPr/>
        </p:nvSpPr>
        <p:spPr>
          <a:xfrm>
            <a:off x="457200" y="1371600"/>
            <a:ext cx="3657600" cy="420624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9525">
            <a:solidFill>
              <a:srgbClr val="D5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A2E4D">
                <a:alpha val="12000"/>
              </a:srgbClr>
            </a:outerShdw>
          </a:effectLst>
        </p:spPr>
      </p:sp>
      <p:graphicFrame>
        <p:nvGraphicFramePr>
          <p:cNvPr id="4" name="chart-revenue-mix" descr=""/>
          <p:cNvGraphicFramePr/>
          <p:nvPr/>
        </p:nvGraphicFramePr>
        <p:xfrm>
          <a:off x="548640" y="1463040"/>
          <a:ext cx="34747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-409"/>
          <p:cNvSpPr txBox="1"/>
          <p:nvPr/>
        </p:nvSpPr>
        <p:spPr>
          <a:xfrm>
            <a:off x="640080" y="429768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60%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WaaS — monthly fee for guaranteed water volume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25%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Sale or lease-to-own, 15%+ ROI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chemeClr val="accent3"/>
                </a:solidFill>
              </a:rPr>
              <a:t>15%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Local entrepreneurs deploy and maintain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chemeClr val="accent5"/>
                </a:solidFill>
              </a:rPr>
              <a:t>+ Premium bottled water (optional): hotels, airlines, events</a:t>
            </a:r>
            <a:endParaRPr lang="en-US" sz="1150" dirty="0"/>
          </a:p>
        </p:txBody>
      </p:sp>
      <p:sp>
        <p:nvSpPr>
          <p:cNvPr id="6" name="card-410"/>
          <p:cNvSpPr/>
          <p:nvPr/>
        </p:nvSpPr>
        <p:spPr>
          <a:xfrm>
            <a:off x="4343400" y="1371600"/>
            <a:ext cx="3657600" cy="420624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9525">
            <a:solidFill>
              <a:srgbClr val="D5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A2E4D">
                <a:alpha val="12000"/>
              </a:srgbClr>
            </a:outerShdw>
          </a:effectLst>
        </p:spPr>
      </p:sp>
      <p:sp>
        <p:nvSpPr>
          <p:cNvPr id="7" name="text-411"/>
          <p:cNvSpPr txBox="1"/>
          <p:nvPr/>
        </p:nvSpPr>
        <p:spPr>
          <a:xfrm>
            <a:off x="457200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Price per litre in India</a:t>
            </a:r>
            <a:endParaRPr lang="en-US" sz="1400" dirty="0"/>
          </a:p>
        </p:txBody>
      </p:sp>
      <p:sp>
        <p:nvSpPr>
          <p:cNvPr id="8" name="text-412"/>
          <p:cNvSpPr txBox="1"/>
          <p:nvPr/>
        </p:nvSpPr>
        <p:spPr>
          <a:xfrm>
            <a:off x="4572000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Bottled</a:t>
            </a:r>
            <a:endParaRPr lang="en-US" sz="1200" dirty="0"/>
          </a:p>
        </p:txBody>
      </p:sp>
      <p:sp>
        <p:nvSpPr>
          <p:cNvPr id="9" name="bar-413"/>
          <p:cNvSpPr/>
          <p:nvPr/>
        </p:nvSpPr>
        <p:spPr>
          <a:xfrm>
            <a:off x="4572000" y="2240280"/>
            <a:ext cx="2011680" cy="365760"/>
          </a:xfrm>
          <a:prstGeom prst="roundRect">
            <a:avLst>
              <a:gd name="adj" fmla="val 15000"/>
            </a:avLst>
          </a:prstGeom>
          <a:solidFill>
            <a:schemeClr val="accent6"/>
          </a:solidFill>
          <a:ln/>
        </p:spPr>
      </p:sp>
      <p:sp>
        <p:nvSpPr>
          <p:cNvPr id="10" name="text-414"/>
          <p:cNvSpPr txBox="1"/>
          <p:nvPr/>
        </p:nvSpPr>
        <p:spPr>
          <a:xfrm>
            <a:off x="6675120" y="22402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₹15–20/L</a:t>
            </a:r>
            <a:endParaRPr lang="en-US" sz="1300" dirty="0"/>
          </a:p>
        </p:txBody>
      </p:sp>
      <p:sp>
        <p:nvSpPr>
          <p:cNvPr id="11" name="text-415"/>
          <p:cNvSpPr txBox="1"/>
          <p:nvPr/>
        </p:nvSpPr>
        <p:spPr>
          <a:xfrm>
            <a:off x="4572000" y="2743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Tanker</a:t>
            </a:r>
            <a:endParaRPr lang="en-US" sz="1200" dirty="0"/>
          </a:p>
        </p:txBody>
      </p:sp>
      <p:sp>
        <p:nvSpPr>
          <p:cNvPr id="12" name="bar-416"/>
          <p:cNvSpPr/>
          <p:nvPr/>
        </p:nvSpPr>
        <p:spPr>
          <a:xfrm>
            <a:off x="4572000" y="3017520"/>
            <a:ext cx="1005840" cy="365760"/>
          </a:xfrm>
          <a:prstGeom prst="roundRect">
            <a:avLst>
              <a:gd name="adj" fmla="val 15000"/>
            </a:avLst>
          </a:prstGeom>
          <a:solidFill>
            <a:schemeClr val="accent3"/>
          </a:solidFill>
          <a:ln/>
        </p:spPr>
      </p:sp>
      <p:sp>
        <p:nvSpPr>
          <p:cNvPr id="13" name="text-417"/>
          <p:cNvSpPr txBox="1"/>
          <p:nvPr/>
        </p:nvSpPr>
        <p:spPr>
          <a:xfrm>
            <a:off x="5669280" y="3017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₹5–10/L</a:t>
            </a:r>
            <a:endParaRPr lang="en-US" sz="1300" dirty="0"/>
          </a:p>
        </p:txBody>
      </p:sp>
      <p:sp>
        <p:nvSpPr>
          <p:cNvPr id="14" name="text-418"/>
          <p:cNvSpPr txBox="1"/>
          <p:nvPr/>
        </p:nvSpPr>
        <p:spPr>
          <a:xfrm>
            <a:off x="4572000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AcquaHT</a:t>
            </a:r>
            <a:endParaRPr lang="en-US" sz="1200" dirty="0"/>
          </a:p>
        </p:txBody>
      </p:sp>
      <p:sp>
        <p:nvSpPr>
          <p:cNvPr id="15" name="bar-419"/>
          <p:cNvSpPr/>
          <p:nvPr/>
        </p:nvSpPr>
        <p:spPr>
          <a:xfrm>
            <a:off x="4572000" y="3794760"/>
            <a:ext cx="804672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/>
        </p:spPr>
      </p:sp>
      <p:sp>
        <p:nvSpPr>
          <p:cNvPr id="16" name="text-420"/>
          <p:cNvSpPr txBox="1"/>
          <p:nvPr/>
        </p:nvSpPr>
        <p:spPr>
          <a:xfrm>
            <a:off x="5468112" y="3794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₹3.5–8/L</a:t>
            </a:r>
            <a:endParaRPr lang="en-US" sz="1300" dirty="0"/>
          </a:p>
        </p:txBody>
      </p:sp>
      <p:sp>
        <p:nvSpPr>
          <p:cNvPr id="17" name="text-421"/>
          <p:cNvSpPr txBox="1"/>
          <p:nvPr/>
        </p:nvSpPr>
        <p:spPr>
          <a:xfrm>
            <a:off x="4572000" y="43434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Undercuts bottled water by 60–80%.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UAE / Saudi: $0.10–$0.15/L — below desalinated delivery in remote areas.</a:t>
            </a:r>
            <a:endParaRPr lang="en-US" sz="1250" dirty="0"/>
          </a:p>
        </p:txBody>
      </p:sp>
      <p:sp>
        <p:nvSpPr>
          <p:cNvPr id="18" name="card-422"/>
          <p:cNvSpPr/>
          <p:nvPr/>
        </p:nvSpPr>
        <p:spPr>
          <a:xfrm>
            <a:off x="8229600" y="1371600"/>
            <a:ext cx="3504895" cy="4206240"/>
          </a:xfrm>
          <a:prstGeom prst="roundRect">
            <a:avLst>
              <a:gd name="adj" fmla="val 3131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A2E4D">
                <a:alpha val="12000"/>
              </a:srgbClr>
            </a:outerShdw>
          </a:effectLst>
        </p:spPr>
      </p:sp>
      <p:sp>
        <p:nvSpPr>
          <p:cNvPr id="19" name="icon-bg-423"/>
          <p:cNvSpPr/>
          <p:nvPr/>
        </p:nvSpPr>
        <p:spPr>
          <a:xfrm>
            <a:off x="8458200" y="155448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icon-42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0846" y="1697126"/>
            <a:ext cx="263347" cy="263347"/>
          </a:xfrm>
          <a:prstGeom prst="rect">
            <a:avLst/>
          </a:prstGeom>
        </p:spPr>
      </p:pic>
      <p:sp>
        <p:nvSpPr>
          <p:cNvPr id="21" name="text-425"/>
          <p:cNvSpPr txBox="1"/>
          <p:nvPr/>
        </p:nvSpPr>
        <p:spPr>
          <a:xfrm>
            <a:off x="8458200" y="2194560"/>
            <a:ext cx="3047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NEW: Sorbent-as-a-Component</a:t>
            </a:r>
            <a:endParaRPr lang="en-US" sz="1600" dirty="0"/>
          </a:p>
        </p:txBody>
      </p:sp>
      <p:sp>
        <p:nvSpPr>
          <p:cNvPr id="22" name="text-426"/>
          <p:cNvSpPr txBox="1"/>
          <p:nvPr/>
        </p:nvSpPr>
        <p:spPr>
          <a:xfrm>
            <a:off x="8458200" y="2834640"/>
            <a:ext cx="309341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License our Jute/CaCl₂ and PANSAP formulations to existing AWG makers as a drop-in efficiency upgrade. Follows the EU-funded ThinAirWater model. High-margin, capital-light — monetises our IP independent of unit sales.</a:t>
            </a:r>
            <a:endParaRPr lang="en-US" sz="1300" dirty="0"/>
          </a:p>
        </p:txBody>
      </p:sp>
      <p:sp>
        <p:nvSpPr>
          <p:cNvPr id="23" name="keymsg-bg-427"/>
          <p:cNvSpPr/>
          <p:nvPr/>
        </p:nvSpPr>
        <p:spPr>
          <a:xfrm>
            <a:off x="457200" y="5760720"/>
            <a:ext cx="11277295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/>
        </p:spPr>
      </p:sp>
      <p:sp>
        <p:nvSpPr>
          <p:cNvPr id="24" name="icon-bg-428"/>
          <p:cNvSpPr/>
          <p:nvPr/>
        </p:nvSpPr>
        <p:spPr>
          <a:xfrm>
            <a:off x="585216" y="586130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5" name="icon-42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14" y="5956402"/>
            <a:ext cx="175565" cy="175565"/>
          </a:xfrm>
          <a:prstGeom prst="rect">
            <a:avLst/>
          </a:prstGeom>
        </p:spPr>
      </p:pic>
      <p:sp>
        <p:nvSpPr>
          <p:cNvPr id="26" name="text-430"/>
          <p:cNvSpPr txBox="1"/>
          <p:nvPr/>
        </p:nvSpPr>
        <p:spPr>
          <a:xfrm>
            <a:off x="1097280" y="57607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We own the distribution and the sorbent IP. Both generate recurring revenue.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Beachhead: Indian Railways. Then waste-heat sites, hospitals, franchises</a:t>
            </a:r>
            <a:endParaRPr lang="en-US" sz="3000" dirty="0"/>
          </a:p>
        </p:txBody>
      </p:sp>
      <p:sp>
        <p:nvSpPr>
          <p:cNvPr id="3" name="card-431"/>
          <p:cNvSpPr/>
          <p:nvPr/>
        </p:nvSpPr>
        <p:spPr>
          <a:xfrm>
            <a:off x="457200" y="1371600"/>
            <a:ext cx="3637178" cy="3246120"/>
          </a:xfrm>
          <a:prstGeom prst="roundRect">
            <a:avLst>
              <a:gd name="adj" fmla="val 3380"/>
            </a:avLst>
          </a:prstGeom>
          <a:solidFill>
            <a:schemeClr val="bg1"/>
          </a:solidFill>
          <a:ln w="9525">
            <a:solidFill>
              <a:srgbClr val="D5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A2E4D">
                <a:alpha val="12000"/>
              </a:srgbClr>
            </a:outerShdw>
          </a:effectLst>
        </p:spPr>
      </p:sp>
      <p:sp>
        <p:nvSpPr>
          <p:cNvPr id="4" name="icon-bg-432"/>
          <p:cNvSpPr/>
          <p:nvPr/>
        </p:nvSpPr>
        <p:spPr>
          <a:xfrm>
            <a:off x="685800" y="1536192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-43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334" y="1690726"/>
            <a:ext cx="285293" cy="285293"/>
          </a:xfrm>
          <a:prstGeom prst="rect">
            <a:avLst/>
          </a:prstGeom>
        </p:spPr>
      </p:pic>
      <p:sp>
        <p:nvSpPr>
          <p:cNvPr id="6" name="text-434"/>
          <p:cNvSpPr txBox="1"/>
          <p:nvPr/>
        </p:nvSpPr>
        <p:spPr>
          <a:xfrm>
            <a:off x="1417320" y="1554480"/>
            <a:ext cx="25398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Phase 1 · Beachhead</a:t>
            </a:r>
            <a:endParaRPr lang="en-US" sz="1600" dirty="0"/>
          </a:p>
        </p:txBody>
      </p:sp>
      <p:sp>
        <p:nvSpPr>
          <p:cNvPr id="7" name="text-435"/>
          <p:cNvSpPr txBox="1"/>
          <p:nvPr/>
        </p:nvSpPr>
        <p:spPr>
          <a:xfrm>
            <a:off x="1417320" y="1874520"/>
            <a:ext cx="25398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Months 0–9</a:t>
            </a:r>
            <a:endParaRPr lang="en-US" sz="1200" dirty="0"/>
          </a:p>
        </p:txBody>
      </p:sp>
      <p:sp>
        <p:nvSpPr>
          <p:cNvPr id="8" name="text-436"/>
          <p:cNvSpPr txBox="1"/>
          <p:nvPr/>
        </p:nvSpPr>
        <p:spPr>
          <a:xfrm>
            <a:off x="685800" y="2286000"/>
            <a:ext cx="322569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Bid for Indian Railways AWG tenders: zonal railways, hospitals, colonies, level crossings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10-unit pilot in Mumbai/Chennai (humid) + Delhi (arid)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Publish validated LCOW + water quality report</a:t>
            </a:r>
            <a:endParaRPr lang="en-US" sz="1300" dirty="0"/>
          </a:p>
        </p:txBody>
      </p:sp>
      <p:sp>
        <p:nvSpPr>
          <p:cNvPr id="9" name="arrow-437"/>
          <p:cNvSpPr/>
          <p:nvPr/>
        </p:nvSpPr>
        <p:spPr>
          <a:xfrm>
            <a:off x="4048658" y="2971800"/>
            <a:ext cx="274320" cy="0"/>
          </a:xfrm>
          <a:prstGeom prst="line">
            <a:avLst/>
          </a:prstGeom>
          <a:noFill/>
          <a:ln w="2540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10" name="card-438"/>
          <p:cNvSpPr/>
          <p:nvPr/>
        </p:nvSpPr>
        <p:spPr>
          <a:xfrm>
            <a:off x="4277258" y="1371600"/>
            <a:ext cx="3637178" cy="3246120"/>
          </a:xfrm>
          <a:prstGeom prst="roundRect">
            <a:avLst>
              <a:gd name="adj" fmla="val 3380"/>
            </a:avLst>
          </a:prstGeom>
          <a:solidFill>
            <a:schemeClr val="bg1"/>
          </a:solidFill>
          <a:ln w="9525">
            <a:solidFill>
              <a:srgbClr val="D5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A2E4D">
                <a:alpha val="12000"/>
              </a:srgbClr>
            </a:outerShdw>
          </a:effectLst>
        </p:spPr>
      </p:sp>
      <p:sp>
        <p:nvSpPr>
          <p:cNvPr id="11" name="icon-bg-439"/>
          <p:cNvSpPr/>
          <p:nvPr/>
        </p:nvSpPr>
        <p:spPr>
          <a:xfrm>
            <a:off x="4505858" y="1536192"/>
            <a:ext cx="594360" cy="594360"/>
          </a:xfrm>
          <a:prstGeom prst="ellipse">
            <a:avLst/>
          </a:prstGeom>
          <a:solidFill>
            <a:srgbClr val="E8702A"/>
          </a:solidFill>
          <a:ln/>
        </p:spPr>
      </p:sp>
      <p:pic>
        <p:nvPicPr>
          <p:cNvPr id="12" name="icon-44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0392" y="1690726"/>
            <a:ext cx="285293" cy="285293"/>
          </a:xfrm>
          <a:prstGeom prst="rect">
            <a:avLst/>
          </a:prstGeom>
        </p:spPr>
      </p:pic>
      <p:sp>
        <p:nvSpPr>
          <p:cNvPr id="13" name="text-441"/>
          <p:cNvSpPr txBox="1"/>
          <p:nvPr/>
        </p:nvSpPr>
        <p:spPr>
          <a:xfrm>
            <a:off x="5237378" y="1554480"/>
            <a:ext cx="25398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Phase 2 · Scale</a:t>
            </a:r>
            <a:endParaRPr lang="en-US" sz="1600" dirty="0"/>
          </a:p>
        </p:txBody>
      </p:sp>
      <p:sp>
        <p:nvSpPr>
          <p:cNvPr id="14" name="text-442"/>
          <p:cNvSpPr txBox="1"/>
          <p:nvPr/>
        </p:nvSpPr>
        <p:spPr>
          <a:xfrm>
            <a:off x="5237378" y="1874520"/>
            <a:ext cx="25398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Months 9–18</a:t>
            </a:r>
            <a:endParaRPr lang="en-US" sz="1200" dirty="0"/>
          </a:p>
        </p:txBody>
      </p:sp>
      <p:sp>
        <p:nvSpPr>
          <p:cNvPr id="15" name="text-443"/>
          <p:cNvSpPr txBox="1"/>
          <p:nvPr/>
        </p:nvSpPr>
        <p:spPr>
          <a:xfrm>
            <a:off x="4505858" y="2286000"/>
            <a:ext cx="322569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Hospitals, corporate campuses, data centres with existing waste heat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Sign 3 franchise partners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Break-even on pilot units</a:t>
            </a:r>
            <a:endParaRPr lang="en-US" sz="1300" dirty="0"/>
          </a:p>
        </p:txBody>
      </p:sp>
      <p:sp>
        <p:nvSpPr>
          <p:cNvPr id="16" name="arrow-444"/>
          <p:cNvSpPr/>
          <p:nvPr/>
        </p:nvSpPr>
        <p:spPr>
          <a:xfrm>
            <a:off x="7868717" y="2971800"/>
            <a:ext cx="274320" cy="0"/>
          </a:xfrm>
          <a:prstGeom prst="line">
            <a:avLst/>
          </a:prstGeom>
          <a:noFill/>
          <a:ln w="2540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17" name="card-445"/>
          <p:cNvSpPr/>
          <p:nvPr/>
        </p:nvSpPr>
        <p:spPr>
          <a:xfrm>
            <a:off x="8097317" y="1371600"/>
            <a:ext cx="3637178" cy="3246120"/>
          </a:xfrm>
          <a:prstGeom prst="roundRect">
            <a:avLst>
              <a:gd name="adj" fmla="val 3380"/>
            </a:avLst>
          </a:prstGeom>
          <a:solidFill>
            <a:schemeClr val="bg1"/>
          </a:solidFill>
          <a:ln w="9525">
            <a:solidFill>
              <a:srgbClr val="D5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A2E4D">
                <a:alpha val="12000"/>
              </a:srgbClr>
            </a:outerShdw>
          </a:effectLst>
        </p:spPr>
      </p:sp>
      <p:sp>
        <p:nvSpPr>
          <p:cNvPr id="18" name="icon-bg-446"/>
          <p:cNvSpPr/>
          <p:nvPr/>
        </p:nvSpPr>
        <p:spPr>
          <a:xfrm>
            <a:off x="8325917" y="1536192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9" name="icon-44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0450" y="1690726"/>
            <a:ext cx="285293" cy="285293"/>
          </a:xfrm>
          <a:prstGeom prst="rect">
            <a:avLst/>
          </a:prstGeom>
        </p:spPr>
      </p:pic>
      <p:sp>
        <p:nvSpPr>
          <p:cNvPr id="20" name="text-448"/>
          <p:cNvSpPr txBox="1"/>
          <p:nvPr/>
        </p:nvSpPr>
        <p:spPr>
          <a:xfrm>
            <a:off x="9057437" y="1554480"/>
            <a:ext cx="25398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Phase 3 · Expand</a:t>
            </a:r>
            <a:endParaRPr lang="en-US" sz="1600" dirty="0"/>
          </a:p>
        </p:txBody>
      </p:sp>
      <p:sp>
        <p:nvSpPr>
          <p:cNvPr id="21" name="text-449"/>
          <p:cNvSpPr txBox="1"/>
          <p:nvPr/>
        </p:nvSpPr>
        <p:spPr>
          <a:xfrm>
            <a:off x="9057437" y="1874520"/>
            <a:ext cx="25398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Months 18–30</a:t>
            </a:r>
            <a:endParaRPr lang="en-US" sz="1200" dirty="0"/>
          </a:p>
        </p:txBody>
      </p:sp>
      <p:sp>
        <p:nvSpPr>
          <p:cNvPr id="22" name="text-450"/>
          <p:cNvSpPr txBox="1"/>
          <p:nvPr/>
        </p:nvSpPr>
        <p:spPr>
          <a:xfrm>
            <a:off x="8325917" y="2286000"/>
            <a:ext cx="322569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Enter UAE and Philippines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PANSAP sorbent line for arid India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Start sorbent-as-a-component licensing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Raise Series A</a:t>
            </a:r>
            <a:endParaRPr lang="en-US" sz="1300" dirty="0"/>
          </a:p>
        </p:txBody>
      </p:sp>
      <p:sp>
        <p:nvSpPr>
          <p:cNvPr id="23" name="text-451"/>
          <p:cNvSpPr txBox="1"/>
          <p:nvPr/>
        </p:nvSpPr>
        <p:spPr>
          <a:xfrm>
            <a:off x="45720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Sales funnel</a:t>
            </a:r>
            <a:endParaRPr lang="en-US" sz="1200" dirty="0"/>
          </a:p>
        </p:txBody>
      </p:sp>
      <p:sp>
        <p:nvSpPr>
          <p:cNvPr id="24" name="pill-452"/>
          <p:cNvSpPr/>
          <p:nvPr/>
        </p:nvSpPr>
        <p:spPr>
          <a:xfrm>
            <a:off x="1828800" y="4709160"/>
            <a:ext cx="1554480" cy="38404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25" name="text-453"/>
          <p:cNvSpPr txBox="1"/>
          <p:nvPr/>
        </p:nvSpPr>
        <p:spPr>
          <a:xfrm>
            <a:off x="1828800" y="47091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Tender</a:t>
            </a:r>
            <a:endParaRPr lang="en-US" sz="1300" dirty="0"/>
          </a:p>
        </p:txBody>
      </p:sp>
      <p:sp>
        <p:nvSpPr>
          <p:cNvPr id="26" name="arrow-454"/>
          <p:cNvSpPr/>
          <p:nvPr/>
        </p:nvSpPr>
        <p:spPr>
          <a:xfrm>
            <a:off x="3429000" y="4901184"/>
            <a:ext cx="320040" cy="0"/>
          </a:xfrm>
          <a:prstGeom prst="line">
            <a:avLst/>
          </a:prstGeom>
          <a:noFill/>
          <a:ln w="1905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27" name="pill-455"/>
          <p:cNvSpPr/>
          <p:nvPr/>
        </p:nvSpPr>
        <p:spPr>
          <a:xfrm>
            <a:off x="3794760" y="4709160"/>
            <a:ext cx="155448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8" name="text-456"/>
          <p:cNvSpPr txBox="1"/>
          <p:nvPr/>
        </p:nvSpPr>
        <p:spPr>
          <a:xfrm>
            <a:off x="3794760" y="47091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Pilot</a:t>
            </a:r>
            <a:endParaRPr lang="en-US" sz="1300" dirty="0"/>
          </a:p>
        </p:txBody>
      </p:sp>
      <p:sp>
        <p:nvSpPr>
          <p:cNvPr id="29" name="arrow-457"/>
          <p:cNvSpPr/>
          <p:nvPr/>
        </p:nvSpPr>
        <p:spPr>
          <a:xfrm>
            <a:off x="5394960" y="4901184"/>
            <a:ext cx="320040" cy="0"/>
          </a:xfrm>
          <a:prstGeom prst="line">
            <a:avLst/>
          </a:prstGeom>
          <a:noFill/>
          <a:ln w="1905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30" name="pill-458"/>
          <p:cNvSpPr/>
          <p:nvPr/>
        </p:nvSpPr>
        <p:spPr>
          <a:xfrm>
            <a:off x="5760720" y="4709160"/>
            <a:ext cx="155448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1" name="text-459"/>
          <p:cNvSpPr txBox="1"/>
          <p:nvPr/>
        </p:nvSpPr>
        <p:spPr>
          <a:xfrm>
            <a:off x="5760720" y="47091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Scale</a:t>
            </a:r>
            <a:endParaRPr lang="en-US" sz="1300" dirty="0"/>
          </a:p>
        </p:txBody>
      </p:sp>
      <p:sp>
        <p:nvSpPr>
          <p:cNvPr id="32" name="arrow-460"/>
          <p:cNvSpPr/>
          <p:nvPr/>
        </p:nvSpPr>
        <p:spPr>
          <a:xfrm>
            <a:off x="7360920" y="4901184"/>
            <a:ext cx="320040" cy="0"/>
          </a:xfrm>
          <a:prstGeom prst="line">
            <a:avLst/>
          </a:prstGeom>
          <a:noFill/>
          <a:ln w="1905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33" name="pill-461"/>
          <p:cNvSpPr/>
          <p:nvPr/>
        </p:nvSpPr>
        <p:spPr>
          <a:xfrm>
            <a:off x="7726680" y="4709160"/>
            <a:ext cx="1554480" cy="38404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34" name="text-462"/>
          <p:cNvSpPr txBox="1"/>
          <p:nvPr/>
        </p:nvSpPr>
        <p:spPr>
          <a:xfrm>
            <a:off x="7726680" y="47091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Franchise</a:t>
            </a:r>
            <a:endParaRPr lang="en-US" sz="1300" dirty="0"/>
          </a:p>
        </p:txBody>
      </p:sp>
      <p:sp>
        <p:nvSpPr>
          <p:cNvPr id="35" name="arrow-463"/>
          <p:cNvSpPr/>
          <p:nvPr/>
        </p:nvSpPr>
        <p:spPr>
          <a:xfrm>
            <a:off x="9326880" y="4901184"/>
            <a:ext cx="320040" cy="0"/>
          </a:xfrm>
          <a:prstGeom prst="line">
            <a:avLst/>
          </a:prstGeom>
          <a:noFill/>
          <a:ln w="1905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36" name="pill-464"/>
          <p:cNvSpPr/>
          <p:nvPr/>
        </p:nvSpPr>
        <p:spPr>
          <a:xfrm>
            <a:off x="9692640" y="4709160"/>
            <a:ext cx="1554480" cy="38404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37" name="text-465"/>
          <p:cNvSpPr txBox="1"/>
          <p:nvPr/>
        </p:nvSpPr>
        <p:spPr>
          <a:xfrm>
            <a:off x="9692640" y="47091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License</a:t>
            </a:r>
            <a:endParaRPr lang="en-US" sz="1300" dirty="0"/>
          </a:p>
        </p:txBody>
      </p:sp>
      <p:sp>
        <p:nvSpPr>
          <p:cNvPr id="38" name="text-466"/>
          <p:cNvSpPr txBox="1"/>
          <p:nvPr/>
        </p:nvSpPr>
        <p:spPr>
          <a:xfrm>
            <a:off x="457200" y="521208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chemeClr val="accent5"/>
                </a:solidFill>
              </a:rPr>
              <a:t>Channels: government tenders · direct enterprise sales · franchise network · OEM sorbent licensing</a:t>
            </a:r>
            <a:endParaRPr lang="en-US" sz="1250" dirty="0"/>
          </a:p>
        </p:txBody>
      </p:sp>
      <p:sp>
        <p:nvSpPr>
          <p:cNvPr id="39" name="keymsg-bg-467"/>
          <p:cNvSpPr/>
          <p:nvPr/>
        </p:nvSpPr>
        <p:spPr>
          <a:xfrm>
            <a:off x="457200" y="5760720"/>
            <a:ext cx="11277295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/>
        </p:spPr>
      </p:sp>
      <p:sp>
        <p:nvSpPr>
          <p:cNvPr id="40" name="icon-bg-468"/>
          <p:cNvSpPr/>
          <p:nvPr/>
        </p:nvSpPr>
        <p:spPr>
          <a:xfrm>
            <a:off x="585216" y="586130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41" name="icon-469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314" y="5956402"/>
            <a:ext cx="175565" cy="175565"/>
          </a:xfrm>
          <a:prstGeom prst="rect">
            <a:avLst/>
          </a:prstGeom>
        </p:spPr>
      </p:pic>
      <p:sp>
        <p:nvSpPr>
          <p:cNvPr id="42" name="text-470"/>
          <p:cNvSpPr txBox="1"/>
          <p:nvPr/>
        </p:nvSpPr>
        <p:spPr>
          <a:xfrm>
            <a:off x="1097280" y="57607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Tenders give volume. Waste-heat sites give margins. Franchising gives speed. Licensing gives capital-light upside.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 &amp; validation: [insert current traction here]</a:t>
            </a:r>
            <a:endParaRPr lang="en-US" sz="3000" dirty="0"/>
          </a:p>
        </p:txBody>
      </p:sp>
      <p:sp>
        <p:nvSpPr>
          <p:cNvPr id="3" name="card-471"/>
          <p:cNvSpPr/>
          <p:nvPr/>
        </p:nvSpPr>
        <p:spPr>
          <a:xfrm>
            <a:off x="457200" y="1371600"/>
            <a:ext cx="2682164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rgbClr val="D5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A2E4D">
                <a:alpha val="12000"/>
              </a:srgbClr>
            </a:outerShdw>
          </a:effectLst>
        </p:spPr>
      </p:sp>
      <p:sp>
        <p:nvSpPr>
          <p:cNvPr id="4" name="icon-bg-472"/>
          <p:cNvSpPr/>
          <p:nvPr/>
        </p:nvSpPr>
        <p:spPr>
          <a:xfrm>
            <a:off x="640080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-47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726" y="1697126"/>
            <a:ext cx="263347" cy="263347"/>
          </a:xfrm>
          <a:prstGeom prst="rect">
            <a:avLst/>
          </a:prstGeom>
        </p:spPr>
      </p:pic>
      <p:sp>
        <p:nvSpPr>
          <p:cNvPr id="6" name="text-474"/>
          <p:cNvSpPr txBox="1"/>
          <p:nvPr/>
        </p:nvSpPr>
        <p:spPr>
          <a:xfrm>
            <a:off x="1325880" y="1600200"/>
            <a:ext cx="17220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Pipeline</a:t>
            </a:r>
            <a:endParaRPr lang="en-US" sz="1500" dirty="0"/>
          </a:p>
        </p:txBody>
      </p:sp>
      <p:sp>
        <p:nvSpPr>
          <p:cNvPr id="7" name="text-475"/>
          <p:cNvSpPr txBox="1"/>
          <p:nvPr/>
        </p:nvSpPr>
        <p:spPr>
          <a:xfrm>
            <a:off x="640080" y="2240280"/>
            <a:ext cx="23164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[X] letters of intent from hospitals, corporates or data centres</a:t>
            </a:r>
            <a:endParaRPr lang="en-US" sz="1300" dirty="0"/>
          </a:p>
        </p:txBody>
      </p:sp>
      <p:sp>
        <p:nvSpPr>
          <p:cNvPr id="8" name="card-476"/>
          <p:cNvSpPr/>
          <p:nvPr/>
        </p:nvSpPr>
        <p:spPr>
          <a:xfrm>
            <a:off x="3322244" y="1371600"/>
            <a:ext cx="2682164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rgbClr val="D5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A2E4D">
                <a:alpha val="12000"/>
              </a:srgbClr>
            </a:outerShdw>
          </a:effectLst>
        </p:spPr>
      </p:sp>
      <p:sp>
        <p:nvSpPr>
          <p:cNvPr id="9" name="icon-bg-477"/>
          <p:cNvSpPr/>
          <p:nvPr/>
        </p:nvSpPr>
        <p:spPr>
          <a:xfrm>
            <a:off x="3505124" y="155448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0" name="icon-47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7770" y="1697126"/>
            <a:ext cx="263347" cy="263347"/>
          </a:xfrm>
          <a:prstGeom prst="rect">
            <a:avLst/>
          </a:prstGeom>
        </p:spPr>
      </p:pic>
      <p:sp>
        <p:nvSpPr>
          <p:cNvPr id="11" name="text-479"/>
          <p:cNvSpPr txBox="1"/>
          <p:nvPr/>
        </p:nvSpPr>
        <p:spPr>
          <a:xfrm>
            <a:off x="4190924" y="1600200"/>
            <a:ext cx="17220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Government</a:t>
            </a:r>
            <a:endParaRPr lang="en-US" sz="1500" dirty="0"/>
          </a:p>
        </p:txBody>
      </p:sp>
      <p:sp>
        <p:nvSpPr>
          <p:cNvPr id="12" name="text-480"/>
          <p:cNvSpPr txBox="1"/>
          <p:nvPr/>
        </p:nvSpPr>
        <p:spPr>
          <a:xfrm>
            <a:off x="3505124" y="2240280"/>
            <a:ext cx="23164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[Y] railway tender submitted or pre-qualified</a:t>
            </a:r>
            <a:endParaRPr lang="en-US" sz="1300" dirty="0"/>
          </a:p>
        </p:txBody>
      </p:sp>
      <p:sp>
        <p:nvSpPr>
          <p:cNvPr id="13" name="card-481"/>
          <p:cNvSpPr/>
          <p:nvPr/>
        </p:nvSpPr>
        <p:spPr>
          <a:xfrm>
            <a:off x="6187288" y="1371600"/>
            <a:ext cx="2682164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rgbClr val="D5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A2E4D">
                <a:alpha val="12000"/>
              </a:srgbClr>
            </a:outerShdw>
          </a:effectLst>
        </p:spPr>
      </p:sp>
      <p:sp>
        <p:nvSpPr>
          <p:cNvPr id="14" name="icon-bg-482"/>
          <p:cNvSpPr/>
          <p:nvPr/>
        </p:nvSpPr>
        <p:spPr>
          <a:xfrm>
            <a:off x="6370168" y="155448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icon-48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2814" y="1697126"/>
            <a:ext cx="263347" cy="263347"/>
          </a:xfrm>
          <a:prstGeom prst="rect">
            <a:avLst/>
          </a:prstGeom>
        </p:spPr>
      </p:pic>
      <p:sp>
        <p:nvSpPr>
          <p:cNvPr id="16" name="text-484"/>
          <p:cNvSpPr txBox="1"/>
          <p:nvPr/>
        </p:nvSpPr>
        <p:spPr>
          <a:xfrm>
            <a:off x="7055968" y="1600200"/>
            <a:ext cx="17220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Prototypes</a:t>
            </a:r>
            <a:endParaRPr lang="en-US" sz="1500" dirty="0"/>
          </a:p>
        </p:txBody>
      </p:sp>
      <p:sp>
        <p:nvSpPr>
          <p:cNvPr id="17" name="text-485"/>
          <p:cNvSpPr txBox="1"/>
          <p:nvPr/>
        </p:nvSpPr>
        <p:spPr>
          <a:xfrm>
            <a:off x="6370168" y="2240280"/>
            <a:ext cx="23164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Condensation + sorption MVP build status: [status]</a:t>
            </a:r>
            <a:endParaRPr lang="en-US" sz="1300" dirty="0"/>
          </a:p>
        </p:txBody>
      </p:sp>
      <p:sp>
        <p:nvSpPr>
          <p:cNvPr id="18" name="card-486"/>
          <p:cNvSpPr/>
          <p:nvPr/>
        </p:nvSpPr>
        <p:spPr>
          <a:xfrm>
            <a:off x="9052331" y="1371600"/>
            <a:ext cx="2682164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rgbClr val="D5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A2E4D">
                <a:alpha val="12000"/>
              </a:srgbClr>
            </a:outerShdw>
          </a:effectLst>
        </p:spPr>
      </p:sp>
      <p:sp>
        <p:nvSpPr>
          <p:cNvPr id="19" name="icon-bg-487"/>
          <p:cNvSpPr/>
          <p:nvPr/>
        </p:nvSpPr>
        <p:spPr>
          <a:xfrm>
            <a:off x="9235211" y="155448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icon-48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7858" y="1697126"/>
            <a:ext cx="263347" cy="263347"/>
          </a:xfrm>
          <a:prstGeom prst="rect">
            <a:avLst/>
          </a:prstGeom>
        </p:spPr>
      </p:pic>
      <p:sp>
        <p:nvSpPr>
          <p:cNvPr id="21" name="text-489"/>
          <p:cNvSpPr txBox="1"/>
          <p:nvPr/>
        </p:nvSpPr>
        <p:spPr>
          <a:xfrm>
            <a:off x="9921011" y="1600200"/>
            <a:ext cx="17220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Sorbent validation</a:t>
            </a:r>
            <a:endParaRPr lang="en-US" sz="1500" dirty="0"/>
          </a:p>
        </p:txBody>
      </p:sp>
      <p:sp>
        <p:nvSpPr>
          <p:cNvPr id="22" name="text-490"/>
          <p:cNvSpPr txBox="1"/>
          <p:nvPr/>
        </p:nvSpPr>
        <p:spPr>
          <a:xfrm>
            <a:off x="9235211" y="2240280"/>
            <a:ext cx="23164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Jute/CaCl₂ and PANSAP lab performance data: [data]</a:t>
            </a:r>
            <a:endParaRPr lang="en-US" sz="1300" dirty="0"/>
          </a:p>
        </p:txBody>
      </p:sp>
      <p:sp>
        <p:nvSpPr>
          <p:cNvPr id="23" name="card-491"/>
          <p:cNvSpPr/>
          <p:nvPr/>
        </p:nvSpPr>
        <p:spPr>
          <a:xfrm>
            <a:off x="457200" y="3520440"/>
            <a:ext cx="2682164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rgbClr val="D5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A2E4D">
                <a:alpha val="12000"/>
              </a:srgbClr>
            </a:outerShdw>
          </a:effectLst>
        </p:spPr>
      </p:sp>
      <p:sp>
        <p:nvSpPr>
          <p:cNvPr id="24" name="icon-bg-492"/>
          <p:cNvSpPr/>
          <p:nvPr/>
        </p:nvSpPr>
        <p:spPr>
          <a:xfrm>
            <a:off x="640080" y="37033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con-49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726" y="3845966"/>
            <a:ext cx="263347" cy="263347"/>
          </a:xfrm>
          <a:prstGeom prst="rect">
            <a:avLst/>
          </a:prstGeom>
        </p:spPr>
      </p:pic>
      <p:sp>
        <p:nvSpPr>
          <p:cNvPr id="26" name="text-494"/>
          <p:cNvSpPr txBox="1"/>
          <p:nvPr/>
        </p:nvSpPr>
        <p:spPr>
          <a:xfrm>
            <a:off x="1325880" y="3749040"/>
            <a:ext cx="17220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Certifications</a:t>
            </a:r>
            <a:endParaRPr lang="en-US" sz="1500" dirty="0"/>
          </a:p>
        </p:txBody>
      </p:sp>
      <p:sp>
        <p:nvSpPr>
          <p:cNvPr id="27" name="text-495"/>
          <p:cNvSpPr txBox="1"/>
          <p:nvPr/>
        </p:nvSpPr>
        <p:spPr>
          <a:xfrm>
            <a:off x="640080" y="4389120"/>
            <a:ext cx="23164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ASSE 1090 and BIS applications: [in progress]</a:t>
            </a:r>
            <a:endParaRPr lang="en-US" sz="1300" dirty="0"/>
          </a:p>
        </p:txBody>
      </p:sp>
      <p:sp>
        <p:nvSpPr>
          <p:cNvPr id="28" name="card-496"/>
          <p:cNvSpPr/>
          <p:nvPr/>
        </p:nvSpPr>
        <p:spPr>
          <a:xfrm>
            <a:off x="3322244" y="3520440"/>
            <a:ext cx="2682164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rgbClr val="D5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A2E4D">
                <a:alpha val="12000"/>
              </a:srgbClr>
            </a:outerShdw>
          </a:effectLst>
        </p:spPr>
      </p:sp>
      <p:sp>
        <p:nvSpPr>
          <p:cNvPr id="29" name="icon-bg-497"/>
          <p:cNvSpPr/>
          <p:nvPr/>
        </p:nvSpPr>
        <p:spPr>
          <a:xfrm>
            <a:off x="3505124" y="37033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0" name="icon-498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47770" y="3845966"/>
            <a:ext cx="263347" cy="263347"/>
          </a:xfrm>
          <a:prstGeom prst="rect">
            <a:avLst/>
          </a:prstGeom>
        </p:spPr>
      </p:pic>
      <p:sp>
        <p:nvSpPr>
          <p:cNvPr id="31" name="text-499"/>
          <p:cNvSpPr txBox="1"/>
          <p:nvPr/>
        </p:nvSpPr>
        <p:spPr>
          <a:xfrm>
            <a:off x="4190924" y="3749040"/>
            <a:ext cx="17220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Partnerships</a:t>
            </a:r>
            <a:endParaRPr lang="en-US" sz="1500" dirty="0"/>
          </a:p>
        </p:txBody>
      </p:sp>
      <p:sp>
        <p:nvSpPr>
          <p:cNvPr id="32" name="text-500"/>
          <p:cNvSpPr txBox="1"/>
          <p:nvPr/>
        </p:nvSpPr>
        <p:spPr>
          <a:xfrm>
            <a:off x="3505124" y="4389120"/>
            <a:ext cx="23164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[HVAC manufacturer], [solar thermal supplier], [waste-heat host site]</a:t>
            </a:r>
            <a:endParaRPr lang="en-US" sz="1300" dirty="0"/>
          </a:p>
        </p:txBody>
      </p:sp>
      <p:sp>
        <p:nvSpPr>
          <p:cNvPr id="33" name="card-501"/>
          <p:cNvSpPr/>
          <p:nvPr/>
        </p:nvSpPr>
        <p:spPr>
          <a:xfrm>
            <a:off x="6187288" y="3520440"/>
            <a:ext cx="2682164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rgbClr val="D5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A2E4D">
                <a:alpha val="12000"/>
              </a:srgbClr>
            </a:outerShdw>
          </a:effectLst>
        </p:spPr>
      </p:sp>
      <p:sp>
        <p:nvSpPr>
          <p:cNvPr id="34" name="icon-bg-502"/>
          <p:cNvSpPr/>
          <p:nvPr/>
        </p:nvSpPr>
        <p:spPr>
          <a:xfrm>
            <a:off x="6370168" y="370332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5" name="icon-50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2814" y="3845966"/>
            <a:ext cx="263347" cy="263347"/>
          </a:xfrm>
          <a:prstGeom prst="rect">
            <a:avLst/>
          </a:prstGeom>
        </p:spPr>
      </p:pic>
      <p:sp>
        <p:nvSpPr>
          <p:cNvPr id="36" name="text-504"/>
          <p:cNvSpPr txBox="1"/>
          <p:nvPr/>
        </p:nvSpPr>
        <p:spPr>
          <a:xfrm>
            <a:off x="7055968" y="3749040"/>
            <a:ext cx="17220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Water quality</a:t>
            </a:r>
            <a:endParaRPr lang="en-US" sz="1500" dirty="0"/>
          </a:p>
        </p:txBody>
      </p:sp>
      <p:sp>
        <p:nvSpPr>
          <p:cNvPr id="37" name="text-505"/>
          <p:cNvSpPr txBox="1"/>
          <p:nvPr/>
        </p:nvSpPr>
        <p:spPr>
          <a:xfrm>
            <a:off x="6370168" y="4389120"/>
            <a:ext cx="23164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Third-party test results from pilot units: [results]</a:t>
            </a:r>
            <a:endParaRPr lang="en-US" sz="1300" dirty="0"/>
          </a:p>
        </p:txBody>
      </p:sp>
      <p:sp>
        <p:nvSpPr>
          <p:cNvPr id="38" name="card-506"/>
          <p:cNvSpPr/>
          <p:nvPr/>
        </p:nvSpPr>
        <p:spPr>
          <a:xfrm>
            <a:off x="9052331" y="3520440"/>
            <a:ext cx="2682164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rgbClr val="D5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A2E4D">
                <a:alpha val="12000"/>
              </a:srgbClr>
            </a:outerShdw>
          </a:effectLst>
        </p:spPr>
      </p:sp>
      <p:sp>
        <p:nvSpPr>
          <p:cNvPr id="39" name="icon-bg-507"/>
          <p:cNvSpPr/>
          <p:nvPr/>
        </p:nvSpPr>
        <p:spPr>
          <a:xfrm>
            <a:off x="9235211" y="370332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40" name="icon-50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7858" y="3845966"/>
            <a:ext cx="263347" cy="263347"/>
          </a:xfrm>
          <a:prstGeom prst="rect">
            <a:avLst/>
          </a:prstGeom>
        </p:spPr>
      </p:pic>
      <p:sp>
        <p:nvSpPr>
          <p:cNvPr id="41" name="text-509"/>
          <p:cNvSpPr txBox="1"/>
          <p:nvPr/>
        </p:nvSpPr>
        <p:spPr>
          <a:xfrm>
            <a:off x="9921011" y="3749040"/>
            <a:ext cx="17220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Next milestone</a:t>
            </a:r>
            <a:endParaRPr lang="en-US" sz="1500" dirty="0"/>
          </a:p>
        </p:txBody>
      </p:sp>
      <p:sp>
        <p:nvSpPr>
          <p:cNvPr id="42" name="text-510"/>
          <p:cNvSpPr txBox="1"/>
          <p:nvPr/>
        </p:nvSpPr>
        <p:spPr>
          <a:xfrm>
            <a:off x="9235211" y="4389120"/>
            <a:ext cx="23164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[Insert the next proof point and its date]</a:t>
            </a:r>
            <a:endParaRPr lang="en-US" sz="1300" dirty="0"/>
          </a:p>
        </p:txBody>
      </p:sp>
      <p:sp>
        <p:nvSpPr>
          <p:cNvPr id="43" name="keymsg-bg-511"/>
          <p:cNvSpPr/>
          <p:nvPr/>
        </p:nvSpPr>
        <p:spPr>
          <a:xfrm>
            <a:off x="457200" y="5760720"/>
            <a:ext cx="11277295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/>
        </p:spPr>
      </p:sp>
      <p:sp>
        <p:nvSpPr>
          <p:cNvPr id="44" name="icon-bg-512"/>
          <p:cNvSpPr/>
          <p:nvPr/>
        </p:nvSpPr>
        <p:spPr>
          <a:xfrm>
            <a:off x="585216" y="586130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45" name="icon-513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0314" y="5956402"/>
            <a:ext cx="175565" cy="175565"/>
          </a:xfrm>
          <a:prstGeom prst="rect">
            <a:avLst/>
          </a:prstGeom>
        </p:spPr>
      </p:pic>
      <p:sp>
        <p:nvSpPr>
          <p:cNvPr id="46" name="text-514"/>
          <p:cNvSpPr txBox="1"/>
          <p:nvPr/>
        </p:nvSpPr>
        <p:spPr>
          <a:xfrm>
            <a:off x="1097280" y="57607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We are not starting from zero — we have a validation plan with measurable milestones.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win on cost and defend on sorbent IP and system architecture</a:t>
            </a:r>
            <a:endParaRPr lang="en-US" sz="3000" dirty="0"/>
          </a:p>
        </p:txBody>
      </p:sp>
      <p:sp>
        <p:nvSpPr>
          <p:cNvPr id="3" name="card-515"/>
          <p:cNvSpPr/>
          <p:nvPr/>
        </p:nvSpPr>
        <p:spPr>
          <a:xfrm>
            <a:off x="457200" y="1325880"/>
            <a:ext cx="4572000" cy="425196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9525">
            <a:solidFill>
              <a:srgbClr val="D5E3EC"/>
            </a:solidFill>
            <a:prstDash val="solid"/>
          </a:ln>
        </p:spPr>
      </p:sp>
      <p:sp>
        <p:nvSpPr>
          <p:cNvPr id="4" name="axis-516"/>
          <p:cNvSpPr/>
          <p:nvPr/>
        </p:nvSpPr>
        <p:spPr>
          <a:xfrm>
            <a:off x="868680" y="3291840"/>
            <a:ext cx="4023360" cy="0"/>
          </a:xfrm>
          <a:prstGeom prst="line">
            <a:avLst/>
          </a:prstGeom>
          <a:noFill/>
          <a:ln w="12700">
            <a:solidFill>
              <a:srgbClr val="D5E3EC"/>
            </a:solidFill>
            <a:prstDash val="solid"/>
          </a:ln>
        </p:spPr>
      </p:sp>
      <p:sp>
        <p:nvSpPr>
          <p:cNvPr id="5" name="axis-517"/>
          <p:cNvSpPr/>
          <p:nvPr/>
        </p:nvSpPr>
        <p:spPr>
          <a:xfrm>
            <a:off x="2880360" y="1417320"/>
            <a:ext cx="0" cy="3749040"/>
          </a:xfrm>
          <a:prstGeom prst="line">
            <a:avLst/>
          </a:prstGeom>
          <a:noFill/>
          <a:ln w="12700">
            <a:solidFill>
              <a:srgbClr val="D5E3EC"/>
            </a:solidFill>
            <a:prstDash val="solid"/>
          </a:ln>
        </p:spPr>
      </p:sp>
      <p:sp>
        <p:nvSpPr>
          <p:cNvPr id="6" name="text-518"/>
          <p:cNvSpPr txBox="1"/>
          <p:nvPr/>
        </p:nvSpPr>
        <p:spPr>
          <a:xfrm>
            <a:off x="868680" y="52120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Low cost →</a:t>
            </a:r>
            <a:endParaRPr lang="en-US" sz="1100" dirty="0"/>
          </a:p>
        </p:txBody>
      </p:sp>
      <p:sp>
        <p:nvSpPr>
          <p:cNvPr id="7" name="text-519"/>
          <p:cNvSpPr txBox="1"/>
          <p:nvPr/>
        </p:nvSpPr>
        <p:spPr>
          <a:xfrm>
            <a:off x="502920" y="4069080"/>
            <a:ext cx="320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vert27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Scalability →</a:t>
            </a:r>
            <a:endParaRPr lang="en-US" sz="1100" dirty="0"/>
          </a:p>
        </p:txBody>
      </p:sp>
      <p:sp>
        <p:nvSpPr>
          <p:cNvPr id="8" name="dot-520"/>
          <p:cNvSpPr/>
          <p:nvPr/>
        </p:nvSpPr>
        <p:spPr>
          <a:xfrm>
            <a:off x="1260043" y="2750515"/>
            <a:ext cx="182880" cy="18288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9" name="text-521"/>
          <p:cNvSpPr txBox="1"/>
          <p:nvPr/>
        </p:nvSpPr>
        <p:spPr>
          <a:xfrm>
            <a:off x="1488643" y="2704795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Bottled water</a:t>
            </a:r>
            <a:endParaRPr lang="en-US" sz="1100" dirty="0"/>
          </a:p>
        </p:txBody>
      </p:sp>
      <p:sp>
        <p:nvSpPr>
          <p:cNvPr id="10" name="dot-522"/>
          <p:cNvSpPr/>
          <p:nvPr/>
        </p:nvSpPr>
        <p:spPr>
          <a:xfrm>
            <a:off x="2467051" y="3950208"/>
            <a:ext cx="182880" cy="182880"/>
          </a:xfrm>
          <a:prstGeom prst="ellipse">
            <a:avLst/>
          </a:prstGeom>
          <a:solidFill>
            <a:srgbClr val="5B6B78"/>
          </a:solidFill>
          <a:ln/>
        </p:spPr>
      </p:sp>
      <p:sp>
        <p:nvSpPr>
          <p:cNvPr id="11" name="text-523"/>
          <p:cNvSpPr txBox="1"/>
          <p:nvPr/>
        </p:nvSpPr>
        <p:spPr>
          <a:xfrm>
            <a:off x="2695651" y="39044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Tanker water</a:t>
            </a:r>
            <a:endParaRPr lang="en-US" sz="1100" dirty="0"/>
          </a:p>
        </p:txBody>
      </p:sp>
      <p:sp>
        <p:nvSpPr>
          <p:cNvPr id="12" name="dot-524"/>
          <p:cNvSpPr/>
          <p:nvPr/>
        </p:nvSpPr>
        <p:spPr>
          <a:xfrm>
            <a:off x="1501445" y="4400093"/>
            <a:ext cx="182880" cy="182880"/>
          </a:xfrm>
          <a:prstGeom prst="ellipse">
            <a:avLst/>
          </a:prstGeom>
          <a:solidFill>
            <a:srgbClr val="5B6B78"/>
          </a:solidFill>
          <a:ln/>
        </p:spPr>
      </p:sp>
      <p:sp>
        <p:nvSpPr>
          <p:cNvPr id="13" name="text-525"/>
          <p:cNvSpPr txBox="1"/>
          <p:nvPr/>
        </p:nvSpPr>
        <p:spPr>
          <a:xfrm>
            <a:off x="1730045" y="4354373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RO / Desal</a:t>
            </a:r>
            <a:endParaRPr lang="en-US" sz="1100" dirty="0"/>
          </a:p>
        </p:txBody>
      </p:sp>
      <p:sp>
        <p:nvSpPr>
          <p:cNvPr id="14" name="dot-526"/>
          <p:cNvSpPr/>
          <p:nvPr/>
        </p:nvSpPr>
        <p:spPr>
          <a:xfrm>
            <a:off x="1984248" y="2000707"/>
            <a:ext cx="182880" cy="182880"/>
          </a:xfrm>
          <a:prstGeom prst="ellipse">
            <a:avLst/>
          </a:prstGeom>
          <a:solidFill>
            <a:srgbClr val="3FB6D9"/>
          </a:solidFill>
          <a:ln/>
        </p:spPr>
      </p:sp>
      <p:sp>
        <p:nvSpPr>
          <p:cNvPr id="15" name="text-527"/>
          <p:cNvSpPr txBox="1"/>
          <p:nvPr/>
        </p:nvSpPr>
        <p:spPr>
          <a:xfrm>
            <a:off x="2212848" y="1954987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Conventional AWG</a:t>
            </a:r>
            <a:endParaRPr lang="en-US" sz="1100" dirty="0"/>
          </a:p>
        </p:txBody>
      </p:sp>
      <p:sp>
        <p:nvSpPr>
          <p:cNvPr id="16" name="dot-528"/>
          <p:cNvSpPr/>
          <p:nvPr/>
        </p:nvSpPr>
        <p:spPr>
          <a:xfrm>
            <a:off x="2467051" y="3012948"/>
            <a:ext cx="182880" cy="182880"/>
          </a:xfrm>
          <a:prstGeom prst="ellipse">
            <a:avLst/>
          </a:prstGeom>
          <a:solidFill>
            <a:srgbClr val="1273B5"/>
          </a:solidFill>
          <a:ln/>
        </p:spPr>
      </p:sp>
      <p:sp>
        <p:nvSpPr>
          <p:cNvPr id="17" name="text-529"/>
          <p:cNvSpPr txBox="1"/>
          <p:nvPr/>
        </p:nvSpPr>
        <p:spPr>
          <a:xfrm>
            <a:off x="2695651" y="29672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Watergen · Akvo · Uravu</a:t>
            </a:r>
            <a:endParaRPr lang="en-US" sz="1100" dirty="0"/>
          </a:p>
        </p:txBody>
      </p:sp>
      <p:sp>
        <p:nvSpPr>
          <p:cNvPr id="18" name="dot-530"/>
          <p:cNvSpPr/>
          <p:nvPr/>
        </p:nvSpPr>
        <p:spPr>
          <a:xfrm>
            <a:off x="4262933" y="1833372"/>
            <a:ext cx="292608" cy="292608"/>
          </a:xfrm>
          <a:prstGeom prst="ellipse">
            <a:avLst/>
          </a:prstGeom>
          <a:solidFill>
            <a:srgbClr val="F2A124"/>
          </a:solidFill>
          <a:ln/>
        </p:spPr>
      </p:sp>
      <p:sp>
        <p:nvSpPr>
          <p:cNvPr id="19" name="text-531"/>
          <p:cNvSpPr txBox="1"/>
          <p:nvPr/>
        </p:nvSpPr>
        <p:spPr>
          <a:xfrm>
            <a:off x="2946197" y="216255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AcquaHT</a:t>
            </a:r>
            <a:endParaRPr lang="en-US" sz="1400" dirty="0"/>
          </a:p>
        </p:txBody>
      </p:sp>
      <p:graphicFrame>
        <p:nvGraphicFramePr>
          <p:cNvPr id="21" name="table-5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57800" y="1325880"/>
          <a:ext cx="647669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286000"/>
                <a:gridCol w="2453335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advantage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4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Bottled water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₹15–20/L, plastic waste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₹0.40–0.80/L production cost, zero plastic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Tanker water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Unreliable, contaminated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On-site, certified, IoT-monitored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 / Desalination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source water, coastal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 anywhere RH &gt;30%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Conventional AWG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$0.06–0.17/L, high CapEx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$0.005–0.01/L, 60–75% lower CapEx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Watergen, Akvo, Uravu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brands, MOF/silica-based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Agri-waste sorbents, solar thermal, waste heat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keymsg-bg-533"/>
          <p:cNvSpPr/>
          <p:nvPr/>
        </p:nvSpPr>
        <p:spPr>
          <a:xfrm>
            <a:off x="457200" y="5760720"/>
            <a:ext cx="11277295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/>
        </p:spPr>
      </p:sp>
      <p:sp>
        <p:nvSpPr>
          <p:cNvPr id="22" name="icon-bg-534"/>
          <p:cNvSpPr/>
          <p:nvPr/>
        </p:nvSpPr>
        <p:spPr>
          <a:xfrm>
            <a:off x="585216" y="586130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3" name="icon-53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4" y="5956402"/>
            <a:ext cx="175565" cy="175565"/>
          </a:xfrm>
          <a:prstGeom prst="rect">
            <a:avLst/>
          </a:prstGeom>
        </p:spPr>
      </p:pic>
      <p:sp>
        <p:nvSpPr>
          <p:cNvPr id="24" name="text-536"/>
          <p:cNvSpPr txBox="1"/>
          <p:nvPr/>
        </p:nvSpPr>
        <p:spPr>
          <a:xfrm>
            <a:off x="1097280" y="57607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Anyone can buy a compressor. Nobody else has our sorbent cost structure or our hybrid thermal architecture.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moat has three layers</a:t>
            </a:r>
            <a:endParaRPr lang="en-US" sz="3000" dirty="0"/>
          </a:p>
        </p:txBody>
      </p:sp>
      <p:sp>
        <p:nvSpPr>
          <p:cNvPr id="3" name="layer-537"/>
          <p:cNvSpPr/>
          <p:nvPr/>
        </p:nvSpPr>
        <p:spPr>
          <a:xfrm>
            <a:off x="457200" y="1371600"/>
            <a:ext cx="11277295" cy="1234440"/>
          </a:xfrm>
          <a:prstGeom prst="roundRect">
            <a:avLst>
              <a:gd name="adj" fmla="val 10370"/>
            </a:avLst>
          </a:prstGeom>
          <a:solidFill>
            <a:srgbClr val="EAF4FA"/>
          </a:solidFill>
          <a:ln/>
        </p:spPr>
      </p:sp>
      <p:sp>
        <p:nvSpPr>
          <p:cNvPr id="4" name="icon-bg-538"/>
          <p:cNvSpPr/>
          <p:nvPr/>
        </p:nvSpPr>
        <p:spPr>
          <a:xfrm>
            <a:off x="731520" y="164592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5" name="icon-53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" y="1824228"/>
            <a:ext cx="329184" cy="329184"/>
          </a:xfrm>
          <a:prstGeom prst="rect">
            <a:avLst/>
          </a:prstGeom>
        </p:spPr>
      </p:pic>
      <p:sp>
        <p:nvSpPr>
          <p:cNvPr id="6" name="text-540"/>
          <p:cNvSpPr txBox="1"/>
          <p:nvPr/>
        </p:nvSpPr>
        <p:spPr>
          <a:xfrm>
            <a:off x="1645920" y="15087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1. Sorbent formulation IP</a:t>
            </a:r>
            <a:endParaRPr lang="en-US" sz="1800" dirty="0"/>
          </a:p>
        </p:txBody>
      </p:sp>
      <p:sp>
        <p:nvSpPr>
          <p:cNvPr id="7" name="text-541"/>
          <p:cNvSpPr txBox="1"/>
          <p:nvPr/>
        </p:nvSpPr>
        <p:spPr>
          <a:xfrm>
            <a:off x="1645920" y="1920240"/>
            <a:ext cx="9814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Jute/CaCl₂ composite and PANSAP processing know-how. Patentable, hard to reverse-engineer and licensable.</a:t>
            </a:r>
            <a:endParaRPr lang="en-US" sz="1400" dirty="0"/>
          </a:p>
        </p:txBody>
      </p:sp>
      <p:sp>
        <p:nvSpPr>
          <p:cNvPr id="8" name="layer-542"/>
          <p:cNvSpPr/>
          <p:nvPr/>
        </p:nvSpPr>
        <p:spPr>
          <a:xfrm>
            <a:off x="1005840" y="2743200"/>
            <a:ext cx="10180015" cy="1234440"/>
          </a:xfrm>
          <a:prstGeom prst="roundRect">
            <a:avLst>
              <a:gd name="adj" fmla="val 10370"/>
            </a:avLst>
          </a:prstGeom>
          <a:solidFill>
            <a:srgbClr val="D3E8F4"/>
          </a:solidFill>
          <a:ln/>
        </p:spPr>
      </p:sp>
      <p:sp>
        <p:nvSpPr>
          <p:cNvPr id="9" name="icon-bg-543"/>
          <p:cNvSpPr/>
          <p:nvPr/>
        </p:nvSpPr>
        <p:spPr>
          <a:xfrm>
            <a:off x="1280160" y="30175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-54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468" y="3195828"/>
            <a:ext cx="329184" cy="329184"/>
          </a:xfrm>
          <a:prstGeom prst="rect">
            <a:avLst/>
          </a:prstGeom>
        </p:spPr>
      </p:pic>
      <p:sp>
        <p:nvSpPr>
          <p:cNvPr id="11" name="text-545"/>
          <p:cNvSpPr txBox="1"/>
          <p:nvPr/>
        </p:nvSpPr>
        <p:spPr>
          <a:xfrm>
            <a:off x="2194560" y="28803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2. Hybrid system architecture</a:t>
            </a:r>
            <a:endParaRPr lang="en-US" sz="1800" dirty="0"/>
          </a:p>
        </p:txBody>
      </p:sp>
      <p:sp>
        <p:nvSpPr>
          <p:cNvPr id="12" name="text-546"/>
          <p:cNvSpPr txBox="1"/>
          <p:nvPr/>
        </p:nvSpPr>
        <p:spPr>
          <a:xfrm>
            <a:off x="2194560" y="3291840"/>
            <a:ext cx="8716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four-stage condensation → sorption → solar thermal → storage chain, including the waste-heat recovery loop. Patentable as a system claim.</a:t>
            </a:r>
            <a:endParaRPr lang="en-US" sz="1400" dirty="0"/>
          </a:p>
        </p:txBody>
      </p:sp>
      <p:sp>
        <p:nvSpPr>
          <p:cNvPr id="13" name="layer-547"/>
          <p:cNvSpPr/>
          <p:nvPr/>
        </p:nvSpPr>
        <p:spPr>
          <a:xfrm>
            <a:off x="1554480" y="4114800"/>
            <a:ext cx="9082735" cy="1234440"/>
          </a:xfrm>
          <a:prstGeom prst="roundRect">
            <a:avLst>
              <a:gd name="adj" fmla="val 10370"/>
            </a:avLst>
          </a:prstGeom>
          <a:solidFill>
            <a:srgbClr val="BBDCEF"/>
          </a:solidFill>
          <a:ln/>
        </p:spPr>
      </p:sp>
      <p:sp>
        <p:nvSpPr>
          <p:cNvPr id="14" name="icon-bg-548"/>
          <p:cNvSpPr/>
          <p:nvPr/>
        </p:nvSpPr>
        <p:spPr>
          <a:xfrm>
            <a:off x="1828800" y="438912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5" name="icon-54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7108" y="4567428"/>
            <a:ext cx="329184" cy="329184"/>
          </a:xfrm>
          <a:prstGeom prst="rect">
            <a:avLst/>
          </a:prstGeom>
        </p:spPr>
      </p:pic>
      <p:sp>
        <p:nvSpPr>
          <p:cNvPr id="16" name="text-550"/>
          <p:cNvSpPr txBox="1"/>
          <p:nvPr/>
        </p:nvSpPr>
        <p:spPr>
          <a:xfrm>
            <a:off x="2743200" y="42519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3. Deployment data</a:t>
            </a:r>
            <a:endParaRPr lang="en-US" sz="1800" dirty="0"/>
          </a:p>
        </p:txBody>
      </p:sp>
      <p:sp>
        <p:nvSpPr>
          <p:cNvPr id="17" name="text-551"/>
          <p:cNvSpPr txBox="1"/>
          <p:nvPr/>
        </p:nvSpPr>
        <p:spPr>
          <a:xfrm>
            <a:off x="2743200" y="4663440"/>
            <a:ext cx="7619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Climate-specific performance curves from lab and field testing. Every unit sold improves our optimisation models.</a:t>
            </a:r>
            <a:endParaRPr lang="en-US" sz="1400" dirty="0"/>
          </a:p>
        </p:txBody>
      </p:sp>
      <p:sp>
        <p:nvSpPr>
          <p:cNvPr id="18" name="keymsg-bg-552"/>
          <p:cNvSpPr/>
          <p:nvPr/>
        </p:nvSpPr>
        <p:spPr>
          <a:xfrm>
            <a:off x="457200" y="5760720"/>
            <a:ext cx="11277295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/>
        </p:spPr>
      </p:sp>
      <p:sp>
        <p:nvSpPr>
          <p:cNvPr id="19" name="icon-bg-553"/>
          <p:cNvSpPr/>
          <p:nvPr/>
        </p:nvSpPr>
        <p:spPr>
          <a:xfrm>
            <a:off x="585216" y="586130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icon-55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314" y="5956402"/>
            <a:ext cx="175565" cy="175565"/>
          </a:xfrm>
          <a:prstGeom prst="rect">
            <a:avLst/>
          </a:prstGeom>
        </p:spPr>
      </p:pic>
      <p:sp>
        <p:nvSpPr>
          <p:cNvPr id="21" name="text-555"/>
          <p:cNvSpPr txBox="1"/>
          <p:nvPr/>
        </p:nvSpPr>
        <p:spPr>
          <a:xfrm>
            <a:off x="1097280" y="57607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Cost is our attack. IP, architecture and data are our defence.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$8M revenue by Year 3. Break-even by Month 18–20</a:t>
            </a:r>
            <a:endParaRPr lang="en-US" sz="3000" dirty="0"/>
          </a:p>
        </p:txBody>
      </p:sp>
      <p:sp>
        <p:nvSpPr>
          <p:cNvPr id="3" name="card-556"/>
          <p:cNvSpPr/>
          <p:nvPr/>
        </p:nvSpPr>
        <p:spPr>
          <a:xfrm>
            <a:off x="457200" y="1371600"/>
            <a:ext cx="6766560" cy="4206240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 w="9525">
            <a:solidFill>
              <a:srgbClr val="D5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A2E4D">
                <a:alpha val="12000"/>
              </a:srgbClr>
            </a:outerShdw>
          </a:effectLst>
        </p:spPr>
      </p:sp>
      <p:graphicFrame>
        <p:nvGraphicFramePr>
          <p:cNvPr id="4" name="chart-revenue" descr=""/>
          <p:cNvGraphicFramePr/>
          <p:nvPr/>
        </p:nvGraphicFramePr>
        <p:xfrm>
          <a:off x="594360" y="1463040"/>
          <a:ext cx="64922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3" name="table-5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52360" y="1371600"/>
          <a:ext cx="4282135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22960"/>
                <a:gridCol w="1463040"/>
                <a:gridCol w="112745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margin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4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53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$2,000,000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$8,000,000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30%+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558"/>
          <p:cNvSpPr txBox="1"/>
          <p:nvPr/>
        </p:nvSpPr>
        <p:spPr>
          <a:xfrm>
            <a:off x="7452360" y="3520440"/>
            <a:ext cx="428213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Blended model: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60% WaaS, 25% equipment, 15% franchise/licensing.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Avg revenue per unit: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$4,000/year.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Margin grows with: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falling sorbent costs and the shift to PANSAP at volume.</a:t>
            </a:r>
            <a:endParaRPr lang="en-US" sz="1300" dirty="0"/>
          </a:p>
        </p:txBody>
      </p:sp>
      <p:sp>
        <p:nvSpPr>
          <p:cNvPr id="7" name="keymsg-bg-559"/>
          <p:cNvSpPr/>
          <p:nvPr/>
        </p:nvSpPr>
        <p:spPr>
          <a:xfrm>
            <a:off x="457200" y="5760720"/>
            <a:ext cx="11277295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/>
        </p:spPr>
      </p:sp>
      <p:sp>
        <p:nvSpPr>
          <p:cNvPr id="8" name="icon-bg-560"/>
          <p:cNvSpPr/>
          <p:nvPr/>
        </p:nvSpPr>
        <p:spPr>
          <a:xfrm>
            <a:off x="585216" y="586130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9" name="icon-56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4" y="5956402"/>
            <a:ext cx="175565" cy="175565"/>
          </a:xfrm>
          <a:prstGeom prst="rect">
            <a:avLst/>
          </a:prstGeom>
        </p:spPr>
      </p:pic>
      <p:sp>
        <p:nvSpPr>
          <p:cNvPr id="10" name="text-562"/>
          <p:cNvSpPr txBox="1"/>
          <p:nvPr/>
        </p:nvSpPr>
        <p:spPr>
          <a:xfrm>
            <a:off x="1097280" y="57607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Year 1 loses money on purpose: it buys the proof. Margins expand as sorbent costs fall.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Raising $650,000 to prove the tech and ship the first units</a:t>
            </a:r>
            <a:endParaRPr lang="en-US" sz="3000" dirty="0"/>
          </a:p>
        </p:txBody>
      </p:sp>
      <p:graphicFrame>
        <p:nvGraphicFramePr>
          <p:cNvPr id="3" name="chart-use-of-funds" descr=""/>
          <p:cNvGraphicFramePr/>
          <p:nvPr/>
        </p:nvGraphicFramePr>
        <p:xfrm>
          <a:off x="457200" y="1325880"/>
          <a:ext cx="31089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-563"/>
          <p:cNvSpPr txBox="1"/>
          <p:nvPr/>
        </p:nvSpPr>
        <p:spPr>
          <a:xfrm>
            <a:off x="457200" y="25146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$650K</a:t>
            </a:r>
            <a:endParaRPr lang="en-US" sz="3000" dirty="0"/>
          </a:p>
        </p:txBody>
      </p:sp>
      <p:sp>
        <p:nvSpPr>
          <p:cNvPr id="5" name="swatch-564"/>
          <p:cNvSpPr/>
          <p:nvPr/>
        </p:nvSpPr>
        <p:spPr>
          <a:xfrm>
            <a:off x="3749040" y="1490472"/>
            <a:ext cx="201168" cy="201168"/>
          </a:xfrm>
          <a:prstGeom prst="ellipse">
            <a:avLst/>
          </a:prstGeom>
          <a:solidFill>
            <a:srgbClr val="3FB6D9"/>
          </a:solidFill>
          <a:ln/>
        </p:spPr>
      </p:sp>
      <p:sp>
        <p:nvSpPr>
          <p:cNvPr id="6" name="text-565"/>
          <p:cNvSpPr txBox="1"/>
          <p:nvPr/>
        </p:nvSpPr>
        <p:spPr>
          <a:xfrm>
            <a:off x="4069080" y="13716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MVP build, lab testing &amp; field pilot (2 prototypes, 2 sites)</a:t>
            </a:r>
            <a:endParaRPr lang="en-US" sz="1250" dirty="0"/>
          </a:p>
        </p:txBody>
      </p:sp>
      <p:sp>
        <p:nvSpPr>
          <p:cNvPr id="7" name="text-566"/>
          <p:cNvSpPr txBox="1"/>
          <p:nvPr/>
        </p:nvSpPr>
        <p:spPr>
          <a:xfrm>
            <a:off x="7680960" y="137160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$150,000</a:t>
            </a:r>
            <a:endParaRPr lang="en-US" sz="1300" dirty="0"/>
          </a:p>
        </p:txBody>
      </p:sp>
      <p:sp>
        <p:nvSpPr>
          <p:cNvPr id="8" name="text-567"/>
          <p:cNvSpPr txBox="1"/>
          <p:nvPr/>
        </p:nvSpPr>
        <p:spPr>
          <a:xfrm>
            <a:off x="85496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23%</a:t>
            </a:r>
            <a:endParaRPr lang="en-US" sz="1200" dirty="0"/>
          </a:p>
        </p:txBody>
      </p:sp>
      <p:sp>
        <p:nvSpPr>
          <p:cNvPr id="9" name="swatch-568"/>
          <p:cNvSpPr/>
          <p:nvPr/>
        </p:nvSpPr>
        <p:spPr>
          <a:xfrm>
            <a:off x="3749040" y="2002536"/>
            <a:ext cx="201168" cy="201168"/>
          </a:xfrm>
          <a:prstGeom prst="ellipse">
            <a:avLst/>
          </a:prstGeom>
          <a:solidFill>
            <a:srgbClr val="F2A124"/>
          </a:solidFill>
          <a:ln/>
        </p:spPr>
      </p:sp>
      <p:sp>
        <p:nvSpPr>
          <p:cNvPr id="10" name="text-569"/>
          <p:cNvSpPr txBox="1"/>
          <p:nvPr/>
        </p:nvSpPr>
        <p:spPr>
          <a:xfrm>
            <a:off x="4069080" y="188366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Certification (ASSE 1090, BIS, WHO validation)</a:t>
            </a:r>
            <a:endParaRPr lang="en-US" sz="1250" dirty="0"/>
          </a:p>
        </p:txBody>
      </p:sp>
      <p:sp>
        <p:nvSpPr>
          <p:cNvPr id="11" name="text-570"/>
          <p:cNvSpPr txBox="1"/>
          <p:nvPr/>
        </p:nvSpPr>
        <p:spPr>
          <a:xfrm>
            <a:off x="7680960" y="188366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$80,000</a:t>
            </a:r>
            <a:endParaRPr lang="en-US" sz="1300" dirty="0"/>
          </a:p>
        </p:txBody>
      </p:sp>
      <p:sp>
        <p:nvSpPr>
          <p:cNvPr id="12" name="text-571"/>
          <p:cNvSpPr txBox="1"/>
          <p:nvPr/>
        </p:nvSpPr>
        <p:spPr>
          <a:xfrm>
            <a:off x="8549640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12%</a:t>
            </a:r>
            <a:endParaRPr lang="en-US" sz="1200" dirty="0"/>
          </a:p>
        </p:txBody>
      </p:sp>
      <p:sp>
        <p:nvSpPr>
          <p:cNvPr id="13" name="swatch-572"/>
          <p:cNvSpPr/>
          <p:nvPr/>
        </p:nvSpPr>
        <p:spPr>
          <a:xfrm>
            <a:off x="3749040" y="2514600"/>
            <a:ext cx="201168" cy="201168"/>
          </a:xfrm>
          <a:prstGeom prst="ellipse">
            <a:avLst/>
          </a:prstGeom>
          <a:solidFill>
            <a:srgbClr val="1273B5"/>
          </a:solidFill>
          <a:ln/>
        </p:spPr>
      </p:sp>
      <p:sp>
        <p:nvSpPr>
          <p:cNvPr id="14" name="text-573"/>
          <p:cNvSpPr txBox="1"/>
          <p:nvPr/>
        </p:nvSpPr>
        <p:spPr>
          <a:xfrm>
            <a:off x="4069080" y="239572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Manufacturing partnership &amp; tooling</a:t>
            </a:r>
            <a:endParaRPr lang="en-US" sz="1250" dirty="0"/>
          </a:p>
        </p:txBody>
      </p:sp>
      <p:sp>
        <p:nvSpPr>
          <p:cNvPr id="15" name="text-574"/>
          <p:cNvSpPr txBox="1"/>
          <p:nvPr/>
        </p:nvSpPr>
        <p:spPr>
          <a:xfrm>
            <a:off x="7680960" y="239572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$150,000</a:t>
            </a:r>
            <a:endParaRPr lang="en-US" sz="1300" dirty="0"/>
          </a:p>
        </p:txBody>
      </p:sp>
      <p:sp>
        <p:nvSpPr>
          <p:cNvPr id="16" name="text-575"/>
          <p:cNvSpPr txBox="1"/>
          <p:nvPr/>
        </p:nvSpPr>
        <p:spPr>
          <a:xfrm>
            <a:off x="854964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23%</a:t>
            </a:r>
            <a:endParaRPr lang="en-US" sz="1200" dirty="0"/>
          </a:p>
        </p:txBody>
      </p:sp>
      <p:sp>
        <p:nvSpPr>
          <p:cNvPr id="17" name="swatch-576"/>
          <p:cNvSpPr/>
          <p:nvPr/>
        </p:nvSpPr>
        <p:spPr>
          <a:xfrm>
            <a:off x="3749040" y="3026664"/>
            <a:ext cx="201168" cy="201168"/>
          </a:xfrm>
          <a:prstGeom prst="ellipse">
            <a:avLst/>
          </a:prstGeom>
          <a:solidFill>
            <a:srgbClr val="7FD0E8"/>
          </a:solidFill>
          <a:ln/>
        </p:spPr>
      </p:sp>
      <p:sp>
        <p:nvSpPr>
          <p:cNvPr id="18" name="text-577"/>
          <p:cNvSpPr txBox="1"/>
          <p:nvPr/>
        </p:nvSpPr>
        <p:spPr>
          <a:xfrm>
            <a:off x="4069080" y="290779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Pilot deployment (25–50 units, humid + arid)</a:t>
            </a:r>
            <a:endParaRPr lang="en-US" sz="1250" dirty="0"/>
          </a:p>
        </p:txBody>
      </p:sp>
      <p:sp>
        <p:nvSpPr>
          <p:cNvPr id="19" name="text-578"/>
          <p:cNvSpPr txBox="1"/>
          <p:nvPr/>
        </p:nvSpPr>
        <p:spPr>
          <a:xfrm>
            <a:off x="7680960" y="290779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$150,000</a:t>
            </a:r>
            <a:endParaRPr lang="en-US" sz="1300" dirty="0"/>
          </a:p>
        </p:txBody>
      </p:sp>
      <p:sp>
        <p:nvSpPr>
          <p:cNvPr id="20" name="text-579"/>
          <p:cNvSpPr txBox="1"/>
          <p:nvPr/>
        </p:nvSpPr>
        <p:spPr>
          <a:xfrm>
            <a:off x="8549640" y="2907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23%</a:t>
            </a:r>
            <a:endParaRPr lang="en-US" sz="1200" dirty="0"/>
          </a:p>
        </p:txBody>
      </p:sp>
      <p:sp>
        <p:nvSpPr>
          <p:cNvPr id="21" name="swatch-580"/>
          <p:cNvSpPr/>
          <p:nvPr/>
        </p:nvSpPr>
        <p:spPr>
          <a:xfrm>
            <a:off x="3749040" y="3538728"/>
            <a:ext cx="201168" cy="201168"/>
          </a:xfrm>
          <a:prstGeom prst="ellipse">
            <a:avLst/>
          </a:prstGeom>
          <a:solidFill>
            <a:srgbClr val="2E9E6A"/>
          </a:solidFill>
          <a:ln/>
        </p:spPr>
      </p:sp>
      <p:sp>
        <p:nvSpPr>
          <p:cNvPr id="22" name="text-581"/>
          <p:cNvSpPr txBox="1"/>
          <p:nvPr/>
        </p:nvSpPr>
        <p:spPr>
          <a:xfrm>
            <a:off x="4069080" y="341985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Working capital</a:t>
            </a:r>
            <a:endParaRPr lang="en-US" sz="1250" dirty="0"/>
          </a:p>
        </p:txBody>
      </p:sp>
      <p:sp>
        <p:nvSpPr>
          <p:cNvPr id="23" name="text-582"/>
          <p:cNvSpPr txBox="1"/>
          <p:nvPr/>
        </p:nvSpPr>
        <p:spPr>
          <a:xfrm>
            <a:off x="7680960" y="3419856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$80,000</a:t>
            </a:r>
            <a:endParaRPr lang="en-US" sz="1300" dirty="0"/>
          </a:p>
        </p:txBody>
      </p:sp>
      <p:sp>
        <p:nvSpPr>
          <p:cNvPr id="24" name="text-583"/>
          <p:cNvSpPr txBox="1"/>
          <p:nvPr/>
        </p:nvSpPr>
        <p:spPr>
          <a:xfrm>
            <a:off x="8549640" y="3419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12%</a:t>
            </a:r>
            <a:endParaRPr lang="en-US" sz="1200" dirty="0"/>
          </a:p>
        </p:txBody>
      </p:sp>
      <p:sp>
        <p:nvSpPr>
          <p:cNvPr id="25" name="swatch-584"/>
          <p:cNvSpPr/>
          <p:nvPr/>
        </p:nvSpPr>
        <p:spPr>
          <a:xfrm>
            <a:off x="3749040" y="4050792"/>
            <a:ext cx="201168" cy="201168"/>
          </a:xfrm>
          <a:prstGeom prst="ellipse">
            <a:avLst/>
          </a:prstGeom>
          <a:solidFill>
            <a:srgbClr val="F7C873"/>
          </a:solidFill>
          <a:ln/>
        </p:spPr>
      </p:sp>
      <p:sp>
        <p:nvSpPr>
          <p:cNvPr id="26" name="text-585"/>
          <p:cNvSpPr txBox="1"/>
          <p:nvPr/>
        </p:nvSpPr>
        <p:spPr>
          <a:xfrm>
            <a:off x="4069080" y="39319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Marketing, sales &amp; government tenders</a:t>
            </a:r>
            <a:endParaRPr lang="en-US" sz="1250" dirty="0"/>
          </a:p>
        </p:txBody>
      </p:sp>
      <p:sp>
        <p:nvSpPr>
          <p:cNvPr id="27" name="text-586"/>
          <p:cNvSpPr txBox="1"/>
          <p:nvPr/>
        </p:nvSpPr>
        <p:spPr>
          <a:xfrm>
            <a:off x="7680960" y="393192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$40,000</a:t>
            </a:r>
            <a:endParaRPr lang="en-US" sz="1300" dirty="0"/>
          </a:p>
        </p:txBody>
      </p:sp>
      <p:sp>
        <p:nvSpPr>
          <p:cNvPr id="28" name="text-587"/>
          <p:cNvSpPr txBox="1"/>
          <p:nvPr/>
        </p:nvSpPr>
        <p:spPr>
          <a:xfrm>
            <a:off x="854964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7%</a:t>
            </a:r>
            <a:endParaRPr lang="en-US" sz="1200" dirty="0"/>
          </a:p>
        </p:txBody>
      </p:sp>
      <p:sp>
        <p:nvSpPr>
          <p:cNvPr id="29" name="panel-588"/>
          <p:cNvSpPr/>
          <p:nvPr/>
        </p:nvSpPr>
        <p:spPr>
          <a:xfrm>
            <a:off x="9281160" y="1325880"/>
            <a:ext cx="2453335" cy="4251960"/>
          </a:xfrm>
          <a:prstGeom prst="roundRect">
            <a:avLst>
              <a:gd name="adj" fmla="val 5218"/>
            </a:avLst>
          </a:prstGeom>
          <a:solidFill>
            <a:schemeClr val="bg1">
              <a:alpha val="10000"/>
            </a:schemeClr>
          </a:solidFill>
          <a:ln w="12700">
            <a:solidFill>
              <a:srgbClr val="3FB6D9"/>
            </a:solidFill>
            <a:prstDash val="solid"/>
          </a:ln>
        </p:spPr>
      </p:sp>
      <p:sp>
        <p:nvSpPr>
          <p:cNvPr id="30" name="text-589"/>
          <p:cNvSpPr txBox="1"/>
          <p:nvPr/>
        </p:nvSpPr>
        <p:spPr>
          <a:xfrm>
            <a:off x="9464040" y="1463040"/>
            <a:ext cx="20875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This round buys</a:t>
            </a:r>
            <a:endParaRPr lang="en-US" sz="1500" dirty="0"/>
          </a:p>
        </p:txBody>
      </p:sp>
      <p:sp>
        <p:nvSpPr>
          <p:cNvPr id="31" name="icon-bg-590"/>
          <p:cNvSpPr/>
          <p:nvPr/>
        </p:nvSpPr>
        <p:spPr>
          <a:xfrm>
            <a:off x="9464040" y="1929384"/>
            <a:ext cx="310896" cy="310896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2" name="icon-59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4873" y="2010217"/>
            <a:ext cx="149230" cy="149230"/>
          </a:xfrm>
          <a:prstGeom prst="rect">
            <a:avLst/>
          </a:prstGeom>
        </p:spPr>
      </p:pic>
      <p:sp>
        <p:nvSpPr>
          <p:cNvPr id="33" name="text-592"/>
          <p:cNvSpPr txBox="1"/>
          <p:nvPr/>
        </p:nvSpPr>
        <p:spPr>
          <a:xfrm>
            <a:off x="9875520" y="1874520"/>
            <a:ext cx="1721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Two validated 100 L/day MVPs</a:t>
            </a:r>
            <a:endParaRPr lang="en-US" sz="1250" dirty="0"/>
          </a:p>
        </p:txBody>
      </p:sp>
      <p:sp>
        <p:nvSpPr>
          <p:cNvPr id="34" name="icon-bg-593"/>
          <p:cNvSpPr/>
          <p:nvPr/>
        </p:nvSpPr>
        <p:spPr>
          <a:xfrm>
            <a:off x="9464040" y="2532888"/>
            <a:ext cx="310896" cy="310896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5" name="icon-59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4873" y="2613721"/>
            <a:ext cx="149230" cy="149230"/>
          </a:xfrm>
          <a:prstGeom prst="rect">
            <a:avLst/>
          </a:prstGeom>
        </p:spPr>
      </p:pic>
      <p:sp>
        <p:nvSpPr>
          <p:cNvPr id="36" name="text-595"/>
          <p:cNvSpPr txBox="1"/>
          <p:nvPr/>
        </p:nvSpPr>
        <p:spPr>
          <a:xfrm>
            <a:off x="9875520" y="2478024"/>
            <a:ext cx="1721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Field data: humid + arid</a:t>
            </a:r>
            <a:endParaRPr lang="en-US" sz="1250" dirty="0"/>
          </a:p>
        </p:txBody>
      </p:sp>
      <p:sp>
        <p:nvSpPr>
          <p:cNvPr id="37" name="icon-bg-596"/>
          <p:cNvSpPr/>
          <p:nvPr/>
        </p:nvSpPr>
        <p:spPr>
          <a:xfrm>
            <a:off x="9464040" y="3136392"/>
            <a:ext cx="310896" cy="310896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8" name="icon-59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4873" y="3217225"/>
            <a:ext cx="149230" cy="149230"/>
          </a:xfrm>
          <a:prstGeom prst="rect">
            <a:avLst/>
          </a:prstGeom>
        </p:spPr>
      </p:pic>
      <p:sp>
        <p:nvSpPr>
          <p:cNvPr id="39" name="text-598"/>
          <p:cNvSpPr txBox="1"/>
          <p:nvPr/>
        </p:nvSpPr>
        <p:spPr>
          <a:xfrm>
            <a:off x="9875520" y="3081528"/>
            <a:ext cx="1721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ASSE 1090 + BIS certification</a:t>
            </a:r>
            <a:endParaRPr lang="en-US" sz="1250" dirty="0"/>
          </a:p>
        </p:txBody>
      </p:sp>
      <p:sp>
        <p:nvSpPr>
          <p:cNvPr id="40" name="icon-bg-599"/>
          <p:cNvSpPr/>
          <p:nvPr/>
        </p:nvSpPr>
        <p:spPr>
          <a:xfrm>
            <a:off x="9464040" y="3739896"/>
            <a:ext cx="310896" cy="310896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41" name="icon-600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4873" y="3820729"/>
            <a:ext cx="149230" cy="149230"/>
          </a:xfrm>
          <a:prstGeom prst="rect">
            <a:avLst/>
          </a:prstGeom>
        </p:spPr>
      </p:pic>
      <p:sp>
        <p:nvSpPr>
          <p:cNvPr id="42" name="text-601"/>
          <p:cNvSpPr txBox="1"/>
          <p:nvPr/>
        </p:nvSpPr>
        <p:spPr>
          <a:xfrm>
            <a:off x="9875520" y="3685032"/>
            <a:ext cx="1721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25–50 deployed units</a:t>
            </a:r>
            <a:endParaRPr lang="en-US" sz="1250" dirty="0"/>
          </a:p>
        </p:txBody>
      </p:sp>
      <p:sp>
        <p:nvSpPr>
          <p:cNvPr id="43" name="icon-bg-602"/>
          <p:cNvSpPr/>
          <p:nvPr/>
        </p:nvSpPr>
        <p:spPr>
          <a:xfrm>
            <a:off x="9464040" y="4343400"/>
            <a:ext cx="310896" cy="310896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44" name="icon-60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44873" y="4424233"/>
            <a:ext cx="149230" cy="149230"/>
          </a:xfrm>
          <a:prstGeom prst="rect">
            <a:avLst/>
          </a:prstGeom>
        </p:spPr>
      </p:pic>
      <p:sp>
        <p:nvSpPr>
          <p:cNvPr id="45" name="text-604"/>
          <p:cNvSpPr txBox="1"/>
          <p:nvPr/>
        </p:nvSpPr>
        <p:spPr>
          <a:xfrm>
            <a:off x="9875520" y="4288536"/>
            <a:ext cx="1721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Break-even unit economics proven</a:t>
            </a:r>
            <a:endParaRPr lang="en-US" sz="1250" dirty="0"/>
          </a:p>
        </p:txBody>
      </p:sp>
      <p:sp>
        <p:nvSpPr>
          <p:cNvPr id="46" name="icon-bg-605"/>
          <p:cNvSpPr/>
          <p:nvPr/>
        </p:nvSpPr>
        <p:spPr>
          <a:xfrm>
            <a:off x="9464040" y="4946904"/>
            <a:ext cx="310896" cy="310896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47" name="icon-60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44873" y="5027737"/>
            <a:ext cx="149230" cy="149230"/>
          </a:xfrm>
          <a:prstGeom prst="rect">
            <a:avLst/>
          </a:prstGeom>
        </p:spPr>
      </p:pic>
      <p:sp>
        <p:nvSpPr>
          <p:cNvPr id="48" name="text-607"/>
          <p:cNvSpPr txBox="1"/>
          <p:nvPr/>
        </p:nvSpPr>
        <p:spPr>
          <a:xfrm>
            <a:off x="9875520" y="4892040"/>
            <a:ext cx="1721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Series A readiness</a:t>
            </a:r>
            <a:endParaRPr lang="en-US" sz="1250" dirty="0"/>
          </a:p>
        </p:txBody>
      </p:sp>
      <p:sp>
        <p:nvSpPr>
          <p:cNvPr id="49" name="text-608"/>
          <p:cNvSpPr txBox="1"/>
          <p:nvPr/>
        </p:nvSpPr>
        <p:spPr>
          <a:xfrm>
            <a:off x="457200" y="457200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2"/>
                </a:solidFill>
              </a:rPr>
              <a:t>Milestones: validated MVPs (M12) → break-even (M18–20) → Series A (M18–30)</a:t>
            </a:r>
            <a:endParaRPr lang="en-US" sz="1300" dirty="0"/>
          </a:p>
        </p:txBody>
      </p:sp>
      <p:sp>
        <p:nvSpPr>
          <p:cNvPr id="50" name="keymsg-bg-609"/>
          <p:cNvSpPr/>
          <p:nvPr/>
        </p:nvSpPr>
        <p:spPr>
          <a:xfrm>
            <a:off x="457200" y="5760720"/>
            <a:ext cx="11277295" cy="566928"/>
          </a:xfrm>
          <a:prstGeom prst="roundRect">
            <a:avLst>
              <a:gd name="adj" fmla="val 16129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51" name="icon-bg-610"/>
          <p:cNvSpPr/>
          <p:nvPr/>
        </p:nvSpPr>
        <p:spPr>
          <a:xfrm>
            <a:off x="585216" y="586130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2" name="icon-611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314" y="5956402"/>
            <a:ext cx="175565" cy="175565"/>
          </a:xfrm>
          <a:prstGeom prst="rect">
            <a:avLst/>
          </a:prstGeom>
        </p:spPr>
      </p:pic>
      <p:sp>
        <p:nvSpPr>
          <p:cNvPr id="53" name="text-612"/>
          <p:cNvSpPr txBox="1"/>
          <p:nvPr/>
        </p:nvSpPr>
        <p:spPr>
          <a:xfrm>
            <a:off x="1097280" y="57607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bg1"/>
                </a:solidFill>
              </a:rPr>
              <a:t>This round funds the technology proof and the first commercial deployments. Series A scales it.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Operators who can build, validate and scale</a:t>
            </a:r>
            <a:endParaRPr lang="en-US" sz="3000" dirty="0"/>
          </a:p>
        </p:txBody>
      </p:sp>
      <p:sp>
        <p:nvSpPr>
          <p:cNvPr id="3" name="card-613"/>
          <p:cNvSpPr/>
          <p:nvPr/>
        </p:nvSpPr>
        <p:spPr>
          <a:xfrm>
            <a:off x="457200" y="1371600"/>
            <a:ext cx="2682164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9525">
            <a:solidFill>
              <a:srgbClr val="D5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A2E4D">
                <a:alpha val="12000"/>
              </a:srgbClr>
            </a:outerShdw>
          </a:effectLst>
        </p:spPr>
      </p:sp>
      <p:sp>
        <p:nvSpPr>
          <p:cNvPr id="4" name="icon-bg-614"/>
          <p:cNvSpPr/>
          <p:nvPr/>
        </p:nvSpPr>
        <p:spPr>
          <a:xfrm>
            <a:off x="1341082" y="1536192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-61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8826" y="1773936"/>
            <a:ext cx="438912" cy="438912"/>
          </a:xfrm>
          <a:prstGeom prst="rect">
            <a:avLst/>
          </a:prstGeom>
        </p:spPr>
      </p:pic>
      <p:sp>
        <p:nvSpPr>
          <p:cNvPr id="6" name="text-616"/>
          <p:cNvSpPr txBox="1"/>
          <p:nvPr/>
        </p:nvSpPr>
        <p:spPr>
          <a:xfrm>
            <a:off x="594360" y="2560320"/>
            <a:ext cx="24078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CEO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[Name]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Water, energy or operations background</a:t>
            </a:r>
            <a:endParaRPr lang="en-US" sz="1250" dirty="0"/>
          </a:p>
        </p:txBody>
      </p:sp>
      <p:sp>
        <p:nvSpPr>
          <p:cNvPr id="7" name="card-617"/>
          <p:cNvSpPr/>
          <p:nvPr/>
        </p:nvSpPr>
        <p:spPr>
          <a:xfrm>
            <a:off x="3322244" y="1371600"/>
            <a:ext cx="2682164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9525">
            <a:solidFill>
              <a:srgbClr val="D5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A2E4D">
                <a:alpha val="12000"/>
              </a:srgbClr>
            </a:outerShdw>
          </a:effectLst>
        </p:spPr>
      </p:sp>
      <p:sp>
        <p:nvSpPr>
          <p:cNvPr id="8" name="icon-bg-618"/>
          <p:cNvSpPr/>
          <p:nvPr/>
        </p:nvSpPr>
        <p:spPr>
          <a:xfrm>
            <a:off x="4206126" y="1536192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con-61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3870" y="1773936"/>
            <a:ext cx="438912" cy="438912"/>
          </a:xfrm>
          <a:prstGeom prst="rect">
            <a:avLst/>
          </a:prstGeom>
        </p:spPr>
      </p:pic>
      <p:sp>
        <p:nvSpPr>
          <p:cNvPr id="10" name="text-620"/>
          <p:cNvSpPr txBox="1"/>
          <p:nvPr/>
        </p:nvSpPr>
        <p:spPr>
          <a:xfrm>
            <a:off x="3459404" y="2560320"/>
            <a:ext cx="24078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CTO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[Name]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Thermodynamics, HVAC/refrigeration or materials science</a:t>
            </a:r>
            <a:endParaRPr lang="en-US" sz="1250" dirty="0"/>
          </a:p>
        </p:txBody>
      </p:sp>
      <p:sp>
        <p:nvSpPr>
          <p:cNvPr id="11" name="card-621"/>
          <p:cNvSpPr/>
          <p:nvPr/>
        </p:nvSpPr>
        <p:spPr>
          <a:xfrm>
            <a:off x="6187288" y="1371600"/>
            <a:ext cx="2682164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9525">
            <a:solidFill>
              <a:srgbClr val="D5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A2E4D">
                <a:alpha val="12000"/>
              </a:srgbClr>
            </a:outerShdw>
          </a:effectLst>
        </p:spPr>
      </p:sp>
      <p:sp>
        <p:nvSpPr>
          <p:cNvPr id="12" name="icon-bg-622"/>
          <p:cNvSpPr/>
          <p:nvPr/>
        </p:nvSpPr>
        <p:spPr>
          <a:xfrm>
            <a:off x="7071170" y="1536192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-62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8914" y="1773936"/>
            <a:ext cx="438912" cy="438912"/>
          </a:xfrm>
          <a:prstGeom prst="rect">
            <a:avLst/>
          </a:prstGeom>
        </p:spPr>
      </p:pic>
      <p:sp>
        <p:nvSpPr>
          <p:cNvPr id="14" name="text-624"/>
          <p:cNvSpPr txBox="1"/>
          <p:nvPr/>
        </p:nvSpPr>
        <p:spPr>
          <a:xfrm>
            <a:off x="6324448" y="2560320"/>
            <a:ext cx="24078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COO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[Name]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Supply chain, franchise operations or government sales</a:t>
            </a:r>
            <a:endParaRPr lang="en-US" sz="1250" dirty="0"/>
          </a:p>
        </p:txBody>
      </p:sp>
      <p:sp>
        <p:nvSpPr>
          <p:cNvPr id="15" name="card-625"/>
          <p:cNvSpPr/>
          <p:nvPr/>
        </p:nvSpPr>
        <p:spPr>
          <a:xfrm>
            <a:off x="9052331" y="1371600"/>
            <a:ext cx="2682164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9525">
            <a:solidFill>
              <a:srgbClr val="D5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A2E4D">
                <a:alpha val="12000"/>
              </a:srgbClr>
            </a:outerShdw>
          </a:effectLst>
        </p:spPr>
      </p:sp>
      <p:sp>
        <p:nvSpPr>
          <p:cNvPr id="16" name="icon-bg-626"/>
          <p:cNvSpPr/>
          <p:nvPr/>
        </p:nvSpPr>
        <p:spPr>
          <a:xfrm>
            <a:off x="9936213" y="1536192"/>
            <a:ext cx="914400" cy="9144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icon-62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3957" y="1773936"/>
            <a:ext cx="438912" cy="438912"/>
          </a:xfrm>
          <a:prstGeom prst="rect">
            <a:avLst/>
          </a:prstGeom>
        </p:spPr>
      </p:pic>
      <p:sp>
        <p:nvSpPr>
          <p:cNvPr id="18" name="text-628"/>
          <p:cNvSpPr txBox="1"/>
          <p:nvPr/>
        </p:nvSpPr>
        <p:spPr>
          <a:xfrm>
            <a:off x="9189491" y="2560320"/>
            <a:ext cx="24078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Head of Materials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Key hire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Sorbent chemistry and composite formulation</a:t>
            </a:r>
            <a:endParaRPr lang="en-US" sz="1250" dirty="0"/>
          </a:p>
        </p:txBody>
      </p:sp>
      <p:sp>
        <p:nvSpPr>
          <p:cNvPr id="19" name="card-629"/>
          <p:cNvSpPr/>
          <p:nvPr/>
        </p:nvSpPr>
        <p:spPr>
          <a:xfrm>
            <a:off x="457200" y="3931920"/>
            <a:ext cx="5547208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20" name="text-630"/>
          <p:cNvSpPr txBox="1"/>
          <p:nvPr/>
        </p:nvSpPr>
        <p:spPr>
          <a:xfrm>
            <a:off x="685800" y="4023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Advisors</a:t>
            </a:r>
            <a:endParaRPr lang="en-US" sz="1500" dirty="0"/>
          </a:p>
        </p:txBody>
      </p:sp>
      <p:sp>
        <p:nvSpPr>
          <p:cNvPr id="21" name="text-631"/>
          <p:cNvSpPr txBox="1"/>
          <p:nvPr/>
        </p:nvSpPr>
        <p:spPr>
          <a:xfrm>
            <a:off x="685800" y="4389120"/>
            <a:ext cx="51814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Water policy expert (India regulation &amp; tenders)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Solar thermal engineer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Certification consultant (ASSE 1090 / BIS)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Waste-heat integration specialist (industrial &amp; data centre)</a:t>
            </a:r>
            <a:endParaRPr lang="en-US" sz="1250" dirty="0"/>
          </a:p>
        </p:txBody>
      </p:sp>
      <p:sp>
        <p:nvSpPr>
          <p:cNvPr id="22" name="card-632"/>
          <p:cNvSpPr/>
          <p:nvPr/>
        </p:nvSpPr>
        <p:spPr>
          <a:xfrm>
            <a:off x="6187288" y="3931920"/>
            <a:ext cx="5547208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23" name="text-633"/>
          <p:cNvSpPr txBox="1"/>
          <p:nvPr/>
        </p:nvSpPr>
        <p:spPr>
          <a:xfrm>
            <a:off x="6415888" y="4023360"/>
            <a:ext cx="518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Hiring plan (funded by this round)</a:t>
            </a:r>
            <a:endParaRPr lang="en-US" sz="1500" dirty="0"/>
          </a:p>
        </p:txBody>
      </p:sp>
      <p:sp>
        <p:nvSpPr>
          <p:cNvPr id="24" name="text-634"/>
          <p:cNvSpPr txBox="1"/>
          <p:nvPr/>
        </p:nvSpPr>
        <p:spPr>
          <a:xfrm>
            <a:off x="6415888" y="4389120"/>
            <a:ext cx="51814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2 engineers (AWG systems, IoT)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1 materials scientist (sorbent formulation)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1 government sales lead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1 franchise manager</a:t>
            </a:r>
            <a:endParaRPr lang="en-US" sz="1250" dirty="0"/>
          </a:p>
        </p:txBody>
      </p:sp>
      <p:sp>
        <p:nvSpPr>
          <p:cNvPr id="25" name="keymsg-bg-635"/>
          <p:cNvSpPr/>
          <p:nvPr/>
        </p:nvSpPr>
        <p:spPr>
          <a:xfrm>
            <a:off x="457200" y="5760720"/>
            <a:ext cx="11277295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/>
        </p:spPr>
      </p:sp>
      <p:sp>
        <p:nvSpPr>
          <p:cNvPr id="26" name="icon-bg-636"/>
          <p:cNvSpPr/>
          <p:nvPr/>
        </p:nvSpPr>
        <p:spPr>
          <a:xfrm>
            <a:off x="585216" y="586130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7" name="icon-637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314" y="5956402"/>
            <a:ext cx="175565" cy="175565"/>
          </a:xfrm>
          <a:prstGeom prst="rect">
            <a:avLst/>
          </a:prstGeom>
        </p:spPr>
      </p:pic>
      <p:sp>
        <p:nvSpPr>
          <p:cNvPr id="28" name="text-638"/>
          <p:cNvSpPr txBox="1"/>
          <p:nvPr/>
        </p:nvSpPr>
        <p:spPr>
          <a:xfrm>
            <a:off x="1097280" y="57607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We have the thermodynamic depth, the materials expertise and the government sales experience to execute.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two prototypes to 2,000 units in 48 months</a:t>
            </a:r>
            <a:endParaRPr lang="en-US" sz="3000" dirty="0"/>
          </a:p>
        </p:txBody>
      </p:sp>
      <p:graphicFrame>
        <p:nvGraphicFramePr>
          <p:cNvPr id="3" name="chart-lcow-roadmap" descr=""/>
          <p:cNvGraphicFramePr/>
          <p:nvPr/>
        </p:nvGraphicFramePr>
        <p:xfrm>
          <a:off x="457200" y="1234440"/>
          <a:ext cx="493776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6" name="table-6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280160"/>
          <a:ext cx="6156655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685800"/>
                <a:gridCol w="3044952"/>
                <a:gridCol w="1008583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Incorporate; secure pilot sites; file ASSE 1090; source sorbents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MVP &amp; Pilot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prototypes; lab + field validation; certifications; validate $0.04/L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73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Reduction 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 thermal collector; waste-heat recovery loop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73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Scale-Up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12–18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units; 3 franchise partners; break-even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73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Reduction II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PANSAP; modular hydrocell; photothermal MXene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73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Expansion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18–30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UAE, Philippines; sorbent licensing; Series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73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Reduction III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24–36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Thermal storage for overnight desorption; passive hybrid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73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$0.005–0.01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30–48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2,000+ units deployed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73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</a:tr>
            </a:tbl>
          </a:graphicData>
        </a:graphic>
      </p:graphicFrame>
      <p:sp>
        <p:nvSpPr>
          <p:cNvPr id="5" name="keymsg-bg-640"/>
          <p:cNvSpPr/>
          <p:nvPr/>
        </p:nvSpPr>
        <p:spPr>
          <a:xfrm>
            <a:off x="457200" y="5760720"/>
            <a:ext cx="11277295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/>
        </p:spPr>
      </p:sp>
      <p:sp>
        <p:nvSpPr>
          <p:cNvPr id="6" name="icon-bg-641"/>
          <p:cNvSpPr/>
          <p:nvPr/>
        </p:nvSpPr>
        <p:spPr>
          <a:xfrm>
            <a:off x="585216" y="586130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7" name="icon-64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4" y="5956402"/>
            <a:ext cx="175565" cy="175565"/>
          </a:xfrm>
          <a:prstGeom prst="rect">
            <a:avLst/>
          </a:prstGeom>
        </p:spPr>
      </p:pic>
      <p:sp>
        <p:nvSpPr>
          <p:cNvPr id="8" name="text-643"/>
          <p:cNvSpPr txBox="1"/>
          <p:nvPr/>
        </p:nvSpPr>
        <p:spPr>
          <a:xfrm>
            <a:off x="1097280" y="57607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Every phase has a cost target, not just a volume target. Cost reduction and scale happen in parallel.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have a plan for every major risk</a:t>
            </a:r>
            <a:endParaRPr lang="en-US" sz="3000" dirty="0"/>
          </a:p>
        </p:txBody>
      </p:sp>
      <p:graphicFrame>
        <p:nvGraphicFramePr>
          <p:cNvPr id="27" name="table-6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729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005840"/>
                <a:gridCol w="7162495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4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humidity in arid markets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53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Sorption MVP validated at 30% RH in lab; sorption is the primary tech, not a fallback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quality from new sorbents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53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PANSAP condensate validated vs potable standards. 5-stage filtration + remineralisation. Weekly testing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Sorbent degradation over cycles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8A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Jute/CaCl₂ is chemically stable; PANSAP shows cycling stability. Test 1,000+ cycles in lab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 thermal variability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8A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PCM / sand-bed thermal storage for night and cloudy days. Hybrid with waste heat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Waste-heat availability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8A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Prioritise sites with HVAC or industrial waste heat. Baseline economics do not depend on 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 supply chain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8A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Multi-source. Prioritise Indian HVAC makers (Godrej, Kirloskar)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 ban on AWG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8A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 as “Monsoon Resilience Units”. Engage policy makers early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Competition from incumbents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8A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Defend on sorbent IP and hybrid architecture patents. Move fast on certification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 obsolescence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Roadmap already targets the theoretical minimum. Hydrogel is upside, not a dependency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keymsg-bg-645"/>
          <p:cNvSpPr/>
          <p:nvPr/>
        </p:nvSpPr>
        <p:spPr>
          <a:xfrm>
            <a:off x="457200" y="5760720"/>
            <a:ext cx="11277295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/>
        </p:spPr>
      </p:sp>
      <p:sp>
        <p:nvSpPr>
          <p:cNvPr id="5" name="icon-bg-646"/>
          <p:cNvSpPr/>
          <p:nvPr/>
        </p:nvSpPr>
        <p:spPr>
          <a:xfrm>
            <a:off x="585216" y="586130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icon-64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4" y="5956402"/>
            <a:ext cx="175565" cy="175565"/>
          </a:xfrm>
          <a:prstGeom prst="rect">
            <a:avLst/>
          </a:prstGeom>
        </p:spPr>
      </p:pic>
      <p:sp>
        <p:nvSpPr>
          <p:cNvPr id="7" name="text-648"/>
          <p:cNvSpPr txBox="1"/>
          <p:nvPr/>
        </p:nvSpPr>
        <p:spPr>
          <a:xfrm>
            <a:off x="1097280" y="57607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We are not betting on one technology, one climate or one revenue stream.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access, less plastic, carbon credits and heat reuse</a:t>
            </a:r>
            <a:endParaRPr lang="en-US" sz="3000" dirty="0"/>
          </a:p>
        </p:txBody>
      </p:sp>
      <p:sp>
        <p:nvSpPr>
          <p:cNvPr id="3" name="card-649"/>
          <p:cNvSpPr/>
          <p:nvPr/>
        </p:nvSpPr>
        <p:spPr>
          <a:xfrm>
            <a:off x="457200" y="1371600"/>
            <a:ext cx="237744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rgbClr val="D5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A2E4D">
                <a:alpha val="12000"/>
              </a:srgbClr>
            </a:outerShdw>
          </a:effectLst>
        </p:spPr>
      </p:sp>
      <p:sp>
        <p:nvSpPr>
          <p:cNvPr id="4" name="icon-bg-650"/>
          <p:cNvSpPr/>
          <p:nvPr/>
        </p:nvSpPr>
        <p:spPr>
          <a:xfrm>
            <a:off x="1280160" y="150876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icon-65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0355" y="1698955"/>
            <a:ext cx="351130" cy="351130"/>
          </a:xfrm>
          <a:prstGeom prst="rect">
            <a:avLst/>
          </a:prstGeom>
        </p:spPr>
      </p:pic>
      <p:sp>
        <p:nvSpPr>
          <p:cNvPr id="6" name="text-652"/>
          <p:cNvSpPr txBox="1"/>
          <p:nvPr/>
        </p:nvSpPr>
        <p:spPr>
          <a:xfrm>
            <a:off x="457200" y="2331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unit</a:t>
            </a:r>
            <a:endParaRPr lang="en-US" sz="2600" dirty="0"/>
          </a:p>
        </p:txBody>
      </p:sp>
      <p:sp>
        <p:nvSpPr>
          <p:cNvPr id="7" name="text-653"/>
          <p:cNvSpPr txBox="1"/>
          <p:nvPr/>
        </p:nvSpPr>
        <p:spPr>
          <a:xfrm>
            <a:off x="457200" y="2880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100 L/day</a:t>
            </a:r>
            <a:endParaRPr lang="en-US" sz="1300" dirty="0"/>
          </a:p>
        </p:txBody>
      </p:sp>
      <p:sp>
        <p:nvSpPr>
          <p:cNvPr id="8" name="arrow-654"/>
          <p:cNvSpPr/>
          <p:nvPr/>
        </p:nvSpPr>
        <p:spPr>
          <a:xfrm>
            <a:off x="2907792" y="2423160"/>
            <a:ext cx="442874" cy="0"/>
          </a:xfrm>
          <a:prstGeom prst="line">
            <a:avLst/>
          </a:prstGeom>
          <a:noFill/>
          <a:ln w="3175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9" name="card-655"/>
          <p:cNvSpPr/>
          <p:nvPr/>
        </p:nvSpPr>
        <p:spPr>
          <a:xfrm>
            <a:off x="3423818" y="1371600"/>
            <a:ext cx="237744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rgbClr val="D5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A2E4D">
                <a:alpha val="12000"/>
              </a:srgbClr>
            </a:outerShdw>
          </a:effectLst>
        </p:spPr>
      </p:sp>
      <p:sp>
        <p:nvSpPr>
          <p:cNvPr id="10" name="icon-bg-656"/>
          <p:cNvSpPr/>
          <p:nvPr/>
        </p:nvSpPr>
        <p:spPr>
          <a:xfrm>
            <a:off x="4246778" y="15087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-65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6974" y="1698955"/>
            <a:ext cx="351130" cy="351130"/>
          </a:xfrm>
          <a:prstGeom prst="rect">
            <a:avLst/>
          </a:prstGeom>
        </p:spPr>
      </p:pic>
      <p:sp>
        <p:nvSpPr>
          <p:cNvPr id="12" name="text-658"/>
          <p:cNvSpPr txBox="1"/>
          <p:nvPr/>
        </p:nvSpPr>
        <p:spPr>
          <a:xfrm>
            <a:off x="3423818" y="2331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30,000 L</a:t>
            </a:r>
            <a:endParaRPr lang="en-US" sz="2600" dirty="0"/>
          </a:p>
        </p:txBody>
      </p:sp>
      <p:sp>
        <p:nvSpPr>
          <p:cNvPr id="13" name="text-659"/>
          <p:cNvSpPr txBox="1"/>
          <p:nvPr/>
        </p:nvSpPr>
        <p:spPr>
          <a:xfrm>
            <a:off x="3423818" y="2880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per year</a:t>
            </a:r>
            <a:endParaRPr lang="en-US" sz="1300" dirty="0"/>
          </a:p>
        </p:txBody>
      </p:sp>
      <p:sp>
        <p:nvSpPr>
          <p:cNvPr id="14" name="arrow-660"/>
          <p:cNvSpPr/>
          <p:nvPr/>
        </p:nvSpPr>
        <p:spPr>
          <a:xfrm>
            <a:off x="5874410" y="2423160"/>
            <a:ext cx="442874" cy="0"/>
          </a:xfrm>
          <a:prstGeom prst="line">
            <a:avLst/>
          </a:prstGeom>
          <a:noFill/>
          <a:ln w="3175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15" name="card-661"/>
          <p:cNvSpPr/>
          <p:nvPr/>
        </p:nvSpPr>
        <p:spPr>
          <a:xfrm>
            <a:off x="6390437" y="1371600"/>
            <a:ext cx="237744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rgbClr val="D5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A2E4D">
                <a:alpha val="12000"/>
              </a:srgbClr>
            </a:outerShdw>
          </a:effectLst>
        </p:spPr>
      </p:sp>
      <p:sp>
        <p:nvSpPr>
          <p:cNvPr id="16" name="icon-bg-662"/>
          <p:cNvSpPr/>
          <p:nvPr/>
        </p:nvSpPr>
        <p:spPr>
          <a:xfrm>
            <a:off x="7213397" y="150876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7" name="icon-66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3592" y="1698955"/>
            <a:ext cx="351130" cy="351130"/>
          </a:xfrm>
          <a:prstGeom prst="rect">
            <a:avLst/>
          </a:prstGeom>
        </p:spPr>
      </p:pic>
      <p:sp>
        <p:nvSpPr>
          <p:cNvPr id="18" name="text-664"/>
          <p:cNvSpPr txBox="1"/>
          <p:nvPr/>
        </p:nvSpPr>
        <p:spPr>
          <a:xfrm>
            <a:off x="6390437" y="2331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~60,000</a:t>
            </a:r>
            <a:endParaRPr lang="en-US" sz="2600" dirty="0"/>
          </a:p>
        </p:txBody>
      </p:sp>
      <p:sp>
        <p:nvSpPr>
          <p:cNvPr id="19" name="text-665"/>
          <p:cNvSpPr txBox="1"/>
          <p:nvPr/>
        </p:nvSpPr>
        <p:spPr>
          <a:xfrm>
            <a:off x="6390437" y="2880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500 ml bottles avoided</a:t>
            </a:r>
            <a:endParaRPr lang="en-US" sz="1300" dirty="0"/>
          </a:p>
        </p:txBody>
      </p:sp>
      <p:sp>
        <p:nvSpPr>
          <p:cNvPr id="20" name="arrow-666"/>
          <p:cNvSpPr/>
          <p:nvPr/>
        </p:nvSpPr>
        <p:spPr>
          <a:xfrm>
            <a:off x="8841029" y="2423160"/>
            <a:ext cx="442874" cy="0"/>
          </a:xfrm>
          <a:prstGeom prst="line">
            <a:avLst/>
          </a:prstGeom>
          <a:noFill/>
          <a:ln w="3175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21" name="card-667"/>
          <p:cNvSpPr/>
          <p:nvPr/>
        </p:nvSpPr>
        <p:spPr>
          <a:xfrm>
            <a:off x="9357055" y="1371600"/>
            <a:ext cx="237744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rgbClr val="D5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0A2E4D">
                <a:alpha val="12000"/>
              </a:srgbClr>
            </a:outerShdw>
          </a:effectLst>
        </p:spPr>
      </p:sp>
      <p:sp>
        <p:nvSpPr>
          <p:cNvPr id="22" name="icon-bg-668"/>
          <p:cNvSpPr/>
          <p:nvPr/>
        </p:nvSpPr>
        <p:spPr>
          <a:xfrm>
            <a:off x="10180015" y="150876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3" name="icon-669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0210" y="1698955"/>
            <a:ext cx="351130" cy="351130"/>
          </a:xfrm>
          <a:prstGeom prst="rect">
            <a:avLst/>
          </a:prstGeom>
        </p:spPr>
      </p:pic>
      <p:sp>
        <p:nvSpPr>
          <p:cNvPr id="24" name="text-670"/>
          <p:cNvSpPr txBox="1"/>
          <p:nvPr/>
        </p:nvSpPr>
        <p:spPr>
          <a:xfrm>
            <a:off x="9357055" y="2331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[X] t CO₂</a:t>
            </a:r>
            <a:endParaRPr lang="en-US" sz="2600" dirty="0"/>
          </a:p>
        </p:txBody>
      </p:sp>
      <p:sp>
        <p:nvSpPr>
          <p:cNvPr id="25" name="text-671"/>
          <p:cNvSpPr txBox="1"/>
          <p:nvPr/>
        </p:nvSpPr>
        <p:spPr>
          <a:xfrm>
            <a:off x="9357055" y="2880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avoided per year</a:t>
            </a:r>
            <a:endParaRPr lang="en-US" sz="1300" dirty="0"/>
          </a:p>
        </p:txBody>
      </p:sp>
      <p:sp>
        <p:nvSpPr>
          <p:cNvPr id="26" name="card-672"/>
          <p:cNvSpPr/>
          <p:nvPr/>
        </p:nvSpPr>
        <p:spPr>
          <a:xfrm>
            <a:off x="457200" y="3657600"/>
            <a:ext cx="2682164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27" name="icon-bg-673"/>
          <p:cNvSpPr/>
          <p:nvPr/>
        </p:nvSpPr>
        <p:spPr>
          <a:xfrm>
            <a:off x="640080" y="3794760"/>
            <a:ext cx="457200" cy="457200"/>
          </a:xfrm>
          <a:prstGeom prst="ellipse">
            <a:avLst/>
          </a:prstGeom>
          <a:solidFill>
            <a:srgbClr val="E8702A"/>
          </a:solidFill>
          <a:ln/>
        </p:spPr>
      </p:sp>
      <p:pic>
        <p:nvPicPr>
          <p:cNvPr id="28" name="icon-67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3913632"/>
            <a:ext cx="219456" cy="219456"/>
          </a:xfrm>
          <a:prstGeom prst="rect">
            <a:avLst/>
          </a:prstGeom>
        </p:spPr>
      </p:pic>
      <p:sp>
        <p:nvSpPr>
          <p:cNvPr id="29" name="text-675"/>
          <p:cNvSpPr txBox="1"/>
          <p:nvPr/>
        </p:nvSpPr>
        <p:spPr>
          <a:xfrm>
            <a:off x="1188720" y="3794760"/>
            <a:ext cx="1859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Energy</a:t>
            </a:r>
            <a:endParaRPr lang="en-US" sz="1500" dirty="0"/>
          </a:p>
        </p:txBody>
      </p:sp>
      <p:sp>
        <p:nvSpPr>
          <p:cNvPr id="30" name="text-676"/>
          <p:cNvSpPr txBox="1"/>
          <p:nvPr/>
        </p:nvSpPr>
        <p:spPr>
          <a:xfrm>
            <a:off x="640080" y="4343400"/>
            <a:ext cx="23621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We use heat that would be vented — a net efficiency gain for host sites.</a:t>
            </a:r>
            <a:endParaRPr lang="en-US" sz="1250" dirty="0"/>
          </a:p>
        </p:txBody>
      </p:sp>
      <p:sp>
        <p:nvSpPr>
          <p:cNvPr id="31" name="card-677"/>
          <p:cNvSpPr/>
          <p:nvPr/>
        </p:nvSpPr>
        <p:spPr>
          <a:xfrm>
            <a:off x="3322244" y="3657600"/>
            <a:ext cx="2682164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32" name="icon-bg-678"/>
          <p:cNvSpPr/>
          <p:nvPr/>
        </p:nvSpPr>
        <p:spPr>
          <a:xfrm>
            <a:off x="3505124" y="3794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3" name="icon-679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3996" y="3913632"/>
            <a:ext cx="219456" cy="219456"/>
          </a:xfrm>
          <a:prstGeom prst="rect">
            <a:avLst/>
          </a:prstGeom>
        </p:spPr>
      </p:pic>
      <p:sp>
        <p:nvSpPr>
          <p:cNvPr id="34" name="text-680"/>
          <p:cNvSpPr txBox="1"/>
          <p:nvPr/>
        </p:nvSpPr>
        <p:spPr>
          <a:xfrm>
            <a:off x="4053764" y="3794760"/>
            <a:ext cx="1859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Water access</a:t>
            </a:r>
            <a:endParaRPr lang="en-US" sz="1500" dirty="0"/>
          </a:p>
        </p:txBody>
      </p:sp>
      <p:sp>
        <p:nvSpPr>
          <p:cNvPr id="35" name="text-681"/>
          <p:cNvSpPr txBox="1"/>
          <p:nvPr/>
        </p:nvSpPr>
        <p:spPr>
          <a:xfrm>
            <a:off x="3505124" y="4343400"/>
            <a:ext cx="23621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Off-grid communities, hospitals, railway stations, remote level crossings.</a:t>
            </a:r>
            <a:endParaRPr lang="en-US" sz="1250" dirty="0"/>
          </a:p>
        </p:txBody>
      </p:sp>
      <p:sp>
        <p:nvSpPr>
          <p:cNvPr id="36" name="card-682"/>
          <p:cNvSpPr/>
          <p:nvPr/>
        </p:nvSpPr>
        <p:spPr>
          <a:xfrm>
            <a:off x="6187288" y="3657600"/>
            <a:ext cx="2682164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37" name="icon-bg-683"/>
          <p:cNvSpPr/>
          <p:nvPr/>
        </p:nvSpPr>
        <p:spPr>
          <a:xfrm>
            <a:off x="6370168" y="379476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8" name="icon-68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9040" y="3913632"/>
            <a:ext cx="219456" cy="219456"/>
          </a:xfrm>
          <a:prstGeom prst="rect">
            <a:avLst/>
          </a:prstGeom>
        </p:spPr>
      </p:pic>
      <p:sp>
        <p:nvSpPr>
          <p:cNvPr id="39" name="text-685"/>
          <p:cNvSpPr txBox="1"/>
          <p:nvPr/>
        </p:nvSpPr>
        <p:spPr>
          <a:xfrm>
            <a:off x="6918808" y="3794760"/>
            <a:ext cx="1859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Carbon credits</a:t>
            </a:r>
            <a:endParaRPr lang="en-US" sz="1500" dirty="0"/>
          </a:p>
        </p:txBody>
      </p:sp>
      <p:sp>
        <p:nvSpPr>
          <p:cNvPr id="40" name="text-686"/>
          <p:cNvSpPr txBox="1"/>
          <p:nvPr/>
        </p:nvSpPr>
        <p:spPr>
          <a:xfrm>
            <a:off x="6370168" y="4343400"/>
            <a:ext cx="23621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Solar-thermal-powered AWG generates verifiable credits.</a:t>
            </a:r>
            <a:endParaRPr lang="en-US" sz="1250" dirty="0"/>
          </a:p>
        </p:txBody>
      </p:sp>
      <p:sp>
        <p:nvSpPr>
          <p:cNvPr id="41" name="card-687"/>
          <p:cNvSpPr/>
          <p:nvPr/>
        </p:nvSpPr>
        <p:spPr>
          <a:xfrm>
            <a:off x="9052331" y="3657600"/>
            <a:ext cx="2682164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42" name="icon-bg-688"/>
          <p:cNvSpPr/>
          <p:nvPr/>
        </p:nvSpPr>
        <p:spPr>
          <a:xfrm>
            <a:off x="9235211" y="379476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43" name="icon-689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54083" y="3913632"/>
            <a:ext cx="219456" cy="219456"/>
          </a:xfrm>
          <a:prstGeom prst="rect">
            <a:avLst/>
          </a:prstGeom>
        </p:spPr>
      </p:pic>
      <p:sp>
        <p:nvSpPr>
          <p:cNvPr id="44" name="text-690"/>
          <p:cNvSpPr txBox="1"/>
          <p:nvPr/>
        </p:nvSpPr>
        <p:spPr>
          <a:xfrm>
            <a:off x="9783851" y="3794760"/>
            <a:ext cx="1859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UN SDGs</a:t>
            </a:r>
            <a:endParaRPr lang="en-US" sz="1500" dirty="0"/>
          </a:p>
        </p:txBody>
      </p:sp>
      <p:sp>
        <p:nvSpPr>
          <p:cNvPr id="45" name="text-691"/>
          <p:cNvSpPr txBox="1"/>
          <p:nvPr/>
        </p:nvSpPr>
        <p:spPr>
          <a:xfrm>
            <a:off x="9235211" y="4343400"/>
            <a:ext cx="23621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SDG 6 Clean Water · SDG 7 Clean Energy · SDG 13 Climate Action</a:t>
            </a:r>
            <a:endParaRPr lang="en-US" sz="1250" dirty="0"/>
          </a:p>
        </p:txBody>
      </p:sp>
      <p:sp>
        <p:nvSpPr>
          <p:cNvPr id="46" name="keymsg-bg-692"/>
          <p:cNvSpPr/>
          <p:nvPr/>
        </p:nvSpPr>
        <p:spPr>
          <a:xfrm>
            <a:off x="457200" y="5760720"/>
            <a:ext cx="11277295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/>
        </p:spPr>
      </p:sp>
      <p:sp>
        <p:nvSpPr>
          <p:cNvPr id="47" name="icon-bg-693"/>
          <p:cNvSpPr/>
          <p:nvPr/>
        </p:nvSpPr>
        <p:spPr>
          <a:xfrm>
            <a:off x="585216" y="586130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48" name="icon-69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0314" y="5956402"/>
            <a:ext cx="175565" cy="175565"/>
          </a:xfrm>
          <a:prstGeom prst="rect">
            <a:avLst/>
          </a:prstGeom>
        </p:spPr>
      </p:pic>
      <p:sp>
        <p:nvSpPr>
          <p:cNvPr id="49" name="text-695"/>
          <p:cNvSpPr txBox="1"/>
          <p:nvPr/>
        </p:nvSpPr>
        <p:spPr>
          <a:xfrm>
            <a:off x="1097280" y="57607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A profitable business with measurable social and environmental returns — that makes host facilities more efficient, not less.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696"/>
          <p:cNvSpPr txBox="1"/>
          <p:nvPr/>
        </p:nvSpPr>
        <p:spPr>
          <a:xfrm>
            <a:off x="640080" y="731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ACQUAHT</a:t>
            </a:r>
            <a:endParaRPr lang="en-US" sz="1600" dirty="0"/>
          </a:p>
        </p:txBody>
      </p:sp>
      <p:sp>
        <p:nvSpPr>
          <p:cNvPr id="3" name="text-697"/>
          <p:cNvSpPr txBox="1"/>
          <p:nvPr/>
        </p:nvSpPr>
        <p:spPr>
          <a:xfrm>
            <a:off x="640080" y="12801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turn waste heat and sunlight into drinking water.</a:t>
            </a:r>
            <a:endParaRPr lang="en-US" sz="4000" dirty="0"/>
          </a:p>
        </p:txBody>
      </p:sp>
      <p:sp>
        <p:nvSpPr>
          <p:cNvPr id="4" name="text-698"/>
          <p:cNvSpPr txBox="1"/>
          <p:nvPr/>
        </p:nvSpPr>
        <p:spPr>
          <a:xfrm>
            <a:off x="640080" y="31089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$0.005–0.01</a:t>
            </a:r>
            <a:endParaRPr lang="en-US" sz="3600" dirty="0"/>
          </a:p>
        </p:txBody>
      </p:sp>
      <p:sp>
        <p:nvSpPr>
          <p:cNvPr id="5" name="text-699"/>
          <p:cNvSpPr txBox="1"/>
          <p:nvPr/>
        </p:nvSpPr>
        <p:spPr>
          <a:xfrm>
            <a:off x="640080" y="3931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per litre at scale</a:t>
            </a:r>
            <a:endParaRPr lang="en-US" sz="1600" dirty="0"/>
          </a:p>
        </p:txBody>
      </p:sp>
      <p:sp>
        <p:nvSpPr>
          <p:cNvPr id="6" name="text-700"/>
          <p:cNvSpPr txBox="1"/>
          <p:nvPr/>
        </p:nvSpPr>
        <p:spPr>
          <a:xfrm>
            <a:off x="4297680" y="31089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1/20th</a:t>
            </a:r>
            <a:endParaRPr lang="en-US" sz="3600" dirty="0"/>
          </a:p>
        </p:txBody>
      </p:sp>
      <p:sp>
        <p:nvSpPr>
          <p:cNvPr id="7" name="text-701"/>
          <p:cNvSpPr txBox="1"/>
          <p:nvPr/>
        </p:nvSpPr>
        <p:spPr>
          <a:xfrm>
            <a:off x="4297680" y="3931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the cost of bottled water</a:t>
            </a:r>
            <a:endParaRPr lang="en-US" sz="1600" dirty="0"/>
          </a:p>
        </p:txBody>
      </p:sp>
      <p:sp>
        <p:nvSpPr>
          <p:cNvPr id="8" name="text-702"/>
          <p:cNvSpPr txBox="1"/>
          <p:nvPr/>
        </p:nvSpPr>
        <p:spPr>
          <a:xfrm>
            <a:off x="7955280" y="31089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$650K</a:t>
            </a:r>
            <a:endParaRPr lang="en-US" sz="3600" dirty="0"/>
          </a:p>
        </p:txBody>
      </p:sp>
      <p:sp>
        <p:nvSpPr>
          <p:cNvPr id="9" name="text-703"/>
          <p:cNvSpPr txBox="1"/>
          <p:nvPr/>
        </p:nvSpPr>
        <p:spPr>
          <a:xfrm>
            <a:off x="7955280" y="3931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seed round</a:t>
            </a:r>
            <a:endParaRPr lang="en-US" sz="1600" dirty="0"/>
          </a:p>
        </p:txBody>
      </p:sp>
      <p:sp>
        <p:nvSpPr>
          <p:cNvPr id="10" name="text-704"/>
          <p:cNvSpPr txBox="1"/>
          <p:nvPr/>
        </p:nvSpPr>
        <p:spPr>
          <a:xfrm>
            <a:off x="640080" y="57607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[Founder Name]  ·  [Email]  ·  [Phone]  ·  [Website]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3000" dirty="0"/>
          </a:p>
        </p:txBody>
      </p:sp>
      <p:sp>
        <p:nvSpPr>
          <p:cNvPr id="3" name="card-705"/>
          <p:cNvSpPr/>
          <p:nvPr/>
        </p:nvSpPr>
        <p:spPr>
          <a:xfrm>
            <a:off x="457200" y="1371600"/>
            <a:ext cx="5501488" cy="713232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D5E3EC"/>
            </a:solidFill>
            <a:prstDash val="solid"/>
          </a:ln>
        </p:spPr>
      </p:sp>
      <p:sp>
        <p:nvSpPr>
          <p:cNvPr id="4" name="icon-bg-706"/>
          <p:cNvSpPr/>
          <p:nvPr/>
        </p:nvSpPr>
        <p:spPr>
          <a:xfrm>
            <a:off x="594360" y="149961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-70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618488"/>
            <a:ext cx="219456" cy="219456"/>
          </a:xfrm>
          <a:prstGeom prst="rect">
            <a:avLst/>
          </a:prstGeom>
        </p:spPr>
      </p:pic>
      <p:sp>
        <p:nvSpPr>
          <p:cNvPr id="6" name="text-708"/>
          <p:cNvSpPr txBox="1"/>
          <p:nvPr/>
        </p:nvSpPr>
        <p:spPr>
          <a:xfrm>
            <a:off x="1188720" y="1371600"/>
            <a:ext cx="4632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Detailed BOM and cost per unit (condensation + sorption)</a:t>
            </a:r>
            <a:endParaRPr lang="en-US" sz="1400" dirty="0"/>
          </a:p>
        </p:txBody>
      </p:sp>
      <p:sp>
        <p:nvSpPr>
          <p:cNvPr id="7" name="card-709"/>
          <p:cNvSpPr/>
          <p:nvPr/>
        </p:nvSpPr>
        <p:spPr>
          <a:xfrm>
            <a:off x="6233008" y="1371600"/>
            <a:ext cx="5501488" cy="713232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D5E3EC"/>
            </a:solidFill>
            <a:prstDash val="solid"/>
          </a:ln>
        </p:spPr>
      </p:sp>
      <p:sp>
        <p:nvSpPr>
          <p:cNvPr id="8" name="icon-bg-710"/>
          <p:cNvSpPr/>
          <p:nvPr/>
        </p:nvSpPr>
        <p:spPr>
          <a:xfrm>
            <a:off x="6370168" y="149961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con-71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9040" y="1618488"/>
            <a:ext cx="219456" cy="219456"/>
          </a:xfrm>
          <a:prstGeom prst="rect">
            <a:avLst/>
          </a:prstGeom>
        </p:spPr>
      </p:pic>
      <p:sp>
        <p:nvSpPr>
          <p:cNvPr id="10" name="text-712"/>
          <p:cNvSpPr txBox="1"/>
          <p:nvPr/>
        </p:nvSpPr>
        <p:spPr>
          <a:xfrm>
            <a:off x="6964528" y="1371600"/>
            <a:ext cx="4632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LCOW methodology and full assumption set</a:t>
            </a:r>
            <a:endParaRPr lang="en-US" sz="1400" dirty="0"/>
          </a:p>
        </p:txBody>
      </p:sp>
      <p:sp>
        <p:nvSpPr>
          <p:cNvPr id="11" name="card-713"/>
          <p:cNvSpPr/>
          <p:nvPr/>
        </p:nvSpPr>
        <p:spPr>
          <a:xfrm>
            <a:off x="457200" y="2212848"/>
            <a:ext cx="5501488" cy="713232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D5E3EC"/>
            </a:solidFill>
            <a:prstDash val="solid"/>
          </a:ln>
        </p:spPr>
      </p:sp>
      <p:sp>
        <p:nvSpPr>
          <p:cNvPr id="12" name="icon-bg-714"/>
          <p:cNvSpPr/>
          <p:nvPr/>
        </p:nvSpPr>
        <p:spPr>
          <a:xfrm>
            <a:off x="594360" y="234086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-71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459736"/>
            <a:ext cx="219456" cy="219456"/>
          </a:xfrm>
          <a:prstGeom prst="rect">
            <a:avLst/>
          </a:prstGeom>
        </p:spPr>
      </p:pic>
      <p:sp>
        <p:nvSpPr>
          <p:cNvPr id="14" name="text-716"/>
          <p:cNvSpPr txBox="1"/>
          <p:nvPr/>
        </p:nvSpPr>
        <p:spPr>
          <a:xfrm>
            <a:off x="1188720" y="2212848"/>
            <a:ext cx="4632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Sorbent data: Jute/CaCl₂, PANSAP, starch-PEG/CaCl₂, succulent biomass, straw</a:t>
            </a:r>
            <a:endParaRPr lang="en-US" sz="1400" dirty="0"/>
          </a:p>
        </p:txBody>
      </p:sp>
      <p:sp>
        <p:nvSpPr>
          <p:cNvPr id="15" name="card-717"/>
          <p:cNvSpPr/>
          <p:nvPr/>
        </p:nvSpPr>
        <p:spPr>
          <a:xfrm>
            <a:off x="6233008" y="2212848"/>
            <a:ext cx="5501488" cy="713232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D5E3EC"/>
            </a:solidFill>
            <a:prstDash val="solid"/>
          </a:ln>
        </p:spPr>
      </p:sp>
      <p:sp>
        <p:nvSpPr>
          <p:cNvPr id="16" name="icon-bg-718"/>
          <p:cNvSpPr/>
          <p:nvPr/>
        </p:nvSpPr>
        <p:spPr>
          <a:xfrm>
            <a:off x="6370168" y="234086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-719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9040" y="2459736"/>
            <a:ext cx="219456" cy="219456"/>
          </a:xfrm>
          <a:prstGeom prst="rect">
            <a:avLst/>
          </a:prstGeom>
        </p:spPr>
      </p:pic>
      <p:sp>
        <p:nvSpPr>
          <p:cNvPr id="18" name="text-720"/>
          <p:cNvSpPr txBox="1"/>
          <p:nvPr/>
        </p:nvSpPr>
        <p:spPr>
          <a:xfrm>
            <a:off x="6964528" y="2212848"/>
            <a:ext cx="4632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Solar thermal and waste-heat integration schematics</a:t>
            </a:r>
            <a:endParaRPr lang="en-US" sz="1400" dirty="0"/>
          </a:p>
        </p:txBody>
      </p:sp>
      <p:sp>
        <p:nvSpPr>
          <p:cNvPr id="19" name="card-721"/>
          <p:cNvSpPr/>
          <p:nvPr/>
        </p:nvSpPr>
        <p:spPr>
          <a:xfrm>
            <a:off x="457200" y="3054096"/>
            <a:ext cx="5501488" cy="713232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D5E3EC"/>
            </a:solidFill>
            <a:prstDash val="solid"/>
          </a:ln>
        </p:spPr>
      </p:sp>
      <p:sp>
        <p:nvSpPr>
          <p:cNvPr id="20" name="icon-bg-722"/>
          <p:cNvSpPr/>
          <p:nvPr/>
        </p:nvSpPr>
        <p:spPr>
          <a:xfrm>
            <a:off x="594360" y="318211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con-72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3300984"/>
            <a:ext cx="219456" cy="219456"/>
          </a:xfrm>
          <a:prstGeom prst="rect">
            <a:avLst/>
          </a:prstGeom>
        </p:spPr>
      </p:pic>
      <p:sp>
        <p:nvSpPr>
          <p:cNvPr id="22" name="text-724"/>
          <p:cNvSpPr txBox="1"/>
          <p:nvPr/>
        </p:nvSpPr>
        <p:spPr>
          <a:xfrm>
            <a:off x="1188720" y="3054096"/>
            <a:ext cx="4632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Lab test protocol and field pilot design</a:t>
            </a:r>
            <a:endParaRPr lang="en-US" sz="1400" dirty="0"/>
          </a:p>
        </p:txBody>
      </p:sp>
      <p:sp>
        <p:nvSpPr>
          <p:cNvPr id="23" name="card-725"/>
          <p:cNvSpPr/>
          <p:nvPr/>
        </p:nvSpPr>
        <p:spPr>
          <a:xfrm>
            <a:off x="6233008" y="3054096"/>
            <a:ext cx="5501488" cy="713232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D5E3EC"/>
            </a:solidFill>
            <a:prstDash val="solid"/>
          </a:ln>
        </p:spPr>
      </p:sp>
      <p:sp>
        <p:nvSpPr>
          <p:cNvPr id="24" name="icon-bg-726"/>
          <p:cNvSpPr/>
          <p:nvPr/>
        </p:nvSpPr>
        <p:spPr>
          <a:xfrm>
            <a:off x="6370168" y="318211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con-727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9040" y="3300984"/>
            <a:ext cx="219456" cy="219456"/>
          </a:xfrm>
          <a:prstGeom prst="rect">
            <a:avLst/>
          </a:prstGeom>
        </p:spPr>
      </p:pic>
      <p:sp>
        <p:nvSpPr>
          <p:cNvPr id="26" name="text-728"/>
          <p:cNvSpPr txBox="1"/>
          <p:nvPr/>
        </p:nvSpPr>
        <p:spPr>
          <a:xfrm>
            <a:off x="6964528" y="3054096"/>
            <a:ext cx="4632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Certification path: ASSE 1090, BIS, WHO, NSF/ANSI 372</a:t>
            </a:r>
            <a:endParaRPr lang="en-US" sz="1400" dirty="0"/>
          </a:p>
        </p:txBody>
      </p:sp>
      <p:sp>
        <p:nvSpPr>
          <p:cNvPr id="27" name="card-729"/>
          <p:cNvSpPr/>
          <p:nvPr/>
        </p:nvSpPr>
        <p:spPr>
          <a:xfrm>
            <a:off x="457200" y="3895344"/>
            <a:ext cx="5501488" cy="713232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D5E3EC"/>
            </a:solidFill>
            <a:prstDash val="solid"/>
          </a:ln>
        </p:spPr>
      </p:sp>
      <p:sp>
        <p:nvSpPr>
          <p:cNvPr id="28" name="icon-bg-730"/>
          <p:cNvSpPr/>
          <p:nvPr/>
        </p:nvSpPr>
        <p:spPr>
          <a:xfrm>
            <a:off x="594360" y="40233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9" name="icon-731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" y="4142232"/>
            <a:ext cx="219456" cy="219456"/>
          </a:xfrm>
          <a:prstGeom prst="rect">
            <a:avLst/>
          </a:prstGeom>
        </p:spPr>
      </p:pic>
      <p:sp>
        <p:nvSpPr>
          <p:cNvPr id="30" name="text-732"/>
          <p:cNvSpPr txBox="1"/>
          <p:nvPr/>
        </p:nvSpPr>
        <p:spPr>
          <a:xfrm>
            <a:off x="1188720" y="3895344"/>
            <a:ext cx="4632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Pilot water quality data</a:t>
            </a:r>
            <a:endParaRPr lang="en-US" sz="1400" dirty="0"/>
          </a:p>
        </p:txBody>
      </p:sp>
      <p:sp>
        <p:nvSpPr>
          <p:cNvPr id="31" name="card-733"/>
          <p:cNvSpPr/>
          <p:nvPr/>
        </p:nvSpPr>
        <p:spPr>
          <a:xfrm>
            <a:off x="6233008" y="3895344"/>
            <a:ext cx="5501488" cy="713232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D5E3EC"/>
            </a:solidFill>
            <a:prstDash val="solid"/>
          </a:ln>
        </p:spPr>
      </p:sp>
      <p:sp>
        <p:nvSpPr>
          <p:cNvPr id="32" name="icon-bg-734"/>
          <p:cNvSpPr/>
          <p:nvPr/>
        </p:nvSpPr>
        <p:spPr>
          <a:xfrm>
            <a:off x="6370168" y="40233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3" name="icon-73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9040" y="4142232"/>
            <a:ext cx="219456" cy="219456"/>
          </a:xfrm>
          <a:prstGeom prst="rect">
            <a:avLst/>
          </a:prstGeom>
        </p:spPr>
      </p:pic>
      <p:sp>
        <p:nvSpPr>
          <p:cNvPr id="34" name="text-736"/>
          <p:cNvSpPr txBox="1"/>
          <p:nvPr/>
        </p:nvSpPr>
        <p:spPr>
          <a:xfrm>
            <a:off x="6964528" y="3895344"/>
            <a:ext cx="4632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Competitive matrix and patent landscape summary</a:t>
            </a:r>
            <a:endParaRPr lang="en-US" sz="1400" dirty="0"/>
          </a:p>
        </p:txBody>
      </p:sp>
      <p:sp>
        <p:nvSpPr>
          <p:cNvPr id="35" name="card-737"/>
          <p:cNvSpPr/>
          <p:nvPr/>
        </p:nvSpPr>
        <p:spPr>
          <a:xfrm>
            <a:off x="457200" y="4736592"/>
            <a:ext cx="5501488" cy="713232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D5E3EC"/>
            </a:solidFill>
            <a:prstDash val="solid"/>
          </a:ln>
        </p:spPr>
      </p:sp>
      <p:sp>
        <p:nvSpPr>
          <p:cNvPr id="36" name="icon-bg-738"/>
          <p:cNvSpPr/>
          <p:nvPr/>
        </p:nvSpPr>
        <p:spPr>
          <a:xfrm>
            <a:off x="594360" y="486460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7" name="icon-739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3232" y="4983480"/>
            <a:ext cx="219456" cy="219456"/>
          </a:xfrm>
          <a:prstGeom prst="rect">
            <a:avLst/>
          </a:prstGeom>
        </p:spPr>
      </p:pic>
      <p:sp>
        <p:nvSpPr>
          <p:cNvPr id="38" name="text-740"/>
          <p:cNvSpPr txBox="1"/>
          <p:nvPr/>
        </p:nvSpPr>
        <p:spPr>
          <a:xfrm>
            <a:off x="1188720" y="4736592"/>
            <a:ext cx="4632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Franchise agreement summary and sorbent licensing term sheet</a:t>
            </a:r>
            <a:endParaRPr lang="en-US" sz="1400" dirty="0"/>
          </a:p>
        </p:txBody>
      </p:sp>
      <p:sp>
        <p:nvSpPr>
          <p:cNvPr id="39" name="card-741"/>
          <p:cNvSpPr/>
          <p:nvPr/>
        </p:nvSpPr>
        <p:spPr>
          <a:xfrm>
            <a:off x="6233008" y="4736592"/>
            <a:ext cx="5501488" cy="713232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D5E3EC"/>
            </a:solidFill>
            <a:prstDash val="solid"/>
          </a:ln>
        </p:spPr>
      </p:sp>
      <p:sp>
        <p:nvSpPr>
          <p:cNvPr id="40" name="icon-bg-742"/>
          <p:cNvSpPr/>
          <p:nvPr/>
        </p:nvSpPr>
        <p:spPr>
          <a:xfrm>
            <a:off x="6370168" y="486460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1" name="icon-743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89040" y="4983480"/>
            <a:ext cx="219456" cy="219456"/>
          </a:xfrm>
          <a:prstGeom prst="rect">
            <a:avLst/>
          </a:prstGeom>
        </p:spPr>
      </p:pic>
      <p:sp>
        <p:nvSpPr>
          <p:cNvPr id="42" name="text-744"/>
          <p:cNvSpPr txBox="1"/>
          <p:nvPr/>
        </p:nvSpPr>
        <p:spPr>
          <a:xfrm>
            <a:off x="6964528" y="4736592"/>
            <a:ext cx="4632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Full financial model (Excel on request)</a:t>
            </a:r>
            <a:endParaRPr lang="en-US" sz="1400" dirty="0"/>
          </a:p>
        </p:txBody>
      </p:sp>
      <p:sp>
        <p:nvSpPr>
          <p:cNvPr id="43" name="keymsg-bg-745"/>
          <p:cNvSpPr/>
          <p:nvPr/>
        </p:nvSpPr>
        <p:spPr>
          <a:xfrm>
            <a:off x="457200" y="5760720"/>
            <a:ext cx="11277295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/>
        </p:spPr>
      </p:sp>
      <p:sp>
        <p:nvSpPr>
          <p:cNvPr id="44" name="icon-bg-746"/>
          <p:cNvSpPr/>
          <p:nvPr/>
        </p:nvSpPr>
        <p:spPr>
          <a:xfrm>
            <a:off x="585216" y="586130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45" name="icon-747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0314" y="5956402"/>
            <a:ext cx="175565" cy="175565"/>
          </a:xfrm>
          <a:prstGeom prst="rect">
            <a:avLst/>
          </a:prstGeom>
        </p:spPr>
      </p:pic>
      <p:sp>
        <p:nvSpPr>
          <p:cNvPr id="46" name="text-748"/>
          <p:cNvSpPr txBox="1"/>
          <p:nvPr/>
        </p:nvSpPr>
        <p:spPr>
          <a:xfrm>
            <a:off x="1097280" y="57607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Every claim in this deck is backed by a testable assumption or a published result.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One-page executive summary</a:t>
            </a:r>
            <a:endParaRPr lang="en-US" sz="3000" dirty="0"/>
          </a:p>
        </p:txBody>
      </p:sp>
      <p:graphicFrame>
        <p:nvGraphicFramePr>
          <p:cNvPr id="31" name="table-7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729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814255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AcquaHT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4D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A2E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Atmospheric water from ultra-low-cost agri-waste and recycled-polymer sorbents, solar thermal desorption and waste-heat recovery, plus 5-stage filtration.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A2E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$0.005–$0.01/L at scale (₹0.40–₹0.80/L). 75–87% below conventional AWG. 60–80% below bottled water.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A2E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 first (Indian Railways, hospitals, corporates, data centres), then UAE, Philippines, Africa.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A2E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4-stage: condensation → sorption → solar thermal → thermal storage. Jute/CaCl₂ and PANSAP at $0.46–$2.50/kg. 134°C collectors. 34.4% saving from waste heat.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A2E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100 L/day prototypes (condensation + sorption), validated in lab and field, scaling to 1,000 L/day.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A2E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 WaaS · 25% equipment sales · 15% franchise + sorbent licensing.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A2E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 LOIs, prototype status, certifications]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A2E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Y1 $400K · Y2 $2M · Y3 $8M. Break-even M18–20. Gross margin 70–85% at scale.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A2E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$650,000 Seed  ·  Contact: [Name] · [Email] · [Phone] · [Website]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quaHT">
  <a:themeElements>
    <a:clrScheme name="AcquaHT">
      <a:dk1>
        <a:srgbClr val="13202B"/>
      </a:dk1>
      <a:lt1>
        <a:srgbClr val="FFFFFF"/>
      </a:lt1>
      <a:dk2>
        <a:srgbClr val="0A2E4D"/>
      </a:dk2>
      <a:lt2>
        <a:srgbClr val="EAF4FA"/>
      </a:lt2>
      <a:accent1>
        <a:srgbClr val="1273B5"/>
      </a:accent1>
      <a:accent2>
        <a:srgbClr val="3FB6D9"/>
      </a:accent2>
      <a:accent3>
        <a:srgbClr val="F2A124"/>
      </a:accent3>
      <a:accent4>
        <a:srgbClr val="2E9E6A"/>
      </a:accent4>
      <a:accent5>
        <a:srgbClr val="5B6B78"/>
      </a:accent5>
      <a:accent6>
        <a:srgbClr val="D9534F"/>
      </a:accent6>
      <a:hlink>
        <a:srgbClr val="1273B5"/>
      </a:hlink>
      <a:folHlink>
        <a:srgbClr val="5B6B78"/>
      </a:folHlink>
    </a:clrScheme>
    <a:fontScheme name="AcquaH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AcquaHT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AcquaHT — Seed Pitch Deck</dc:title>
  <dc:subject>PptxGenJS Presentation</dc:subject>
  <dc:creator>AcquaHT</dc:creator>
  <cp:lastModifiedBy>AcquaHT</cp:lastModifiedBy>
  <cp:revision>1</cp:revision>
  <dcterms:created xsi:type="dcterms:W3CDTF">2026-10-09T14:03:41Z</dcterms:created>
  <dcterms:modified xsi:type="dcterms:W3CDTF">2026-10-09T14:03:41Z</dcterms:modified>
</cp:coreProperties>
</file>