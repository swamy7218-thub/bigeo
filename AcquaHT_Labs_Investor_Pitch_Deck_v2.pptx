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Groundwater table (relative)</c:v>
                </c:pt>
              </c:strCache>
            </c:strRef>
          </c:tx>
          <c:spPr>
            <a:ln w="28575">
              <a:solidFill>
                <a:srgbClr val="FF4D00"/>
              </a:solidFill>
            </a:ln>
          </c:spPr>
          <c:marker>
            <c:spPr>
              <a:solidFill>
                <a:srgbClr val="FF4D00"/>
              </a:solidFill>
            </c:spPr>
          </c:marker>
          <c:cat>
            <c:strRef>
              <c:f>Sheet1!$A$2:$A$6</c:f>
              <c:strCache>
                <c:ptCount val="5"/>
                <c:pt idx="0">
                  <c:v>2018</c:v>
                </c:pt>
                <c:pt idx="1">
                  <c:v>2020</c:v>
                </c:pt>
                <c:pt idx="2">
                  <c:v>2022</c:v>
                </c:pt>
                <c:pt idx="3">
                  <c:v>2024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94</c:v>
                </c:pt>
                <c:pt idx="2">
                  <c:v>88</c:v>
                </c:pt>
                <c:pt idx="3">
                  <c:v>81</c:v>
                </c:pt>
                <c:pt idx="4">
                  <c:v>74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E7E7"/>
            </a:solidFill>
          </a:ln>
        </c:spPr>
        <c:txPr>
          <a:bodyPr/>
          <a:lstStyle/>
          <a:p>
            <a:pPr>
              <a:defRPr sz="1100">
                <a:solidFill>
                  <a:srgbClr val="0A0A0A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E7E7E7"/>
            </a:solidFill>
          </a:ln>
        </c:spPr>
        <c:txPr>
          <a:bodyPr/>
          <a:lstStyle/>
          <a:p>
            <a:pPr>
              <a:defRPr sz="1000">
                <a:solidFill>
                  <a:srgbClr val="8A8A8A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Government readiness</c:v>
                </c:pt>
              </c:strCache>
            </c:strRef>
          </c:tx>
          <c:spPr>
            <a:ln w="28575">
              <a:solidFill>
                <a:srgbClr val="FF4D00"/>
              </a:solidFill>
            </a:ln>
          </c:spPr>
          <c:marker>
            <c:spPr>
              <a:solidFill>
                <a:srgbClr val="FF4D00"/>
              </a:solidFill>
            </c:spPr>
          </c:marke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Solar cost decline</c:v>
                </c:pt>
              </c:strCache>
            </c:strRef>
          </c:tx>
          <c:spPr>
            <a:ln w="28575">
              <a:solidFill>
                <a:srgbClr val="0A0A0A"/>
              </a:solidFill>
            </a:ln>
          </c:spPr>
          <c:marker>
            <c:spPr>
              <a:solidFill>
                <a:srgbClr val="0A0A0A"/>
              </a:solidFill>
            </c:spPr>
          </c:marke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Climate urgency</c:v>
                </c:pt>
              </c:strCache>
            </c:strRef>
          </c:tx>
          <c:spPr>
            <a:ln w="28575">
              <a:solidFill>
                <a:srgbClr val="8A8A8A"/>
              </a:solidFill>
            </a:ln>
          </c:spPr>
          <c:marker>
            <c:spPr>
              <a:solidFill>
                <a:srgbClr val="8A8A8A"/>
              </a:solidFill>
            </c:spPr>
          </c:marke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6</c:v>
                </c:pt>
                <c:pt idx="3">
                  <c:v>8</c:v>
                </c:pt>
                <c:pt idx="4">
                  <c:v>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E7E7"/>
            </a:solidFill>
          </a:ln>
        </c:spPr>
        <c:txPr>
          <a:bodyPr/>
          <a:lstStyle/>
          <a:p>
            <a:pPr>
              <a:defRPr sz="1100">
                <a:solidFill>
                  <a:srgbClr val="0A0A0A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E7E7E7"/>
            </a:solidFill>
          </a:ln>
        </c:spPr>
        <c:txPr>
          <a:bodyPr/>
          <a:lstStyle/>
          <a:p>
            <a:pPr>
              <a:defRPr sz="1000">
                <a:solidFill>
                  <a:srgbClr val="8A8A8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8A8A8A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0A0A0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FY26</c:v>
                </c:pt>
                <c:pt idx="1">
                  <c:v>FY27</c:v>
                </c:pt>
                <c:pt idx="2">
                  <c:v>FY28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</c:v>
                </c:pt>
                <c:pt idx="1">
                  <c:v>6.0</c:v>
                </c:pt>
                <c:pt idx="2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 (₹ Cr)</c:v>
                </c:pt>
              </c:strCache>
            </c:strRef>
          </c:tx>
          <c:spPr>
            <a:solidFill>
              <a:srgbClr val="FF4D0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FY26</c:v>
                </c:pt>
                <c:pt idx="1">
                  <c:v>FY27</c:v>
                </c:pt>
                <c:pt idx="2">
                  <c:v>FY28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1.6</c:v>
                </c:pt>
                <c:pt idx="1">
                  <c:v>4.0</c:v>
                </c:pt>
                <c:pt idx="2">
                  <c:v>9.0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E7E7"/>
            </a:solidFill>
          </a:ln>
        </c:spPr>
        <c:txPr>
          <a:bodyPr/>
          <a:lstStyle/>
          <a:p>
            <a:pPr>
              <a:defRPr sz="1100">
                <a:solidFill>
                  <a:srgbClr val="0A0A0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E7E7E7"/>
            </a:solidFill>
          </a:ln>
        </c:spPr>
        <c:txPr>
          <a:bodyPr/>
          <a:lstStyle/>
          <a:p>
            <a:pPr>
              <a:defRPr sz="1000">
                <a:solidFill>
                  <a:srgbClr val="8A8A8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8A8A8A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cold. One sentence. Let the simplicity land before any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human stat, not the market stat. Let it 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Establish urgency with a trend, not a wall of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Establish that this isn't a clever-engineering gap. It's a structural failure across every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Release the tension built in slides 2-4. Keep it plain — no jargon.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Investors aren't physicists. Confirm it's real, not complicated.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numbers. That's the whole slide. We engineered for India's actual conditions, not borrowed Western specs.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Plain factual proof points. No adjectives.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signals 'venture scale', not 'hardware company'.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Real, conservative numbers. Not a forecast — a calculation.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 stated once, simply. Then immediately broken into the three segments we actually sell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one segment stalls, the other two carry revenue. That's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ISB takes 12 of 700. That ratio is the credibility signal — let it speak for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Before-launch pipeline. State it plainly, let the numbers carry 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Government funding is allocated, solar is cheap, and climate pressure is rising. None of that was true five years 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Objective, not dismissive. Each competitor type is structurally mismatched to this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Hardware gets copied in 18 months. Relationships, data, and subscriptions don't.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exits to brag about. Founder-market fit instead — make that the point, not an apology.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from signed LOIs and contracted pipeline, not hope.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ask plainly. Then stop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Concrete, not aspirational hand-waving. Numbers tied to the same unit economics shown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flat and confident. No exclamation marks. Let the silence after the last line do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A0A0A"/>
                </a:solidFill>
                <a:latin typeface="Helvetica Neue"/>
              </a:rPr>
              <a:t>Water, from air.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8A8A"/>
                </a:solidFill>
                <a:latin typeface="Helvetica Neue"/>
              </a:rPr>
              <a:t>We make safe drinking water out of the atmosphere — no pipes, no plastic, no groundwater.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6035040"/>
            <a:ext cx="10545775" cy="0"/>
          </a:xfrm>
          <a:prstGeom prst="line">
            <a:avLst/>
          </a:prstGeom>
          <a:ln w="9525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4D00"/>
                </a:solidFill>
                <a:latin typeface="Helvetica Neue"/>
              </a:rPr>
              <a:t>SEED ROUND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01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1">
                <a:solidFill>
                  <a:srgbClr val="0A0A0A"/>
                </a:solidFill>
                <a:latin typeface="Helvetica Neue"/>
              </a:rPr>
              <a:t>163 million</a:t>
            </a:r>
          </a:p>
          <a:p>
            <a:pPr algn="l">
              <a:lnSpc>
                <a:spcPct val="105000"/>
              </a:lnSpc>
            </a:pPr>
            <a:r>
              <a:rPr sz="5000" b="1">
                <a:solidFill>
                  <a:srgbClr val="0A0A0A"/>
                </a:solidFill>
                <a:latin typeface="Helvetica Neue"/>
              </a:rPr>
              <a:t>Indians drink water</a:t>
            </a:r>
          </a:p>
          <a:p>
            <a:pPr algn="l">
              <a:lnSpc>
                <a:spcPct val="105000"/>
              </a:lnSpc>
            </a:pPr>
            <a:r>
              <a:rPr sz="5000" b="1">
                <a:solidFill>
                  <a:srgbClr val="0A0A0A"/>
                </a:solidFill>
                <a:latin typeface="Helvetica Neue"/>
              </a:rPr>
              <a:t>that isn't safe.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84632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8A8A"/>
                </a:solidFill>
                <a:latin typeface="Helvetica Neue"/>
              </a:rPr>
              <a:t>Not in a remote village somewhere. In cities, in hotels, in hospitals, in homes —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01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A0A0A"/>
                </a:solidFill>
                <a:latin typeface="Helvetica Neue"/>
              </a:rPr>
              <a:t>And it's getting worse.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2651760"/>
          <a:ext cx="64008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27432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4D00"/>
                </a:solidFill>
                <a:latin typeface="Helvetica Neue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342900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8A8A"/>
                </a:solidFill>
                <a:latin typeface="Helvetica Neue"/>
              </a:rPr>
              <a:t>Indian cities projected to run out of groundwater by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2976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4D00"/>
                </a:solidFill>
                <a:latin typeface="Helvetica Neue"/>
              </a:rPr>
              <a:t>0.3m/yr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84632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8A8A"/>
                </a:solidFill>
                <a:latin typeface="Helvetica Neue"/>
              </a:rPr>
              <a:t>Rate at which coastal groundwater tables are dropping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02 — WHY NOBODY'S SOLVED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0A0A0A"/>
                </a:solidFill>
                <a:latin typeface="Helvetica Neue"/>
              </a:rPr>
              <a:t>Every existing fix breaks something else.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A0A0A"/>
                </a:solidFill>
                <a:latin typeface="Helvetica Neue"/>
              </a:rPr>
              <a:t>Pipes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624328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8A8A"/>
                </a:solidFill>
                <a:latin typeface="Helvetica Neue"/>
              </a:rPr>
              <a:t>38% of rural India has none. Too slow, too expensive to build.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246120"/>
            <a:ext cx="10545775" cy="0"/>
          </a:xfrm>
          <a:prstGeom prst="line">
            <a:avLst/>
          </a:prstGeom>
          <a:ln w="9525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31927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A0A0A"/>
                </a:solidFill>
                <a:latin typeface="Helvetica Neue"/>
              </a:rPr>
              <a:t>Bottled water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33756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8A8A"/>
                </a:solidFill>
                <a:latin typeface="Helvetica Neue"/>
              </a:rPr>
              <a:t>Costs 4x more. Leaves plastic behind. Fails in floods — exactly when it's needed.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3959352"/>
            <a:ext cx="10545775" cy="0"/>
          </a:xfrm>
          <a:prstGeom prst="line">
            <a:avLst/>
          </a:prstGeom>
          <a:ln w="9525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4032504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A0A0A"/>
                </a:solidFill>
                <a:latin typeface="Helvetica Neue"/>
              </a:rPr>
              <a:t>Boreholes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050792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8A8A"/>
                </a:solidFill>
                <a:latin typeface="Helvetica Neue"/>
              </a:rPr>
              <a:t>Draws down groundwater that takes 75,000 years to refill.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4672584"/>
            <a:ext cx="10545775" cy="0"/>
          </a:xfrm>
          <a:prstGeom prst="line">
            <a:avLst/>
          </a:prstGeom>
          <a:ln w="9525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474573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A0A0A"/>
                </a:solidFill>
                <a:latin typeface="Helvetica Neue"/>
              </a:rPr>
              <a:t>Older AWG machines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764024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8A8A"/>
                </a:solidFill>
                <a:latin typeface="Helvetica Neue"/>
              </a:rPr>
              <a:t>Built for Germany, not India. Stop working below 50% humidity.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03 —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0A0A0A"/>
                </a:solidFill>
                <a:latin typeface="Helvetica Neue"/>
              </a:rPr>
              <a:t>We pull water</a:t>
            </a:r>
          </a:p>
          <a:p>
            <a:pPr algn="l">
              <a:lnSpc>
                <a:spcPct val="105000"/>
              </a:lnSpc>
            </a:pPr>
            <a:r>
              <a:rPr sz="4800" b="1">
                <a:solidFill>
                  <a:srgbClr val="0A0A0A"/>
                </a:solidFill>
                <a:latin typeface="Helvetica Neue"/>
              </a:rPr>
              <a:t>straight from the air.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8A8A"/>
                </a:solidFill>
                <a:latin typeface="Helvetica Neue"/>
              </a:rPr>
              <a:t>No pipes. No plastic. No groundwater. Just a machine, a power source, and the atmosphere.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4754880"/>
            <a:ext cx="10545775" cy="0"/>
          </a:xfrm>
          <a:prstGeom prst="line">
            <a:avLst/>
          </a:prstGeom>
          <a:ln w="9525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50292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A0A0A"/>
                </a:solidFill>
                <a:latin typeface="Helvetica Neue"/>
              </a:rPr>
              <a:t>It replenishes every 5–7 days. It works year-round. It runs anywhere — on solar, off-grid.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03 —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A0A0A"/>
                </a:solidFill>
                <a:latin typeface="Helvetica Neue"/>
              </a:rPr>
              <a:t>Three steps. No magic.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3383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4D00"/>
                </a:solidFill>
                <a:latin typeface="Helvetica Neue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A0A0A"/>
                </a:solidFill>
                <a:latin typeface="Helvetica Neue"/>
              </a:rPr>
              <a:t>Extract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3383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8A8A8A"/>
                </a:solidFill>
                <a:latin typeface="Helvetica Neue"/>
              </a:rPr>
              <a:t>Cool air below its dew point. Water vapor condenses into liquid.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377440"/>
            <a:ext cx="3383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4D00"/>
                </a:solidFill>
                <a:latin typeface="Helvetica Neue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06324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A0A0A"/>
                </a:solidFill>
                <a:latin typeface="Helvetica Neue"/>
              </a:rPr>
              <a:t>Purify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611880"/>
            <a:ext cx="3383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8A8A8A"/>
                </a:solidFill>
                <a:latin typeface="Helvetica Neue"/>
              </a:rPr>
              <a:t>Six-stage filtration — carbon, RO, UV, mineralization.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77440"/>
            <a:ext cx="3383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4D00"/>
                </a:solidFill>
                <a:latin typeface="Helvetica Neue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06324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A0A0A"/>
                </a:solidFill>
                <a:latin typeface="Helvetica Neue"/>
              </a:rPr>
              <a:t>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611880"/>
            <a:ext cx="3383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8A8A8A"/>
                </a:solidFill>
                <a:latin typeface="Helvetica Neue"/>
              </a:rPr>
              <a:t>IoT sensors track quality and machine health, remotely, in real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03 —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A0A0A"/>
                </a:solidFill>
                <a:latin typeface="Helvetica Neue"/>
              </a:rPr>
              <a:t>We work where others don't.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5029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A0A0A"/>
                </a:solidFill>
                <a:latin typeface="Helvetica Neue"/>
              </a:rPr>
              <a:t>30% RH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MINIMUM HUMIDITY WE OPERATE 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468880"/>
            <a:ext cx="5029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8A8A8A"/>
                </a:solidFill>
                <a:latin typeface="Helvetica Neue"/>
              </a:rPr>
              <a:t>50%+ RH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52044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MINIMUM HUMIDITY COMPETITORS NEED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4297680"/>
            <a:ext cx="10545775" cy="0"/>
          </a:xfrm>
          <a:prstGeom prst="line">
            <a:avLst/>
          </a:prstGeom>
          <a:ln w="9525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4572000"/>
            <a:ext cx="5029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A0A0A"/>
                </a:solidFill>
                <a:latin typeface="Helvetica Neue"/>
              </a:rPr>
              <a:t>4.0 L/kWh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OUR ENERGY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72000"/>
            <a:ext cx="5029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8A8A8A"/>
                </a:solidFill>
                <a:latin typeface="Helvetica Neue"/>
              </a:rPr>
              <a:t>2.0 L/kWh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62356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INDUSTRY 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03 —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A0A0A"/>
                </a:solidFill>
                <a:latin typeface="Helvetica Neue"/>
              </a:rPr>
              <a:t>This isn't a lab demo.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4D00"/>
                </a:solidFill>
                <a:latin typeface="Helvetica Neue"/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6032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A0A0A"/>
                </a:solidFill>
                <a:latin typeface="Helvetica Neue"/>
              </a:rPr>
              <a:t>Efficiency independently validated through an IIT partnership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4D00"/>
                </a:solidFill>
                <a:latin typeface="Helvetica Neue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3756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A0A0A"/>
                </a:solidFill>
                <a:latin typeface="Helvetica Neue"/>
              </a:rPr>
              <a:t>Water quality certified above BIS and WHO standards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4D00"/>
                </a:solidFill>
                <a:latin typeface="Helvetica Neue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11480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A0A0A"/>
                </a:solidFill>
                <a:latin typeface="Helvetica Neue"/>
              </a:rPr>
              <a:t>30% RH performance proven in live field deployment in Telangana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04 —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A0A0A"/>
                </a:solidFill>
                <a:latin typeface="Helvetica Neue"/>
              </a:rPr>
              <a:t>We sell the machine. Then we get paid every month.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4D00"/>
                </a:solidFill>
                <a:latin typeface="Helvetica Neue"/>
              </a:rPr>
              <a:t>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A0A0A"/>
                </a:solidFill>
                <a:latin typeface="Helvetica Neue"/>
              </a:rPr>
              <a:t>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GROSS MARGIN ON EVERY UNIT SOLD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77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4D00"/>
                </a:solidFill>
                <a:latin typeface="Helvetica Neue"/>
              </a:rPr>
              <a:t>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8892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A0A0A"/>
                </a:solidFill>
                <a:latin typeface="Helvetica Neue"/>
              </a:rPr>
              <a:t>85%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GROSS MARGIN ON IOT SUBSCRIPTION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4754880"/>
            <a:ext cx="10545775" cy="0"/>
          </a:xfrm>
          <a:prstGeom prst="line">
            <a:avLst/>
          </a:prstGeom>
          <a:ln w="9525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50292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A0A0A"/>
                </a:solidFill>
                <a:latin typeface="Helvetica Neue"/>
              </a:rPr>
              <a:t>Customer lifetime value: ₹36,000+ over three years, from subscription alone.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04 —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A0A0A"/>
                </a:solidFill>
                <a:latin typeface="Helvetica Neue"/>
              </a:rPr>
              <a:t>Customers save money from month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3474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A0A0A"/>
                </a:solidFill>
                <a:latin typeface="Helvetica Neue"/>
              </a:rPr>
              <a:t>₹900–1,500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SAVED PER CUSTOMER, PER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468880"/>
            <a:ext cx="3474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A0A0A"/>
                </a:solidFill>
                <a:latin typeface="Helvetica Neue"/>
              </a:rPr>
              <a:t>18–24 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352044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HARDWARE PAYBACK 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468880"/>
            <a:ext cx="3474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0A0A0A"/>
                </a:solidFill>
                <a:latin typeface="Helvetica Neue"/>
              </a:rPr>
              <a:t>₹3.2–5.4L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52044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SAVED PER CUSTOMER OVER 3 YEARS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4206240"/>
            <a:ext cx="10545775" cy="0"/>
          </a:xfrm>
          <a:prstGeom prst="line">
            <a:avLst/>
          </a:prstGeom>
          <a:ln w="9525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A0A0A"/>
                </a:solidFill>
                <a:latin typeface="Helvetica Neue"/>
              </a:rPr>
              <a:t>Company breakeven: 150 units deployed.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8A8A"/>
                </a:solidFill>
                <a:latin typeface="Helvetica Neue"/>
              </a:rPr>
              <a:t>We project we'll cross that line in FY2027.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05 —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A0A0A"/>
                </a:solidFill>
                <a:latin typeface="Helvetica Neue"/>
              </a:rPr>
              <a:t>A ₹2,800 crore market in India by 2030.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8A8A"/>
                </a:solidFill>
                <a:latin typeface="Helvetica Neue"/>
              </a:rPr>
              <a:t>We don't need to win it. We need 0.5% of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3474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A0A0A"/>
                </a:solidFill>
                <a:latin typeface="Helvetica Neue"/>
              </a:rPr>
              <a:t>₹400–600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HOSPITALITY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3383280"/>
            <a:ext cx="3474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A0A0A"/>
                </a:solidFill>
                <a:latin typeface="Helvetica Neue"/>
              </a:rPr>
              <a:t>₹800–1,000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443484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COMMERCIAL &amp; INDUSTRIAL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383280"/>
            <a:ext cx="3474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A0A0A"/>
                </a:solidFill>
                <a:latin typeface="Helvetica Neue"/>
              </a:rPr>
              <a:t>₹1,000+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43484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GOVERNMENT &amp; MUNICIPAL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5212080"/>
            <a:ext cx="10545775" cy="0"/>
          </a:xfrm>
          <a:prstGeom prst="line">
            <a:avLst/>
          </a:prstGeom>
          <a:ln w="9525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54864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A0A0A"/>
                </a:solidFill>
                <a:latin typeface="Helvetica Neue"/>
              </a:rPr>
              <a:t>Our target: 500 units deployed, ₹15–20 Cr revenue, by FY2028.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05 —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A0A0A"/>
                </a:solidFill>
                <a:latin typeface="Helvetica Neue"/>
              </a:rPr>
              <a:t>Three buyers. Each de-risks the others.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A0A0A"/>
                </a:solidFill>
                <a:latin typeface="Helvetica Neue"/>
              </a:rPr>
              <a:t>Hospitality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468880"/>
            <a:ext cx="74980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8A8A"/>
                </a:solidFill>
                <a:latin typeface="Helvetica Neue"/>
              </a:rPr>
              <a:t>15,000+ hotels in water-stressed coastal zones. Water is 8–12% of their operating cost.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291840"/>
            <a:ext cx="10545775" cy="0"/>
          </a:xfrm>
          <a:prstGeom prst="line">
            <a:avLst/>
          </a:prstGeom>
          <a:ln w="9525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5204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A0A0A"/>
                </a:solidFill>
                <a:latin typeface="Helvetica Neue"/>
              </a:rPr>
              <a:t>Commercial &amp; industrial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520440"/>
            <a:ext cx="74980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8A8A"/>
                </a:solidFill>
                <a:latin typeface="Helvetica Neue"/>
              </a:rPr>
              <a:t>Data centers, pharma, semiconductors. Water is 10–15% of cooling budget.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4343400"/>
            <a:ext cx="10545775" cy="0"/>
          </a:xfrm>
          <a:prstGeom prst="line">
            <a:avLst/>
          </a:prstGeom>
          <a:ln w="9525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45720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A0A0A"/>
                </a:solidFill>
                <a:latin typeface="Helvetica Neue"/>
              </a:rPr>
              <a:t>Government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572000"/>
            <a:ext cx="74980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8A8A"/>
                </a:solidFill>
                <a:latin typeface="Helvetica Neue"/>
              </a:rPr>
              <a:t>Jal Jeevan Mission has ₹3.6L Cr committed. We become an approved vendor.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06 —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A0A0A"/>
                </a:solidFill>
                <a:latin typeface="Helvetica Neue"/>
              </a:rPr>
              <a:t>We haven't launched. We've already been chosen.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4D00"/>
                </a:solidFill>
                <a:latin typeface="Helvetica Neue"/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4688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A0A0A"/>
                </a:solidFill>
                <a:latin typeface="Helvetica Neue"/>
              </a:rPr>
              <a:t>ISB AIC Social Impact — 12 of 700 applicants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4D00"/>
                </a:solidFill>
                <a:latin typeface="Helvetica Neue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0632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A0A0A"/>
                </a:solidFill>
                <a:latin typeface="Helvetica Neue"/>
              </a:rPr>
              <a:t>MeitY TIDE 2.0, IIM Calcutta — Entrepreneur in Residence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4D00"/>
                </a:solidFill>
                <a:latin typeface="Helvetica Neue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6576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A0A0A"/>
                </a:solidFill>
                <a:latin typeface="Helvetica Neue"/>
              </a:rPr>
              <a:t>NVIDIA Inception  ·  Microsoft Founders Hub  ·  T-Hub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519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4D00"/>
                </a:solidFill>
                <a:latin typeface="Helvetica Neue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2519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A0A0A"/>
                </a:solidFill>
                <a:latin typeface="Helvetica Neue"/>
              </a:rPr>
              <a:t>IIM Shillong Water Conference — 1st prize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06 —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A0A0A"/>
                </a:solidFill>
                <a:latin typeface="Helvetica Neue"/>
              </a:rPr>
              <a:t>And the pipeline has already started.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A0A0A"/>
                </a:solidFill>
                <a:latin typeface="Helvetica Neue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SIGNED LOIS WITH NGOS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56032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A0A0A"/>
                </a:solidFill>
                <a:latin typeface="Helvetica Ne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36118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HOSPITALITY GROUPS REQUESTING PILOTS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56032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A0A0A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61188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DIRECT INTRODUCTION FROM A STATE WATER 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07 —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A0A0A"/>
                </a:solidFill>
                <a:latin typeface="Helvetica Neue"/>
              </a:rPr>
              <a:t>Three curves are crossing at once.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2286000"/>
          <a:ext cx="10515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08 —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A0A0A"/>
                </a:solidFill>
                <a:latin typeface="Helvetica Neue"/>
              </a:rPr>
              <a:t>Nobody else is built for India.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A0A0A"/>
                </a:solidFill>
                <a:latin typeface="Helvetica Neue"/>
              </a:rPr>
              <a:t>Global AWG makers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37744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8A8A8A"/>
                </a:solidFill>
                <a:latin typeface="Helvetica Neue"/>
              </a:rPr>
              <a:t>Water-Gen, SkyWater — built for 50%+ humidity, $5–8K per unit. Too expensive, wrong climate.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182112"/>
            <a:ext cx="10545775" cy="0"/>
          </a:xfrm>
          <a:prstGeom prst="line">
            <a:avLst/>
          </a:prstGeom>
          <a:ln w="9525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3832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A0A0A"/>
                </a:solidFill>
                <a:latin typeface="Helvetica Neue"/>
              </a:rPr>
              <a:t>Indian water brands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38328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8A8A8A"/>
                </a:solidFill>
                <a:latin typeface="Helvetica Neue"/>
              </a:rPr>
              <a:t>Aquaguard, Kent — built for consumer RO. No hardware-at-scale capability, no IoT.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4187952"/>
            <a:ext cx="10545775" cy="0"/>
          </a:xfrm>
          <a:prstGeom prst="line">
            <a:avLst/>
          </a:prstGeom>
          <a:ln w="9525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438912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A0A0A"/>
                </a:solidFill>
                <a:latin typeface="Helvetica Neue"/>
              </a:rPr>
              <a:t>Chinese manufacturers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3891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8A8A8A"/>
                </a:solidFill>
                <a:latin typeface="Helvetica Neue"/>
              </a:rPr>
              <a:t>Will enter on price by 2027. Will arrive without our relationships, data, or service network.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08 —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A0A0A"/>
                </a:solidFill>
                <a:latin typeface="Helvetica Neue"/>
              </a:rPr>
              <a:t>Our moat isn't the hardware.</a:t>
            </a:r>
          </a:p>
          <a:p>
            <a:pPr algn="l">
              <a:lnSpc>
                <a:spcPct val="115000"/>
              </a:lnSpc>
            </a:pPr>
            <a:r>
              <a:rPr sz="3400" b="1">
                <a:solidFill>
                  <a:srgbClr val="0A0A0A"/>
                </a:solidFill>
                <a:latin typeface="Helvetica Neue"/>
              </a:rPr>
              <a:t>It's everything that happens after we sell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8A8A8A"/>
                </a:solidFill>
                <a:latin typeface="Helvetica Neue"/>
              </a:rPr>
              <a:t>By Year 3, 40% of our revenue is recurring. Recurring revenue is 8–10x harder to displace than a one-time sale.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09 —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A0A0A"/>
                </a:solidFill>
                <a:latin typeface="Helvetica Neue"/>
              </a:rPr>
              <a:t>We grew up inside this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A0A0A"/>
                </a:solidFill>
                <a:latin typeface="Helvetica Neue"/>
              </a:rPr>
              <a:t>Swamynathan Jerra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4D00"/>
                </a:solidFill>
                <a:latin typeface="Helvetica Neue"/>
              </a:rPr>
              <a:t>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2514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A8A8A"/>
                </a:solidFill>
                <a:latin typeface="Helvetica Neue"/>
              </a:rPr>
              <a:t>From Siddipet, Telangana — lived the water problem firsthand. Mechanical engineer. Mercedes-Benz beVisioneers 2025.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2152" y="237744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A0A0A"/>
                </a:solidFill>
                <a:latin typeface="Helvetica Neue"/>
              </a:rPr>
              <a:t>Vaidhatri Sanugula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2152" y="283464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4D00"/>
                </a:solidFill>
                <a:latin typeface="Helvetica Neue"/>
              </a:rPr>
              <a:t>WATER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3246120"/>
            <a:ext cx="2514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A8A8A"/>
                </a:solidFill>
                <a:latin typeface="Helvetica Neue"/>
              </a:rPr>
              <a:t>M.Sc Biotechnology. Designed our purification stack: 6-log pathogen kill, WHO compliant.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1344" y="237744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A0A0A"/>
                </a:solidFill>
                <a:latin typeface="Helvetica Neue"/>
              </a:rPr>
              <a:t>Sumanth Malyala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1344" y="283464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4D00"/>
                </a:solidFill>
                <a:latin typeface="Helvetica Neue"/>
              </a:rPr>
              <a:t>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1344" y="3246120"/>
            <a:ext cx="2514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A8A8A"/>
                </a:solidFill>
                <a:latin typeface="Helvetica Neue"/>
              </a:rPr>
              <a:t>Mechanical engineer. Took our efficiency from 2.5 to 4.0 L/kWh in 18 months.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0536" y="237744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A0A0A"/>
                </a:solidFill>
                <a:latin typeface="Helvetica Neue"/>
              </a:rPr>
              <a:t>Sai Smaran Nalla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0536" y="283464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4D00"/>
                </a:solidFill>
                <a:latin typeface="Helvetica Neue"/>
              </a:rPr>
              <a:t>IOT &amp; PARTNERSHIPS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536" y="3246120"/>
            <a:ext cx="2514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A8A8A"/>
                </a:solidFill>
                <a:latin typeface="Helvetica Neue"/>
              </a:rPr>
              <a:t>Computer scientist. Built our cloud platform and our institutional relationships.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10 — 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A0A0A"/>
                </a:solidFill>
                <a:latin typeface="Helvetica Neue"/>
              </a:rPr>
              <a:t>₹15 crore in revenue within three years.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2286000"/>
          <a:ext cx="64008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80960" y="2468880"/>
            <a:ext cx="3566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0A0A0A"/>
                </a:solidFill>
                <a:latin typeface="Helvetica Neue"/>
              </a:rPr>
              <a:t>FY27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35204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COMPANY BREAKEVEN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4023360"/>
            <a:ext cx="3566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0A0A0A"/>
                </a:solidFill>
                <a:latin typeface="Helvetica Neue"/>
              </a:rPr>
              <a:t>+₹6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507492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NET PROFIT, FY28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11 —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0A0A0A"/>
                </a:solidFill>
                <a:latin typeface="Helvetica Neue"/>
              </a:rPr>
              <a:t>We're raising ₹2.5 crore.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8A8A"/>
                </a:solidFill>
                <a:latin typeface="Helvetica Neue"/>
              </a:rPr>
              <a:t>To fund our first 100 commercial deployments and become Series A-ready.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4D00"/>
                </a:solidFill>
                <a:latin typeface="Helvetica Neue"/>
              </a:rP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177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8A8A"/>
                </a:solidFill>
                <a:latin typeface="Helvetica Neue"/>
              </a:rPr>
              <a:t>MANUFACTURING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393192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4D00"/>
                </a:solidFill>
                <a:latin typeface="Helvetica Neue"/>
              </a:rPr>
              <a:t>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46177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8A8A"/>
                </a:solidFill>
                <a:latin typeface="Helvetica Neue"/>
              </a:rPr>
              <a:t>R&amp;D &amp; CERTIFICATION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93192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4D00"/>
                </a:solidFill>
                <a:latin typeface="Helvetica Neue"/>
              </a:rPr>
              <a:t>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46177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8A8A"/>
                </a:solidFill>
                <a:latin typeface="Helvetica Neue"/>
              </a:rPr>
              <a:t>SALES &amp; GO-TO-MARKET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393192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4D00"/>
                </a:solidFill>
                <a:latin typeface="Helvetica Neue"/>
              </a:rPr>
              <a:t>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46177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8A8A"/>
                </a:solidFill>
                <a:latin typeface="Helvetica Neue"/>
              </a:rPr>
              <a:t>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00"/>
                </a:solidFill>
                <a:latin typeface="Helvetica Neue"/>
              </a:rPr>
              <a:t>12 —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0A0A0A"/>
                </a:solidFill>
                <a:latin typeface="Helvetica Neue"/>
              </a:rPr>
              <a:t>By 2030, 100,000 people</a:t>
            </a:r>
          </a:p>
          <a:p>
            <a:pPr algn="l">
              <a:lnSpc>
                <a:spcPct val="110000"/>
              </a:lnSpc>
            </a:pPr>
            <a:r>
              <a:rPr sz="3600" b="1">
                <a:solidFill>
                  <a:srgbClr val="0A0A0A"/>
                </a:solidFill>
                <a:latin typeface="Helvetica Neue"/>
              </a:rPr>
              <a:t>drink water from our machines every 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A0A0A"/>
                </a:solidFill>
                <a:latin typeface="Helvetica Neue"/>
              </a:rPr>
              <a:t>₹150–200 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365760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A0A0A"/>
                </a:solidFill>
                <a:latin typeface="Helvetica Neue"/>
              </a:rPr>
              <a:t>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47091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PLASTIC BOTTLES ELIMINATED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657600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A0A0A"/>
                </a:solidFill>
                <a:latin typeface="Helvetica Neue"/>
              </a:rPr>
              <a:t>5,000+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7091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A8A8A"/>
                </a:solidFill>
                <a:latin typeface="Helvetica Neue"/>
              </a:rPr>
              <a:t>MACHINES DEPLOYED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2636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Helvetica Neue"/>
              </a:rPr>
              <a:t>ACQUAHT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0A0A0A"/>
                </a:solidFill>
                <a:latin typeface="Helvetica Neue"/>
              </a:rPr>
              <a:t>The problem is real.</a:t>
            </a:r>
          </a:p>
          <a:p>
            <a:pPr algn="l">
              <a:lnSpc>
                <a:spcPct val="120000"/>
              </a:lnSpc>
            </a:pPr>
            <a:r>
              <a:rPr sz="4000" b="1">
                <a:solidFill>
                  <a:srgbClr val="0A0A0A"/>
                </a:solidFill>
                <a:latin typeface="Helvetica Neue"/>
              </a:rPr>
              <a:t>The technology works.</a:t>
            </a:r>
          </a:p>
          <a:p>
            <a:pPr algn="l">
              <a:lnSpc>
                <a:spcPct val="120000"/>
              </a:lnSpc>
            </a:pPr>
            <a:r>
              <a:rPr sz="4000" b="1">
                <a:solidFill>
                  <a:srgbClr val="0A0A0A"/>
                </a:solidFill>
                <a:latin typeface="Helvetica Neue"/>
              </a:rPr>
              <a:t>The market is ready.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4937760"/>
            <a:ext cx="10545775" cy="0"/>
          </a:xfrm>
          <a:prstGeom prst="line">
            <a:avLst/>
          </a:prstGeom>
          <a:ln w="9525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52120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4D00"/>
                </a:solidFill>
                <a:latin typeface="Helvetica Neue"/>
              </a:rPr>
              <a:t>We just need the capital to move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