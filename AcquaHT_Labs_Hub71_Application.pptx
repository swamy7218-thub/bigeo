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</a:rPr>
              <a:t>CLIMATE-TECH  ·  WATER INNOVATION  · 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</a:rPr>
              <a:t>AcquaHT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99F6E4"/>
                </a:solidFill>
              </a:rPr>
              <a:t>Making Water From 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</a:rPr>
              <a:t>Solar-powered Atmospheric Water Generators for a water-scarce world — starting with India.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40480"/>
            <a:ext cx="265176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9136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163M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26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Indians lack safe water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3840480"/>
            <a:ext cx="265176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9136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526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less energy than rivals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3840480"/>
            <a:ext cx="265176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136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₹2/L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26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delivered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19" y="3840480"/>
            <a:ext cx="265176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39136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$15B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526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market by 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Swamynathan Jerra — Founder &amp; CEO  |  admin@acquahtlabs.in  |  acquahtlabs.in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309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9488"/>
                </a:solidFill>
              </a:rPr>
              <a:t>Hub71+ ClimateTech Application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D9488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1628"/>
                </a:solidFill>
              </a:rPr>
              <a:t>The water crisis is here.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2.1 billion people cannot access safe drinking water today. Every existing solution is making it worse.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31720"/>
            <a:ext cx="2606040" cy="2011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D9488"/>
                </a:solidFill>
              </a:rPr>
              <a:t>2.1B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people lack safe
drinking water globally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WHO/UNICEF 2023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331720"/>
            <a:ext cx="2606040" cy="2011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423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D9488"/>
                </a:solidFill>
              </a:rPr>
              <a:t>163M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00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Indians drink contaminated
water daily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UNICEF India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331720"/>
            <a:ext cx="2606040" cy="2011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423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D9488"/>
                </a:solidFill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global water deficit
projected by 2030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UN Water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331720"/>
            <a:ext cx="2606040" cy="2011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423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D9488"/>
                </a:solidFill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200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Indian cities face
groundwater depletion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NITI Aayog 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</a:rPr>
              <a:t>Every existing solution has a fatal flaw: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37760"/>
            <a:ext cx="2606040" cy="15544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029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</a:rPr>
              <a:t>✕  Piped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3492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38% of rural India has no last-mile network. ₹2–5L per household to connect.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4937760"/>
            <a:ext cx="2606040" cy="15544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029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</a:rPr>
              <a:t>✕  Bottled Water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3492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240,000 nanoplastics per litre. ₹15–20/L cost. Supply fails during floods.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4937760"/>
            <a:ext cx="2606040" cy="15544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5029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</a:rPr>
              <a:t>✕  Conventional AWGs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3492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500–600 Wh/L energy draw. Fails below 50% RH. No IoT. No service network.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4937760"/>
            <a:ext cx="2606040" cy="15544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5029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</a:rPr>
              <a:t>✕  Borewell / 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53492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Groundwater refills in 75,000 years. 21 cities projected dry by 2030.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D9488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We pull clean water directly from 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F6E4"/>
                </a:solidFill>
              </a:rPr>
              <a:t>No pipes. No plastic. No groundwater. Just solar energy and atmospheric humidity.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Air Intake &amp; Filtration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Pre-filters remove dust, bacteria, pollen, VOCs. Works at 30–95% RH, 10–45°C.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Condensation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Refrigeration cools air below dew point. COP up to 4.0 L/kWh — 40% better than average.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Multi-Stage Purification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Sediment → Carbon → RO → UF → Mineral → Ozone. Exceeds WHO &amp; BIS standards.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63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Storage &amp;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83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Food-grade SS304 tank. Biodegradable sugarcane-pulp bottles. Zero nanoplastics.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32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IoT Smart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852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ESP32 cloud dashboard. Real-time TDS, RH, water level, fault alerts. 60% lower maintenance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828800"/>
            <a:ext cx="5212080" cy="4663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9488"/>
                </a:solidFill>
              </a:rPr>
              <a:t>TECHNOLOGY 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</a:rPr>
              <a:t>≤260 Wh/L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715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vs. 500–600 Wh/L industry average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081527"/>
            <a:ext cx="4572000" cy="18288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15467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</a:rPr>
              <a:t>4.0 L/kWh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538727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COP — best-in-class condensation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904487"/>
            <a:ext cx="4572000" cy="18288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39776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</a:rPr>
              <a:t>30% RH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616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lowest operating humidity in India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4727448"/>
            <a:ext cx="4572000" cy="18288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4800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</a:rPr>
              <a:t>221 L/day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184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max output per unit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5550408"/>
            <a:ext cx="4572000" cy="18288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5623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</a:rPr>
              <a:t>₹2–4/L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6007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delivered water 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61722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EAD4"/>
                </a:solidFill>
              </a:rPr>
              <a:t>Key moat: Only Indian AWG operating at 30% RH with solar-hybrid power — covers 60% of target geography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D9488"/>
                </a:solidFill>
              </a:rPr>
              <a:t>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Three products. One platform. Every segment.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All models: Wi-Fi control · Auto-defrost · IP54 rated · Filter replacement every 3–6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3566160" cy="43891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7280"/>
                </a:solidFill>
              </a:rPr>
              <a:t>HOUSEHOLDS &amp; CLINICS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</a:rPr>
              <a:t>AcquaHT-80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005840" cy="82296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</a:rPr>
              <a:t>80 L/day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</a:rPr>
              <a:t>Daily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926080"/>
            <a:ext cx="1005840" cy="82296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18488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</a:rPr>
              <a:t>5 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</a:rPr>
              <a:t>Power Draw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926080"/>
            <a:ext cx="1005840" cy="82296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</a:rPr>
              <a:t>₹2.8L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</a:rPr>
              <a:t>Unit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</a:rPr>
              <a:t>Target segments: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Rural families · PHCs · NGO kiosks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</a:rPr>
              <a:t>4.0 L/kWh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Operating range 10–45°C · IP54 rated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1691640"/>
            <a:ext cx="3566160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</a:rPr>
              <a:t>★ MOST POPULAR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CFBF1"/>
                </a:solidFill>
              </a:rPr>
              <a:t>COMMERCIAL &amp; SCHOOLS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AcquaHT-160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926080"/>
            <a:ext cx="1005840" cy="822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150 L/day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FBF1"/>
                </a:solidFill>
              </a:rPr>
              <a:t>Daily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2926080"/>
            <a:ext cx="1005840" cy="822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58968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~9 kW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FBF1"/>
                </a:solidFill>
              </a:rPr>
              <a:t>Power Draw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926080"/>
            <a:ext cx="1005840" cy="822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₹3.2L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FBF1"/>
                </a:solidFill>
              </a:rPr>
              <a:t>Unit Price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Target segments: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206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Schools · Hotels · Corporate campuses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F6E4"/>
                </a:solidFill>
              </a:rPr>
              <a:t>4.0 L/kWh efficiency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Operating range 10–45°C · IP54 rated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80" y="1691640"/>
            <a:ext cx="3566160" cy="43891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7280"/>
                </a:solidFill>
              </a:rPr>
              <a:t>INDUSTRIAL &amp; GOVT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</a:rPr>
              <a:t>AcquaHT-240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2926080"/>
            <a:ext cx="1005840" cy="82296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02168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</a:rPr>
              <a:t>250 L/day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2168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</a:rPr>
              <a:t>Daily Output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2926080"/>
            <a:ext cx="1005840" cy="82296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9448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</a:rPr>
              <a:t>~15 kW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</a:rPr>
              <a:t>Power Draw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332720" y="2926080"/>
            <a:ext cx="1005840" cy="82296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96728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</a:rPr>
              <a:t>₹3.5L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96728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</a:rPr>
              <a:t>Unit Price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</a:rPr>
              <a:t>Target segments: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4206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Municipalities · Military · Industry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</a:rPr>
              <a:t>4.0 L/kWh efficiency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Operating range 10–45°C · IP54 rated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</a:rPr>
              <a:t>Unit Economics (AcquaHT-80): COGS ~₹2.0L  ·  ASP ₹2.8–3.5L  ·  Gross Margin 28–32%  ·  Customer payback: 18–24 months vs. bottled water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D9488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India First. Then the World.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383280" cy="2286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$15.3B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Global AWG Market by 2030
19.2% CAGR — Spherical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63040"/>
            <a:ext cx="3383280" cy="2286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1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$2.8B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060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India AWG Addressable Market
Coastal + semi-arid priority states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383280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554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</a:rP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187451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₹47Cr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6060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3-Year Revenue Target FY2028
500 units × avg ₹3.1L/unit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India Revenue by Segment — FY2028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1760219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799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35%  Government / Municipalities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1408176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82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28%  Hospitality (Hotels / Resorts)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49240"/>
            <a:ext cx="10058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85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20%  NGO / Social Sector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52160"/>
            <a:ext cx="854964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8887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17%  Commercial / Industrial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Why MENA &amp; Abu Dhabi: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343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·  UAE imports 90% of food &amp; water — AWG is strategic national 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818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·  GCC water stress index: highest in world (Maplecroft 2024)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943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·  Abu Dhabi targets net zero by 2050 — AWG aligns with decarbonisation mandate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7698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·  Hub71+ ClimateTech pilot pipeline: direct access to Abu Dhabi Dept of Energy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62453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·  MENA AWG market: $420M by 2028, 22% CAGR — zero dominant local player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D9488"/>
                </a:solidFill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</a:rPr>
              <a:t>MVP built. IP in filing. Won rooms that took others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21945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79" y="1508760"/>
            <a:ext cx="1188720" cy="25603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B21B6"/>
                </a:solidFill>
              </a:rPr>
              <a:t>Accelerator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</a:rPr>
              <a:t>ISB AIC Social Impact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423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12 of 700 applicants selected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743200" cy="21945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508760"/>
            <a:ext cx="1188720" cy="2560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1790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D4ED8"/>
                </a:solidFill>
              </a:rPr>
              <a:t>Government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</a:rPr>
              <a:t>MeitY TIDE 2.0 — IIM Calcutta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23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EiR · Equity-free grant · Lab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743200" cy="21945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508760"/>
            <a:ext cx="1188720" cy="25603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1790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2400E"/>
                </a:solidFill>
              </a:rPr>
              <a:t>Fellowship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</a:rPr>
              <a:t>Mercedes-Benz beVisioneers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23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1 of 1,000 global innovators selected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371600"/>
            <a:ext cx="2743200" cy="21945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508760"/>
            <a:ext cx="118872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51790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65F46"/>
                </a:solidFill>
              </a:rPr>
              <a:t>1st Prize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</a:rPr>
              <a:t>IIM Shillong + Meghalaya Govt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423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₹2L prize + 3yr incubation + state water board intro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40480"/>
            <a:ext cx="2743200" cy="21945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79" y="3977640"/>
            <a:ext cx="1188720" cy="256032"/>
          </a:xfrm>
          <a:prstGeom prst="rect">
            <a:avLst/>
          </a:prstGeom>
          <a:solidFill>
            <a:srgbClr val="C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9867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E7590"/>
                </a:solidFill>
              </a:rPr>
              <a:t>Global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343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</a:rPr>
              <a:t>UN Habitat Youth Assembly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892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Top 40 globally · 12 countries · Multilateral funding access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840480"/>
            <a:ext cx="2743200" cy="21945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3977640"/>
            <a:ext cx="1188720" cy="256032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39867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2400E"/>
                </a:solidFill>
              </a:rPr>
              <a:t>National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343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</a:rPr>
              <a:t>UNDP / Citi Youth Co:Lab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892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National Springboard Final 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840480"/>
            <a:ext cx="2743200" cy="21945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977640"/>
            <a:ext cx="1188720" cy="2560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9867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12E81"/>
                </a:solidFill>
              </a:rPr>
              <a:t>State Govt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343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</a:rPr>
              <a:t>Intinta Innovator — TSIC Award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892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Telangana State Innovation Cell · Govt pilot channel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3840480"/>
            <a:ext cx="2743200" cy="21945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3977640"/>
            <a:ext cx="1188720" cy="256032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39867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Ecosystem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343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</a:rPr>
              <a:t>T-Hub · NVIDIA Inception · IIT Hyd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892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Hardware labs · Cloud credits · Deep-tech talent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D9488"/>
                </a:solidFill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Founder-market fit at every 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A team that lived the problem, built the hardware, and won the rooms that matter.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743200" cy="47548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64008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Swamynathan Jerra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9488"/>
                </a:solidFill>
              </a:rPr>
              <a:t>Founder &amp; 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</a:rPr>
              <a:t>EiR IIMCIP · Mercedes-Benz beVisioneers
Ex: TGIC, inSIG 2025. B.Tech Mechanical.
Grew up in Siddipet — lived the water
problem firsthand.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737360"/>
            <a:ext cx="2743200" cy="47548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874519"/>
            <a:ext cx="640080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920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060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Vaidhatri Sanugula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0175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9488"/>
                </a:solidFill>
              </a:rPr>
              <a:t>Co-Founder — Water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42900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</a:rPr>
              <a:t>M.Sc Biotechnology. Leads purification R&amp;D
&amp; WHO compliance. Designed multi-stage
filtration with &gt;6-log pathogen kill.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737360"/>
            <a:ext cx="2743200" cy="47548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874519"/>
            <a:ext cx="6400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920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060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Sumanth Malyala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175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9488"/>
                </a:solidFill>
              </a:rPr>
              <a:t>Co-Founder — R&amp;D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2900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</a:rPr>
              <a:t>B.Tech Mechanical. Optimised AWG COP
from 2.5→4.0 L/kWh in 18 months.
Designed AcquaHT-80 specs. Manages
STPI IoT OpenLab &amp; MeitY labs.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737360"/>
            <a:ext cx="2743200" cy="47548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1874519"/>
            <a:ext cx="64008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1920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6060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Sai Smaran Nalla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175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9488"/>
                </a:solidFill>
              </a:rPr>
              <a:t>Co-Founder — BD &amp; IoT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42900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</a:rPr>
              <a:t>B.Tech CS. Built ESP32 cloud monitoring
stack from scratch. Manages T-Hub,
NVIDIA Inception, Microsoft Founders Hub.
Drives NGO/CSR &amp; govt pipeline.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9488"/>
                </a:solidFill>
              </a:rPr>
              <a:t>Backed by: IIT Hyderabad  ·  T-Hub  ·  NVIDIA Inception  ·  Microsoft Founders Hub  ·  STPI IoT OpenLab  ·  MeitY TIDE 2.0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D9488"/>
                </a:solidFill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Three forces converging. This window opens once.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657600" cy="36576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</a:rPr>
              <a:t>Climate Acceleration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India's monsoon variability up 42% in 15 years. 2024: hottest year on record. Atmospheric humidity at all-time highs. Water-stress events cost India ₹2.5T/year — structural demand for alternatives.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463040"/>
            <a:ext cx="3657600" cy="36576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☀️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03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</a:rPr>
              <a:t>Solar Cost Collapse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060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Indian solar module prices down 85% since 2015. Our core energy cost dropped with it. PM Kusum scheme provides subsidised solar for rural installs. Grid parity crossed 2023 — off-grid solar cheaper than diesel in 70% of rural India.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463040"/>
            <a:ext cx="3657600" cy="36576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03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</a:rPr>
              <a:t>Policy &amp; Market Pull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060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Jal Jeevan Mission: ₹3.6L Crore committed to water access — creates institutional procurement demand. NITI Aayog declared water a national emergency 2019. Budget allocation doubled. State govts actively tendering decentralised water infra.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</a:rPr>
              <a:t>Why Abu Dhabi &amp; Hub71 — Now: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715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 UAE imports 90% of water — AWG is strategic national infrastructure, not just a startup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126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 Hub71+ ClimateTech = direct pipeline to Abu Dhabi Dept of Energy and Mubadala Investment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15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 MENA AWG market: $420M by 2028, 22% CAGR — zero dominant local player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6126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 AED 250K incentive + WeWork office + visa support = de-risked international expansion from Day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D9488"/>
                </a:solidFill>
              </a:rPr>
              <a:t>IMPACT +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Every unit is a measurable development outcome.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01168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40,150 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safe water/unit/year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325880"/>
            <a:ext cx="201168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39903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40,000+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11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plastic bottles eliminated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25880"/>
            <a:ext cx="201168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39903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~50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011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people served per unit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1325880"/>
            <a:ext cx="201168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39903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₹3–6L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011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saved vs. bottled water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325880"/>
            <a:ext cx="201168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39903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1.2 tCO₂e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011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carbon offset/unit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AD4"/>
                </a:solidFill>
              </a:rPr>
              <a:t>UN SDGs: 6 Clean Water  ·  3 Good Health  ·  13 Climate Action  ·  11 Sustainable Cities  ·  10 Reduced Inequalities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Raising ₹10 Lakh Seed 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F6E4"/>
                </a:solidFill>
              </a:rPr>
              <a:t>To complete IP filings, finish integrations, and ship our first pilot — unlocking a milestone-linked growth-stage tranche of ₹50L–₹1Cr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26280"/>
            <a:ext cx="2651760" cy="1554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5720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74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₹4.0L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IP &amp; Patents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4526280"/>
            <a:ext cx="2651760" cy="1554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45720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074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₹3.0L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Integrations &amp; MVP-to-Pilot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526280"/>
            <a:ext cx="2651760" cy="1554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5720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074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₹2.0L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Compliance &amp; Testing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4526280"/>
            <a:ext cx="2651760" cy="1554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45720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10%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5074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₹1.0L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First Pilot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63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</a:rPr>
              <a:t>Growth-stage triggers (6–9 months): 1–2 pilots live · ≥1 patent filed · ≥1 institutional LOI → ₹50L–₹1Cr tranche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Clean water shouldn't depend on your pin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F6E4"/>
                </a:solidFill>
              </a:rPr>
              <a:t>We are solving India's water crisis from the air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</a:rPr>
              <a:t>Join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5176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6451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2.1B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257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people without safe water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4572000"/>
            <a:ext cx="265176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6451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$15B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257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market by 2030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572000"/>
            <a:ext cx="265176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6451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19.2%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257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CAGR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4572000"/>
            <a:ext cx="2651760" cy="118872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46451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</a:rPr>
              <a:t>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257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FBF1"/>
                </a:solidFill>
              </a:rPr>
              <a:t>is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263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Swamynathan Jerra  |  Founder &amp; CEO  |  admin@acquahtlabs.in  |  acquahtlabs.in  |  Hyderabad, Telangana,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