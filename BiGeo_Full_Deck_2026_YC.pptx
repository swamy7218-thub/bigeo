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600" b="1" i="0">
                <a:solidFill>
                  <a:srgbClr val="000000"/>
                </a:solidFill>
                <a:latin typeface="Calibri"/>
              </a:rPr>
              <a:t>BiGeo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FF6600"/>
                </a:solidFill>
                <a:latin typeface="Calibri"/>
              </a:rPr>
              <a:t>Rural India's Last-Mile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Calibri"/>
              </a:rPr>
              <a:t>800M people. Zero addressable locations. Until 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0624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Swamy  ·  admin@bigeo.in  ·  bigeo.in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MeitY GENESIS  ·  IIM Udaipur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alibri"/>
              </a:rPr>
              <a:t>Not all addresses are equal.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3749039" cy="2560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Urban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123 MG Road,
Bengaluru 560001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Calibri"/>
              </a:rPr>
              <a:t>✓  Located on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868680"/>
            <a:ext cx="3749039" cy="25603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0058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Rural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46304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Near the temple,
Bhoompally, Siddipet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2402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✗  Location not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"Near banyan tree, behind Raju shop, Yellareddyguda, Siddipet" — a real delivery address Google Maps cannot find.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9144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 i="0">
                <a:solidFill>
                  <a:srgbClr val="000000"/>
                </a:solidFill>
                <a:latin typeface="Calibri"/>
              </a:rPr>
              <a:t>800,000,000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666666"/>
                </a:solidFill>
                <a:latin typeface="Calibri"/>
              </a:rPr>
              <a:t>Indians living in villages with no real digital address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9144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 i="0">
                <a:solidFill>
                  <a:srgbClr val="FF6600"/>
                </a:solidFill>
                <a:latin typeface="Calibri"/>
              </a:rPr>
              <a:t>27%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666666"/>
                </a:solidFill>
                <a:latin typeface="Calibri"/>
              </a:rPr>
              <a:t>rural delivery orders fail because of bad addresses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Source: Shiprocket Rural Logistics Report 2023–24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  <a:latin typeface="Calibri"/>
              </a:rPr>
              <a:t>One API call. Any village. Any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256032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Near banyan tree,
Yellareddyguda,
Siddipet,
Telangana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371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6600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731520"/>
            <a:ext cx="192024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914400"/>
            <a:ext cx="19202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BiGeo
VAAHAN
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371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660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731520"/>
            <a:ext cx="256032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804672"/>
            <a:ext cx="23774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village: Yellareddyguda
mandal: Siddipet
district: Siddipet
lat: 18.10344
lng: 78.84707
confidence: 0.95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2651760" cy="15544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6600"/>
                </a:solidFill>
                <a:latin typeface="Calibri"/>
              </a:rPr>
              <a:t>&lt; 2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end-to-end 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834640"/>
            <a:ext cx="2651760" cy="15544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97180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6600"/>
                </a:solidFill>
                <a:latin typeface="Calibri"/>
              </a:rPr>
              <a:t>0.95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6118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confidence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2651760" cy="15544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97180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6600"/>
                </a:solidFill>
                <a:latin typeface="Calibri"/>
              </a:rPr>
              <a:t>22 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6118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incl. Telugu, Hindi, Tamil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Live at: v34s17v3h2.execute-api.ap-south-1.amazonaws.com/v1/parse  |  Key: demo-public-readonly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 i="0">
                <a:solidFill>
                  <a:srgbClr val="000000"/>
                </a:solidFill>
                <a:latin typeface="Calibri"/>
              </a:rPr>
              <a:t>1,000,000+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F6600"/>
                </a:solidFill>
                <a:latin typeface="Calibri"/>
              </a:rPr>
              <a:t>GPS-tagged rural locations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alibri"/>
              </a:rPr>
              <a:t>815K habitations (PMGSY Gov data)  ·  165K post offices  ·  649K villages  ·  36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2651760" cy="14630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493008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F6600"/>
                </a:solidFill>
                <a:latin typeface="Calibri"/>
              </a:rPr>
              <a:t>815K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PMGSY GeoSadak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Ministry of Rural Dev
habitation GPS 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3383280"/>
            <a:ext cx="2651760" cy="14630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3493008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F6600"/>
                </a:solidFill>
                <a:latin typeface="Calibri"/>
              </a:rPr>
              <a:t>649K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977639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LGD Village 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42976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All villages across
36 states + 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383280"/>
            <a:ext cx="2651760" cy="14630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493008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F6600"/>
                </a:solidFill>
                <a:latin typeface="Calibri"/>
              </a:rPr>
              <a:t>165K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77639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India Post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976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Post offices with
verified lat/lon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5 government datasets. 3 months of ETL. Not downloadable from anywhere.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4-Layer Resolution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alibri"/>
              </a:rPr>
              <a:t>Every address passes four stages before we return a coordinate.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234440" cy="2011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2344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Address
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28800"/>
            <a:ext cx="137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097280"/>
            <a:ext cx="1234440" cy="2011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097280"/>
            <a:ext cx="12344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AWS Bedrock
KB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828800"/>
            <a:ext cx="137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097280"/>
            <a:ext cx="1234440" cy="2011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097280"/>
            <a:ext cx="12344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Claude
Sonnet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828800"/>
            <a:ext cx="137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097280"/>
            <a:ext cx="1234440" cy="2011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097280"/>
            <a:ext cx="12344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HERE Maps
GPS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828800"/>
            <a:ext cx="137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1097280"/>
            <a:ext cx="1234440" cy="2011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097280"/>
            <a:ext cx="12344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Pincode
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828800"/>
            <a:ext cx="137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097280"/>
            <a:ext cx="1234440" cy="2011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097280"/>
            <a:ext cx="12344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JSON
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46120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Raw address
any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246120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Vector search
1M+ 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246120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Disambiguate
candidates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246120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Validate GPS
coordinates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246120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19,559 pincode
centroid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246120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lat/lng/village
confidence/source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206240"/>
            <a:ext cx="274320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42793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6600"/>
                </a:solidFill>
                <a:latin typeface="Calibri"/>
              </a:rPr>
              <a:t>&lt; 2 seconds end-to-end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666666"/>
                </a:solidFill>
                <a:latin typeface="Calibri"/>
              </a:rPr>
              <a:t>Actual API response. Not a mockup.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Input: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2743200" cy="10515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0"/>
            <a:ext cx="2468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H.No 3-12, near Govt School,
Narsapur, Medak 502313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Output: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274320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2468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5E5"/>
                </a:solidFill>
                <a:latin typeface="Calibri"/>
              </a:rPr>
              <a:t>{
"village": "Narsapur",
"lat": 17.772,
"lng": 78.299,
"confidence": 0.78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594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Input: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868680"/>
            <a:ext cx="2743200" cy="10515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914400"/>
            <a:ext cx="2468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Opp water tank, Bhoompally
village, Siddipet Telangana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Output: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7832" y="2331720"/>
            <a:ext cx="274320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2423160"/>
            <a:ext cx="2468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5E5"/>
                </a:solidFill>
                <a:latin typeface="Calibri"/>
              </a:rPr>
              <a:t>{
"village": "Bhoompally",
"lat": 18.103,
"lng": 78.847,
"confidence": 0.80,
"gps_source": "here-maps"
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594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Input: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868680"/>
            <a:ext cx="2743200" cy="10515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914400"/>
            <a:ext cx="2468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Opp ZP school, Chinnakodur,
Siddipet 502103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2057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Output: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2331720"/>
            <a:ext cx="274320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2423160"/>
            <a:ext cx="2468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5E5"/>
                </a:solidFill>
                <a:latin typeface="Calibri"/>
              </a:rPr>
              <a:t>{
"village": "Chinnakodur",
"lat": 17.996,
"lng": 78.815,
"confidence": 0.92,
"gps_source": "here-maps"
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Test at bigeo.in  ·  Endpoint: v34s17v3h2.execute-api.ap-south-1.amazonaws.com/v1/parse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What's 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Calibri"/>
              </a:rPr>
              <a:t>Production on AWS ap-south-1. Not a prototype.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Calibri"/>
              </a:rPr>
              <a:t>VAAHAN API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32588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Production (AWS Lambda + API Gateway)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POST /parse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80136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single address, &lt; 2 second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76856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POST /parse/bulk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276856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up to 1,000 addresses per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5234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POST /register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75234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API key provisioning + email 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2783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Bedrock KB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2783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1M+ locations vector-indexed, semantic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HERE Maps GPS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70332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with 19,559 pincode centroid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7880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Mixpanel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17880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analytics on every parse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32588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Calibri"/>
              </a:rPr>
              <a:t>India Address Graph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32588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Geocoding Backend (FastAPI + PostGIS)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180136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649,529 villages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80136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loaded from LGD directory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276856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6,932 subdistricts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276856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fully indexed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752344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165,627 post offices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5234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with verified coordinates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227832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19,559 pincodes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2783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in DynamoDB with GPS centroids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370332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Trigram GIN indexes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0332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fuzzy village name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17880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Reverse geocode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17880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nearest pincode via KNN (GPS → village)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1143000"/>
            <a:ext cx="12700" cy="374903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Calibri"/>
              </a:rPr>
              <a:t>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868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Calibri"/>
              </a:rPr>
              <a:t>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868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Calibri"/>
              </a:rPr>
              <a:t>Price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500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₹0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10,000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0116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₹999/mo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100,000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₹2,999/mo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3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91839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1,000,000 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291839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₹9,999/mo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86200"/>
            <a:ext cx="8595360" cy="5943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  <a:latin typeface="Calibri"/>
              </a:rP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931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Unlimited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931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  <a:latin typeface="Calibri"/>
              </a:rPr>
              <a:t>Custom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1772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4681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6600"/>
                </a:solidFill>
                <a:latin typeface="Calibri"/>
              </a:rPr>
              <a:t>Like Stripe. Pay per use. No setup. 72% gross margin at Scale tier.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Calibri"/>
              </a:rPr>
              <a:t>Why nobody else solves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Every major mapping provider has the same blind spot.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1887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Urban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1887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Rural Struct.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188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Rural Unstruct.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18872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Logistics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Google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64592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64592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645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64592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219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HERE Maps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2219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221992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221992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221992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98064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MapMyIndia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98064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798064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798064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798064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  <a:latin typeface="Calibri"/>
              </a:rPr>
              <a:t>~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374136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India 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374136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3374136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374136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374136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904488"/>
            <a:ext cx="8595360" cy="5486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5020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  <a:latin typeface="Calibri"/>
              </a:rPr>
              <a:t>BiGeo VAAHAN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950208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950208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950208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950208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Nobody has cracked Tier 3/4 rural addresses at production API quality. Until BiGeo.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libri"/>
              </a:rPr>
              <a:t>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2834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i="0">
                <a:solidFill>
                  <a:srgbClr val="000000"/>
                </a:solidFill>
                <a:latin typeface="Calibri"/>
              </a:rPr>
              <a:t>$4.2B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6600"/>
                </a:solidFill>
                <a:latin typeface="Calibri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34640"/>
            <a:ext cx="2834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Last-mile logistics
India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914400"/>
            <a:ext cx="2834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i="0">
                <a:solidFill>
                  <a:srgbClr val="000000"/>
                </a:solidFill>
                <a:latin typeface="Calibri"/>
              </a:rPr>
              <a:t>$1.89B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6600"/>
                </a:solidFill>
                <a:latin typeface="Calibri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34640"/>
            <a:ext cx="2834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Location-based Services
India 2025 (MarketsandMarkets)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914400"/>
            <a:ext cx="2834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i="0">
                <a:solidFill>
                  <a:srgbClr val="000000"/>
                </a:solidFill>
                <a:latin typeface="Calibri"/>
              </a:rP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7744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6600"/>
                </a:solidFill>
                <a:latin typeface="Calibri"/>
              </a:rPr>
              <a:t>YoY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834640"/>
            <a:ext cx="2834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Rural e-commerce
India (Bain &amp; Co)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3703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6600"/>
                </a:solidFill>
                <a:latin typeface="Calibri"/>
              </a:rPr>
              <a:t>ONDC mandate is making rural address resolution a compliance requirement, not a nice-to-have.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9.4L+ monthly ONDC transactions in tier-2/3 cities, all requiring structured address parsing.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3 paying verticals. Same API.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834640" cy="3931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2468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  <a:latin typeface="Calibri"/>
              </a:rPr>
              <a:t>E-Commerce &amp;
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Reduce 27% rural RTO to under 10%.
₹180 saved per failed delivery.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  <a:latin typeface="Calibri"/>
              </a:rPr>
              <a:t>Buyers: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Delhivery · Shadowfax · Porter
Meesho · ONDC merchants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914400"/>
            <a:ext cx="2834640" cy="3931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051560"/>
            <a:ext cx="2468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  <a:latin typeface="Calibri"/>
              </a:rPr>
              <a:t>Rural Fintech
&amp;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78308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Address verification for KYC,
loan disbursement, insurance claims.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92608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  <a:latin typeface="Calibri"/>
              </a:rPr>
              <a:t>Buyers: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32004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Aye Finance · Spice Money
Avail Finance · Rural MFIs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914400"/>
            <a:ext cx="2834640" cy="3931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051560"/>
            <a:ext cx="2468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  <a:latin typeface="Calibri"/>
              </a:rPr>
              <a:t>Government &amp;
eGovernance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78308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Geocode beneficiaries for PM-KISAN,
PM Awas Yojana, ration cards.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92608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  <a:latin typeface="Calibri"/>
              </a:rPr>
              <a:t>Buyers: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2004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State NIC offices · CSC centres
eGovernance vendors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✓  </a:t>
            </a:r>
            <a:r>
              <a:rPr sz="2600" b="1">
                <a:solidFill>
                  <a:srgbClr val="000000"/>
                </a:solidFill>
                <a:latin typeface="Calibri"/>
              </a:rPr>
              <a:t>Selected</a:t>
            </a:r>
            <a:r>
              <a:rPr sz="2600" b="0">
                <a:solidFill>
                  <a:srgbClr val="666666"/>
                </a:solidFill>
                <a:latin typeface="Calibri"/>
              </a:rPr>
              <a:t> — MeitY GENESIS, Govt of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✓  </a:t>
            </a:r>
            <a:r>
              <a:rPr sz="2600" b="1">
                <a:solidFill>
                  <a:srgbClr val="000000"/>
                </a:solidFill>
                <a:latin typeface="Calibri"/>
              </a:rPr>
              <a:t>Incubated</a:t>
            </a:r>
            <a:r>
              <a:rPr sz="2600" b="0">
                <a:solidFill>
                  <a:srgbClr val="666666"/>
                </a:solidFill>
                <a:latin typeface="Calibri"/>
              </a:rPr>
              <a:t> — IIM Udaipur (₹1L grant)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4825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✓  </a:t>
            </a:r>
            <a:r>
              <a:rPr sz="2600" b="1">
                <a:solidFill>
                  <a:srgbClr val="000000"/>
                </a:solidFill>
                <a:latin typeface="Calibri"/>
              </a:rPr>
              <a:t>Live</a:t>
            </a:r>
            <a:r>
              <a:rPr sz="2600" b="0">
                <a:solidFill>
                  <a:srgbClr val="666666"/>
                </a:solidFill>
                <a:latin typeface="Calibri"/>
              </a:rPr>
              <a:t> — Production API, not a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9504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✓  </a:t>
            </a:r>
            <a:r>
              <a:rPr sz="2600" b="1">
                <a:solidFill>
                  <a:srgbClr val="000000"/>
                </a:solidFill>
                <a:latin typeface="Calibri"/>
              </a:rPr>
              <a:t>Funded</a:t>
            </a:r>
            <a:r>
              <a:rPr sz="2600" b="0">
                <a:solidFill>
                  <a:srgbClr val="666666"/>
                </a:solidFill>
                <a:latin typeface="Calibri"/>
              </a:rPr>
              <a:t> — ₹4.75L raised (₹3.75L MeitY + ₹1L IIT Hyderabad)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30752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  <a:latin typeface="Calibri"/>
              </a:rPr>
              <a:t>✓  </a:t>
            </a:r>
            <a:r>
              <a:rPr sz="2600" b="1">
                <a:solidFill>
                  <a:srgbClr val="000000"/>
                </a:solidFill>
                <a:latin typeface="Calibri"/>
              </a:rPr>
              <a:t>Warm</a:t>
            </a:r>
            <a:r>
              <a:rPr sz="2600" b="0">
                <a:solidFill>
                  <a:srgbClr val="666666"/>
                </a:solidFill>
                <a:latin typeface="Calibri"/>
              </a:rPr>
              <a:t> — 5 logistics / fintech ops conversations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617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alibri"/>
              </a:rPr>
              <a:t>$10,000 AWS credits active  ·  GitHub Enterprise credits active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011680" cy="3931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6600"/>
                </a:solidFill>
                <a:latin typeface="Calibri"/>
              </a:rPr>
              <a:t>Swamy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1737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TSIC Fellow · BeVisioneers (Mercedes-Benz)
Perplexity Builders · MeitY Genesis
Rural supply chain + AI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1" y="914400"/>
            <a:ext cx="2011680" cy="3931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1" y="102412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6600"/>
                </a:solidFill>
                <a:latin typeface="Calibri"/>
              </a:rPr>
              <a:t>Sai Smaran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1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Co-founder &amp; 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1" y="1874519"/>
            <a:ext cx="1737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Ex-AT&amp;T · Distributed systems
AWS-certified solutions architect
10M+ req/day scale experience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914400"/>
            <a:ext cx="2011680" cy="3931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102412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6600"/>
                </a:solidFill>
                <a:latin typeface="Calibri"/>
              </a:rPr>
              <a:t>Akhil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Co-founder &amp; Legal/Ops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1874519"/>
            <a:ext cx="1737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Electronics Eng + Law (dual degree)
Regulatory &amp; compliance strategy
DPIIT recognition process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3136" y="914400"/>
            <a:ext cx="2011680" cy="3931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0296" y="102412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6600"/>
                </a:solidFill>
                <a:latin typeface="Calibri"/>
              </a:rPr>
              <a:t>Shanmukha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Co-founder &amp;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1874519"/>
            <a:ext cx="1737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SDE at Verizon · Python/FastAPI/PostGIS
India Address Graph owner
ETL pipelines for 1M+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Incubated at IIM Udaipur via MeitY Genesis  ·  $10,000 AWS credits active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The ONDC Mandate Is Our Tailwind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ONDC Beckn v1.2 requires structured location data. Rural merchants can't comply without BiGeo.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011680" cy="2011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81328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6600"/>
                </a:solidFill>
                <a:latin typeface="Calibri"/>
              </a:rPr>
              <a:t>9.4L+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860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Monthly ONDC
transactions
in tier-2/3 cities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1" y="1371600"/>
            <a:ext cx="2011680" cy="2011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1" y="1481328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6600"/>
                </a:solidFill>
                <a:latin typeface="Calibri"/>
              </a:rPr>
              <a:t>7.5M+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1" y="22860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Sellers
onboarded
to ONDC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64" y="1371600"/>
            <a:ext cx="2011680" cy="2011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481328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6600"/>
                </a:solidFill>
                <a:latin typeface="Calibri"/>
              </a:rPr>
              <a:t>Day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2860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BiGeo ONDC
compliance
layer ready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03136" y="1371600"/>
            <a:ext cx="2011680" cy="2011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1481328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6600"/>
                </a:solidFill>
                <a:latin typeface="Calibri"/>
              </a:rPr>
              <a:t>₹0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22860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Cost to mandate
structured address
— it's in the spec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1828800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566160"/>
            <a:ext cx="18288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BAP receives
rural address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3977639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660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50591" y="3566160"/>
            <a:ext cx="182880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1" y="3566160"/>
            <a:ext cx="18288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BAP calls
BiGeo /parse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3977639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660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26864" y="3566160"/>
            <a:ext cx="1828800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3566160"/>
            <a:ext cx="18288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BiGeo returns
GPS +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5" y="3977639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6600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03136" y="3566160"/>
            <a:ext cx="182880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3136" y="3566160"/>
            <a:ext cx="18288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Calibri"/>
              </a:rPr>
              <a:t>Delivery
completes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Result: every ONDC rural order becomes deliverable. BiGeo = ONDC compliance infrastructure.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Calibri"/>
              </a:rPr>
              <a:t>NOW –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898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First paying customer 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756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India Address Graph →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614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Google Maps cross-validation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4472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DPIIT startup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133087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10K address pilot with logistics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Calibri"/>
              </a:rPr>
              <a:t>Q4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898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3 paying customers (logistics + fintech)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0756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Expand KB to 5M locations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614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IndicBERT NER: 22-language address parsing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472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Async bulk API (100K address jobs)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133087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First fintech KYC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Calibri"/>
              </a:rPr>
              <a:t>Q1–Q2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3898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10 enterprise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0756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ONDC compliance layer productised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7614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Reverse geocode (GPS → village/pincode)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Real-time delivery tracking enrichment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133087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▸  Series A readiness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868680"/>
            <a:ext cx="12700" cy="40233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868680"/>
            <a:ext cx="12700" cy="402336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Calibri"/>
              </a:rPr>
              <a:t>Raising ₹1 – 2 Crore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40% Engineering  ·  30% GTM  ·  20% Data  ·  10% 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9659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6600"/>
                </a:solidFill>
                <a:latin typeface="Calibri"/>
              </a:rPr>
              <a:t>3 paying customers. ₹2–5/call. 1M+ calls/month. 12 months.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Calibri"/>
              </a:rPr>
              <a:t>Data:  </a:t>
            </a:r>
            <a:r>
              <a:rPr sz="1400" b="0">
                <a:solidFill>
                  <a:srgbClr val="666666"/>
                </a:solidFill>
                <a:latin typeface="Calibri"/>
              </a:rPr>
              <a:t>Load state shapefiles, PMGSY habitation CSV, expand Bedrock KB to 5M 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101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Calibri"/>
              </a:rPr>
              <a:t>GTM:  </a:t>
            </a:r>
            <a:r>
              <a:rPr sz="1400" b="0">
                <a:solidFill>
                  <a:srgbClr val="666666"/>
                </a:solidFill>
                <a:latin typeface="Calibri"/>
              </a:rPr>
              <a:t>Pilot 3 logistics companies, convert 1 to paid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Calibri"/>
              </a:rPr>
              <a:t>Team:  </a:t>
            </a:r>
            <a:r>
              <a:rPr sz="1400" b="0">
                <a:solidFill>
                  <a:srgbClr val="666666"/>
                </a:solidFill>
                <a:latin typeface="Calibri"/>
              </a:rPr>
              <a:t>First hire: backend engineer (ETL pipelines + API reliability)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BiGeo  ·  Swamy  ·  admin@bigeo.in  ·  bigeo.in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95604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API: v34s17v3h2.execute-api.ap-south-1.amazonaws.com/v1/parse  ·  Key: demo-public-readonly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