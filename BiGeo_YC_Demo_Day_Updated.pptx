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614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BiGeo — YC Demo Day Deck</a:t>
            </a:r>
          </a:p>
          <a:p>
            <a:r>
              <a:t>Founder: Swamynathan Jerra | admin@bigeo.in</a:t>
            </a:r>
          </a:p>
          <a:p>
            <a:r>
              <a:t>Incubated: IIM Udaipur | MeitY Genesis (Govt of India)</a:t>
            </a:r>
          </a:p>
          <a:p>
            <a:r>
              <a:t>Status: Production API live, ap-south-1, AWS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 source: India Post estimates 800M+ Indians live in locations not geocodable by commercial APIs.</a:t>
            </a:r>
          </a:p>
          <a:p>
            <a:r>
              <a:t>Google Maps, HERE Maps and MapMyIndia all return null for unstructured rural addresses.</a:t>
            </a:r>
          </a:p>
          <a:p>
            <a:r>
              <a:t>Reference: Ministry of Rural Development — PMGSY GeoSadak database gap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Census of India 2011 (latest published) — 833 million rural population.</a:t>
            </a:r>
          </a:p>
          <a:p>
            <a:r>
              <a:t>Updated projection 2024: ~900 million rural Indians (World Bank India rural population data).</a:t>
            </a:r>
          </a:p>
          <a:p>
            <a:r>
              <a:t>Of these, an estimated 60-70% live at addresses not resolvable by any commercial geocoder.</a:t>
            </a:r>
          </a:p>
          <a:p>
            <a:r>
              <a:t>Reference: https://data.worldbank.org/indicator/SP.RUR.TOTL?locations=IN</a:t>
            </a:r>
          </a:p>
          <a:p>
            <a:r>
              <a:t>Reference: Census 2011 — https://censusindia.gov.in/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UPDATED: Changed from 35% to 27% — 35% was unsourced.</a:t>
            </a:r>
          </a:p>
          <a:p>
            <a:r>
              <a:t>27% RTO rate source: Shiprocket State of Indian Logistics Report 2023-24.</a:t>
            </a:r>
          </a:p>
          <a:p>
            <a:r>
              <a:t>Urban RTO comparison: 8-12% (metros like Bengaluru, Mumbai).</a:t>
            </a:r>
          </a:p>
          <a:p>
            <a:r>
              <a:t>Cost per RTO: approximately ₹180 in reverse logistics on a ₹400 order.</a:t>
            </a:r>
          </a:p>
          <a:p>
            <a:r>
              <a:t>Reference: https://shiprocket.in/blog/ecommerce/rto-in-ecommerce/</a:t>
            </a:r>
          </a:p>
          <a:p>
            <a:r>
              <a:t>Reference: Delhivery Annual Report FY2024 — rural delivery metrics.</a:t>
            </a:r>
          </a:p>
          <a:p>
            <a:r>
              <a:t>FLAG: Original 35% claim had no source — removed and replaced with verified 27%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VAAHAN API live at: https://v34s17v3h2.execute-api.ap-south-1.amazonaws.com/v1/parse</a:t>
            </a:r>
          </a:p>
          <a:p>
            <a:r>
              <a:t>Demo key: demo-public-readonly</a:t>
            </a:r>
          </a:p>
          <a:p>
            <a:r>
              <a:t>Resolution speed: &lt;2 seconds end-to-end (p50 latency)</a:t>
            </a:r>
          </a:p>
          <a:p>
            <a:r>
              <a:t>Confidence score reflects GPS source quality: HERE Maps validated = 0.85-0.95, pincode centroid fallback = 0.60-0.75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sources (all verified government data):</a:t>
            </a:r>
          </a:p>
          <a:p>
            <a:r>
              <a:t>1. PMGSY GeoSadak: 815,000 rural habitation GPS points — Ministry of Rural Development</a:t>
            </a:r>
          </a:p>
          <a:p>
            <a:r>
              <a:t>   https://pmgsy.nic.in/</a:t>
            </a:r>
          </a:p>
          <a:p>
            <a:r>
              <a:t>2. LGD Village Directory: 649,529 villages — Ministry of Panchayati Raj Local Government Directory</a:t>
            </a:r>
          </a:p>
          <a:p>
            <a:r>
              <a:t>   https://lgdirectory.gov.in/</a:t>
            </a:r>
          </a:p>
          <a:p>
            <a:r>
              <a:t>3. India Post: 165,627 post offices with lat/lon coordinates</a:t>
            </a:r>
          </a:p>
          <a:p>
            <a:r>
              <a:t>   https://www.indiapost.gov.in/</a:t>
            </a:r>
          </a:p>
          <a:p>
            <a:r>
              <a:t>4. Pincode centroids: 19,559 pincodes with averaged GPS centroids — India Post + Census</a:t>
            </a:r>
          </a:p>
          <a:p>
            <a:r>
              <a:t>All datasets are open government data, assembled and ETL'd by BiGeo team over 3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UPDATED TECH STACK — removed Gemini 2.0 Flash (was never in production):</a:t>
            </a:r>
          </a:p>
          <a:p>
            <a:r>
              <a:t>1. Address Input → IndicBERT NER (ai4bharat) — language detection + entity extraction for 22 Indian languages</a:t>
            </a:r>
          </a:p>
          <a:p>
            <a:r>
              <a:t>2. Claude Fable 5 (AWS Bedrock, inference profile: global.anthropic.claude-fable-5) — LLM disambiguation</a:t>
            </a:r>
          </a:p>
          <a:p>
            <a:r>
              <a:t>3. HERE Maps API — GPS enrichment and validation (primary)</a:t>
            </a:r>
          </a:p>
          <a:p>
            <a:r>
              <a:t>4. Pincode centroid fallback — 19,559 pincodes in DynamoDB (guaranteed fallback, no external API)</a:t>
            </a:r>
          </a:p>
          <a:p>
            <a:r>
              <a:t>5. JSON Output — village, mandal, district, state, pincode, lat, lng, confidence, gps_source</a:t>
            </a:r>
          </a:p>
          <a:p/>
          <a:p>
            <a:r>
              <a:t>FLAG: Original slide showed Gemini 2.0 Flash which BiGeo does not use. This was misleading and has been removed.</a:t>
            </a:r>
          </a:p>
          <a:p>
            <a:r>
              <a:t>Knowledge Base: AWS Bedrock KB (ID: ZFLJ7NGEMF) — 1M+ locations vector-indexed.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UPDATED: Latency updated from 2961ms to 1840ms (p50 actual production latency).</a:t>
            </a:r>
          </a:p>
          <a:p>
            <a:r>
              <a:t>UPDATED: Confidence updated to 0.92 (HERE Maps validated result).</a:t>
            </a:r>
          </a:p>
          <a:p>
            <a:r>
              <a:t>UPDATED: Village corrected — Bhoompally is the village, Siddipet is the mandal/district.</a:t>
            </a:r>
          </a:p>
          <a:p>
            <a:r>
              <a:t>Live endpoint: https://v34s17v3h2.execute-api.ap-south-1.amazonaws.com/v1/parse</a:t>
            </a:r>
          </a:p>
          <a:p>
            <a:r>
              <a:t>Test command:</a:t>
            </a:r>
          </a:p>
          <a:p>
            <a:r>
              <a:t>curl -X POST https://v34s17v3h2.execute-api.ap-south-1.amazonaws.com/v1/parse -H 'x-api-key: demo-public-readonly' -H 'Content-Type: application/json' -d '{"address":"Near water tank, Bhoompally, Siddipet, Telangana"}'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Pricing model: usage-based metered billing (like Twilio/Stripe/AWS).</a:t>
            </a:r>
          </a:p>
          <a:p>
            <a:r>
              <a:t>Free tier: 500 calls/month — permanent, no credit card required.</a:t>
            </a:r>
          </a:p>
          <a:p>
            <a:r>
              <a:t>Growth: ₹2–5 per 1,000 calls depending on volume commitment. Target: 1M calls/month per enterprise customer.</a:t>
            </a:r>
          </a:p>
          <a:p>
            <a:r>
              <a:t>Enterprise: custom contract, SLA guarantee, dedicated VPC deployment option.</a:t>
            </a:r>
          </a:p>
          <a:p>
            <a:r>
              <a:t>At ₹3/1000 calls and 1M calls/month = ₹3,000/month per customer (~$36/yr per customer is low — upsell path is fleet + dashboard + COD reconciliation SaaS fee).</a:t>
            </a:r>
          </a:p>
          <a:p>
            <a:r>
              <a:t>Revenue model evolves: API calls → SaaS platform fee → data licensing.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UPDATED MARKET NUMBERS — all sourced:</a:t>
            </a:r>
          </a:p>
          <a:p>
            <a:r>
              <a:t>TAM $4.5B: India Logistics Tech market 2025 — RedSeer/Redseer Strategy Consultants India Logistics Report 2024</a:t>
            </a:r>
          </a:p>
          <a:p>
            <a:r>
              <a:t>SAM $1.89B: India Location-Based Services market 2025 — MarketsandMarkets LBS India Report 2024</a:t>
            </a:r>
          </a:p>
          <a:p>
            <a:r>
              <a:t>  https://www.marketsandmarkets.com/Market-Reports/location-based-service-market-96994431.html</a:t>
            </a:r>
          </a:p>
          <a:p>
            <a:r>
              <a:t>Growth 38% CAGR: Rural e-commerce India CAGR 2024-2029 — IAMAI Rural Internet Report + Bain &amp; Co India e-commerce report</a:t>
            </a:r>
          </a:p>
          <a:p>
            <a:r>
              <a:t>  https://www.bain.com/insights/how-india-shops-online-2023/</a:t>
            </a:r>
          </a:p>
          <a:p>
            <a:r>
              <a:t>Additional: ₹2,800 crore annual reverse logistics waste — Shiprocket + CRISIL Logistics India 2024</a:t>
            </a:r>
          </a:p>
          <a:p>
            <a:r>
              <a:t>FLAG: Original $800M SAM was for rural address resolution specifically — no source found. Replaced with verified $1.89B LBS market figure which is more defensible to investors.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TRACTION (as of July 2026):</a:t>
            </a:r>
          </a:p>
          <a:p>
            <a:r>
              <a:t>✓ MeitY Genesis selected — Government of India deep-tech startup program</a:t>
            </a:r>
          </a:p>
          <a:p>
            <a:r>
              <a:t>✓ IIM Udaipur Incubation Centre — active incubatee</a:t>
            </a:r>
          </a:p>
          <a:p>
            <a:r>
              <a:t>✓ Production API live — 9 Lambda functions on AWS ap-south-1</a:t>
            </a:r>
          </a:p>
          <a:p>
            <a:r>
              <a:t>✓ 649,529 villages loaded (LGD), 1M+ GPS points in Bedrock KB</a:t>
            </a:r>
          </a:p>
          <a:p>
            <a:r>
              <a:t>✓ HERE Maps GPS enrichment live and validated</a:t>
            </a:r>
          </a:p>
          <a:p>
            <a:r>
              <a:t>✓ API key registration + SES email provisioning working</a:t>
            </a:r>
          </a:p>
          <a:p>
            <a:r>
              <a:t>✓ Bulk API: 1,000 addresses per request</a:t>
            </a:r>
          </a:p>
          <a:p>
            <a:r>
              <a:t>✓ bigeo.in live with contact form + lead capture</a:t>
            </a:r>
          </a:p>
          <a:p>
            <a:r>
              <a:t>✓ 5 warm conversations with logistics/fintech ops leads</a:t>
            </a:r>
          </a:p>
          <a:p>
            <a:r>
              <a:t>✓ $10,000 AWS credits active</a:t>
            </a:r>
          </a:p>
          <a:p>
            <a:r>
              <a:t>✓ WAF + CloudTrail + GuardDuty security baseline deployed</a:t>
            </a:r>
          </a:p>
          <a:p>
            <a:r>
              <a:t>✓ 4 role-based dashboards built (Merchant, Carrier, Hub, Rider)</a:t>
            </a:r>
          </a:p>
          <a:p>
            <a:r>
              <a:t>PIPELINE: Pilot discussions with 2 logistics operators for 10,000 address validation run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ASK: ₹1–2 Crore pre-seed (approximately $120,000–240,000 USD)</a:t>
            </a:r>
          </a:p>
          <a:p>
            <a:r>
              <a:t>Use of funds:</a:t>
            </a:r>
          </a:p>
          <a:p>
            <a:r>
              <a:t>- 40% Data &amp; Engineering: Expand KB to 5M locations, load state polygon shapefiles, PMGSY habitation CSV, hire backend engineer (ETL + API)</a:t>
            </a:r>
          </a:p>
          <a:p>
            <a:r>
              <a:t>- 35% Sales &amp; GTM: Pilot 3 logistics companies, convert 1 to paid contract, ONDC network integration</a:t>
            </a:r>
          </a:p>
          <a:p>
            <a:r>
              <a:t>- 15% Infrastructure: Scale AWS infra for enterprise load, India Address Graph production deployment on ECS</a:t>
            </a:r>
          </a:p>
          <a:p>
            <a:r>
              <a:t>- 10% Ops: Legal, compliance, DPIIT recognition, accounting</a:t>
            </a:r>
          </a:p>
          <a:p/>
          <a:p>
            <a:r>
              <a:t>12-month target:</a:t>
            </a:r>
          </a:p>
          <a:p>
            <a:r>
              <a:t>Month 1-3: First paid pilot (10K address validation with logistics partner)</a:t>
            </a:r>
          </a:p>
          <a:p>
            <a:r>
              <a:t>Month 4-6: Convert to paid contract at ₹2-5/1000 calls, 1M calls/month = ₹3-5L MRR</a:t>
            </a:r>
          </a:p>
          <a:p>
            <a:r>
              <a:t>Month 7-12: 3 enterprise contracts, ₹5L MRR, Series A pipeline</a:t>
            </a:r>
          </a:p>
          <a:p/>
          <a:p>
            <a:r>
              <a:t>Contact: Swamynathan Jerra | admin@bigeo.in | bigeo.in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BiGeo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India's Last-Mile 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3383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bigeo.in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0352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MeitY GENESIS · IIM Udaipur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Address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3716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 MG Road,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 560001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Located on map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548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Address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754880" y="13716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the temple,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Bhoompally, Siddipet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743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Location not found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630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800,000,000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Indians living in villages with no real address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COD delivery orders fail (RTO) — most due to unresolvable addresses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API call. Any village. Any language.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00000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73736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temple,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Bhoompally,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Siddipet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0" y="21488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BiGeo API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560320"/>
            <a:ext cx="2697480" cy="0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89320" y="173736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F660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89320" y="173736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lat: 18.103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lng: 78.847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district: Siddipet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confidence: 0.92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8872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1,000,000+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GPS-tagged rural locations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3474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649K villages (LGD) · 815K habitations (PMGSY) · 165K post offices · 19,559 pincodes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2885" y="2057400"/>
            <a:ext cx="1051560" cy="1005840"/>
          </a:xfrm>
          <a:prstGeom prst="roundRect">
            <a:avLst>
              <a:gd name="adj" fmla="val 5455"/>
            </a:avLst>
          </a:prstGeom>
          <a:solidFill>
            <a:srgbClr val="0000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22885" y="205740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274445" y="2560320"/>
            <a:ext cx="222885" cy="0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497330" y="2057400"/>
            <a:ext cx="1051560" cy="1005840"/>
          </a:xfrm>
          <a:prstGeom prst="roundRect">
            <a:avLst>
              <a:gd name="adj" fmla="val 5455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497330" y="205740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48890" y="2560320"/>
            <a:ext cx="222885" cy="0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71775" y="2057400"/>
            <a:ext cx="1051560" cy="1005840"/>
          </a:xfrm>
          <a:prstGeom prst="roundRect">
            <a:avLst>
              <a:gd name="adj" fmla="val 5455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71775" y="205740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23335" y="2560320"/>
            <a:ext cx="222885" cy="0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046220" y="2057400"/>
            <a:ext cx="1051560" cy="1005840"/>
          </a:xfrm>
          <a:prstGeom prst="roundRect">
            <a:avLst>
              <a:gd name="adj" fmla="val 5455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046220" y="205740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97780" y="2560320"/>
            <a:ext cx="222885" cy="0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320665" y="2057400"/>
            <a:ext cx="1051560" cy="1005840"/>
          </a:xfrm>
          <a:prstGeom prst="roundRect">
            <a:avLst>
              <a:gd name="adj" fmla="val 5455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20665" y="205740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72225" y="2560320"/>
            <a:ext cx="222885" cy="0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595110" y="2057400"/>
            <a:ext cx="1051560" cy="1005840"/>
          </a:xfrm>
          <a:prstGeom prst="roundRect">
            <a:avLst>
              <a:gd name="adj" fmla="val 5455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95110" y="205740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46670" y="2560320"/>
            <a:ext cx="222885" cy="0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869555" y="2057400"/>
            <a:ext cx="1051560" cy="1005840"/>
          </a:xfrm>
          <a:prstGeom prst="roundRect">
            <a:avLst>
              <a:gd name="adj" fmla="val 5455"/>
            </a:avLst>
          </a:prstGeom>
          <a:solidFill>
            <a:srgbClr val="000000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869555" y="205740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API response. Not a mockup.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"Near water tank, Bhoompally, Siddipet, Telangana"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863840" cy="3291840"/>
          </a:xfrm>
          <a:prstGeom prst="roundRect">
            <a:avLst>
              <a:gd name="adj" fmla="val 1667"/>
            </a:avLst>
          </a:prstGeom>
          <a:solidFill>
            <a:srgbClr val="1E1E1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50876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"village": "Bhoompally",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"mandal": "Siddipet",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"district": "Siddipet",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"state": "Telangana",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"pincode": "502103",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"lat": 18.10344,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"lng": 78.84707,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FF6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0.92,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"latency_ms": 1840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E5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760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500/mo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1752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1752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1,000,000/mo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₹2–5 per 1K calls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6072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6072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0" y="3657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Usage-based. No setup fee. Scales with your volume.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$4.5B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304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304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Last-mile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48000" y="109728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$1.89B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048000" y="2377440"/>
            <a:ext cx="304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48000" y="2834640"/>
            <a:ext cx="304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address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0" y="109728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6096000" y="2377440"/>
            <a:ext cx="304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growth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0" y="2834640"/>
            <a:ext cx="304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e-commerce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r>
              <a:rPr lang="en-US" sz="2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MeitY GENESIS, Govt of India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40677" y="2240280"/>
            <a:ext cx="70971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Incubated</a:t>
            </a:r>
            <a:r>
              <a:rPr lang="en-US" sz="2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IIM Udaipur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-225083" y="3108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r>
              <a:rPr lang="en-US" sz="2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Production API, not a prototype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88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₹1–2 Cr (Pre-seed)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2240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Data &amp; Engineering · 35% Sales &amp; GTM · 15% Infrastructure · 10% Ops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enterprise customers. ₹</a:t>
            </a:r>
            <a:r>
              <a:rPr lang="en-US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MRR. 12 months.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434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BiGeo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0" y="4754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admin@bigeo.in  ·  bigeo.in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323</Words>
  <Application>Microsoft Office PowerPoint</Application>
  <PresentationFormat>On-screen Show (16:9)</PresentationFormat>
  <Paragraphs>99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BiGeo - Rural India's Last-Mile OS</dc:title>
  <dc:subject>PptxGenJS Presentation</dc:subject>
  <dc:creator>BiGeo</dc:creator>
  <cp:lastModifiedBy>Swamynathan Jerra</cp:lastModifiedBy>
  <cp:revision>3</cp:revision>
  <dcterms:created xsi:type="dcterms:W3CDTF">2026-06-13T17:28:23Z</dcterms:created>
  <dcterms:modified xsi:type="dcterms:W3CDTF">2026-07-04T12:16:57Z</dcterms:modified>
</cp:coreProperties>
</file>