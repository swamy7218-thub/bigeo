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ICAR–MSIL national contribution slide.
All claims are taken from the MSIL story as quoted in the design brief: &gt;1,000 samples analysed (2018–2026); support to Food Safety Authorities, Police, Customs, Animal Husbandry, Forest/Wildlife Departments, Animal Quarantine and DRI; ISO/IEC 17025:2017 NABL accreditation; FSSAI referral/primary laboratory recognition; NETSCoFAN Lead Centre for Foods of Animal Origin; FAPAS proficiency testing; FSSAI Eat Right Research Team Award; CRM initiative.
Before presenting: (1) replace the 'ICAR' badge with the official ICAR logo; (2) cross-check the NABL certificate number/scope and sample count against the latest NABL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7635240" y="73152"/>
            <a:ext cx="960120" cy="960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164592"/>
            <a:ext cx="768096" cy="7680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645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9144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ICAR–MSIL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5029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Molecular Science to National Food Authenticity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7955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testing  •  Regulatory support  •  Food authenticity  •  National service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8288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Species Identification Laboratory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ICAR–National Meat Research Institute</a:t>
            </a:r>
            <a:endParaRPr lang="en-US" sz="125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1188720"/>
            <a:ext cx="1463040" cy="274320"/>
          </a:xfrm>
          <a:prstGeom prst="chevron">
            <a:avLst/>
          </a:prstGeom>
          <a:solidFill>
            <a:srgbClr val="134B7F"/>
          </a:solidFill>
          <a:ln w="12700">
            <a:solidFill>
              <a:srgbClr val="134B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3776" y="11887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737360" y="1188720"/>
            <a:ext cx="1463040" cy="274320"/>
          </a:xfrm>
          <a:prstGeom prst="chevron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65376" y="11887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83280" y="1188720"/>
            <a:ext cx="2926080" cy="27432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11296" y="118872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SERVICE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1188720"/>
            <a:ext cx="2834640" cy="274320"/>
          </a:xfrm>
          <a:prstGeom prst="chevron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0256" y="118872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509760" y="1188720"/>
            <a:ext cx="2316175" cy="27432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37776" y="1188720"/>
            <a:ext cx="20601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1572768"/>
            <a:ext cx="2834640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545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" y="1691640"/>
            <a:ext cx="329184" cy="329184"/>
          </a:xfrm>
          <a:prstGeom prst="ellipse">
            <a:avLst/>
          </a:prstGeom>
          <a:solidFill>
            <a:srgbClr val="134B7F"/>
          </a:solidFill>
          <a:ln w="12700">
            <a:solidFill>
              <a:srgbClr val="134B7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08" y="1777228"/>
            <a:ext cx="158008" cy="15800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14400" y="1664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MOLECULAR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30352" y="2084832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PCR / qPCR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PCR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PCR</a:t>
            </a:r>
            <a:endParaRPr lang="en-US" sz="10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PCR-RFLP &amp; advanced molecular approaches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02920" y="2944368"/>
            <a:ext cx="2560320" cy="310896"/>
          </a:xfrm>
          <a:prstGeom prst="roundRect">
            <a:avLst>
              <a:gd name="adj" fmla="val 17647"/>
            </a:avLst>
          </a:prstGeom>
          <a:solidFill>
            <a:srgbClr val="0B2545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02920" y="29443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17025:2017</a:t>
            </a:r>
            <a:pPr algn="ctr"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 Accredited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50292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MULTIPLE-SPECIES IDENTIFICATION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02920" y="3584448"/>
            <a:ext cx="504749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02920" y="3584448"/>
            <a:ext cx="5047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1062533" y="3584448"/>
            <a:ext cx="561442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62533" y="3584448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1678838" y="3584448"/>
            <a:ext cx="448056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678838" y="3584448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2181758" y="3584448"/>
            <a:ext cx="391363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181758" y="3584448"/>
            <a:ext cx="3913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2627986" y="3584448"/>
            <a:ext cx="334670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627986" y="3584448"/>
            <a:ext cx="334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502920" y="3840480"/>
            <a:ext cx="561442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02920" y="3840480"/>
            <a:ext cx="5614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1119226" y="3840480"/>
            <a:ext cx="504749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19226" y="3840480"/>
            <a:ext cx="5047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1678838" y="3840480"/>
            <a:ext cx="504749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1678838" y="3840480"/>
            <a:ext cx="5047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Donkey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2238451" y="3840480"/>
            <a:ext cx="504749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2238451" y="3840480"/>
            <a:ext cx="5047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Mithun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502920" y="4096512"/>
            <a:ext cx="448056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6350">
            <a:solidFill>
              <a:srgbClr val="B9DCDC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02920" y="409651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005840" y="4096512"/>
            <a:ext cx="1128370" cy="201168"/>
          </a:xfrm>
          <a:prstGeom prst="roundRect">
            <a:avLst>
              <a:gd name="adj" fmla="val 45455"/>
            </a:avLst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005840" y="4096512"/>
            <a:ext cx="11283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&amp; others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3383280" y="1572768"/>
            <a:ext cx="2926080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545">
                <a:alpha val="12000"/>
              </a:srgbClr>
            </a:outerShdw>
          </a:effectLst>
        </p:spPr>
      </p:sp>
      <p:sp>
        <p:nvSpPr>
          <p:cNvPr id="51" name="Text 47"/>
          <p:cNvSpPr txBox="1"/>
          <p:nvPr/>
        </p:nvSpPr>
        <p:spPr>
          <a:xfrm>
            <a:off x="3520440" y="16459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&gt;1,000</a:t>
            </a:r>
            <a:endParaRPr lang="en-US" sz="4400" dirty="0"/>
          </a:p>
        </p:txBody>
      </p:sp>
      <p:sp>
        <p:nvSpPr>
          <p:cNvPr id="52" name="Text 48"/>
          <p:cNvSpPr txBox="1"/>
          <p:nvPr/>
        </p:nvSpPr>
        <p:spPr>
          <a:xfrm>
            <a:off x="5212080" y="170078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ANALYSED</a:t>
            </a:r>
            <a:endParaRPr lang="en-US" sz="1150" dirty="0"/>
          </a:p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2018–2026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 flipV="1">
            <a:off x="4169664" y="2450592"/>
            <a:ext cx="310896" cy="660654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 flipV="1">
            <a:off x="4169664" y="2665476"/>
            <a:ext cx="310896" cy="445770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 flipV="1">
            <a:off x="4169664" y="2880360"/>
            <a:ext cx="310896" cy="230886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 flipV="1">
            <a:off x="4169664" y="3095244"/>
            <a:ext cx="310896" cy="16002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169664" y="3111246"/>
            <a:ext cx="310896" cy="198882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169664" y="3111246"/>
            <a:ext cx="310896" cy="413766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169664" y="3111246"/>
            <a:ext cx="310896" cy="628650"/>
          </a:xfrm>
          <a:prstGeom prst="line">
            <a:avLst/>
          </a:prstGeom>
          <a:noFill/>
          <a:ln w="9525">
            <a:solidFill>
              <a:srgbClr val="9FB6CC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566160" y="2809494"/>
            <a:ext cx="603504" cy="603504"/>
          </a:xfrm>
          <a:prstGeom prst="ellipse">
            <a:avLst/>
          </a:prstGeom>
          <a:solidFill>
            <a:srgbClr val="0B2545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3566160" y="280949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MSIL</a:t>
            </a:r>
            <a:endParaRPr lang="en-US" sz="1100" dirty="0"/>
          </a:p>
        </p:txBody>
      </p:sp>
      <p:sp>
        <p:nvSpPr>
          <p:cNvPr id="62" name="Shape 58"/>
          <p:cNvSpPr/>
          <p:nvPr/>
        </p:nvSpPr>
        <p:spPr>
          <a:xfrm>
            <a:off x="4480560" y="235915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109" y="2406701"/>
            <a:ext cx="87782" cy="87782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4727448" y="235000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Authorities</a:t>
            </a:r>
            <a:endParaRPr lang="en-US" sz="880" dirty="0"/>
          </a:p>
        </p:txBody>
      </p:sp>
      <p:sp>
        <p:nvSpPr>
          <p:cNvPr id="65" name="Shape 60"/>
          <p:cNvSpPr/>
          <p:nvPr/>
        </p:nvSpPr>
        <p:spPr>
          <a:xfrm>
            <a:off x="4480560" y="2574036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09" y="2621585"/>
            <a:ext cx="87782" cy="87782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4727448" y="256489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880" dirty="0"/>
          </a:p>
        </p:txBody>
      </p:sp>
      <p:sp>
        <p:nvSpPr>
          <p:cNvPr id="68" name="Shape 62"/>
          <p:cNvSpPr/>
          <p:nvPr/>
        </p:nvSpPr>
        <p:spPr>
          <a:xfrm>
            <a:off x="4480560" y="2788920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109" y="2836469"/>
            <a:ext cx="87782" cy="87782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4727448" y="277977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880" dirty="0"/>
          </a:p>
        </p:txBody>
      </p:sp>
      <p:sp>
        <p:nvSpPr>
          <p:cNvPr id="71" name="Shape 64"/>
          <p:cNvSpPr/>
          <p:nvPr/>
        </p:nvSpPr>
        <p:spPr>
          <a:xfrm>
            <a:off x="4480560" y="300380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109" y="3051353"/>
            <a:ext cx="87782" cy="87782"/>
          </a:xfrm>
          <a:prstGeom prst="rect">
            <a:avLst/>
          </a:prstGeom>
        </p:spPr>
      </p:pic>
      <p:sp>
        <p:nvSpPr>
          <p:cNvPr id="73" name="Text 65"/>
          <p:cNvSpPr txBox="1"/>
          <p:nvPr/>
        </p:nvSpPr>
        <p:spPr>
          <a:xfrm>
            <a:off x="4727448" y="29946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Husbandry</a:t>
            </a:r>
            <a:endParaRPr lang="en-US" sz="880" dirty="0"/>
          </a:p>
        </p:txBody>
      </p:sp>
      <p:sp>
        <p:nvSpPr>
          <p:cNvPr id="74" name="Shape 66"/>
          <p:cNvSpPr/>
          <p:nvPr/>
        </p:nvSpPr>
        <p:spPr>
          <a:xfrm>
            <a:off x="4480560" y="3218688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8109" y="3266237"/>
            <a:ext cx="87782" cy="87782"/>
          </a:xfrm>
          <a:prstGeom prst="rect">
            <a:avLst/>
          </a:prstGeom>
        </p:spPr>
      </p:pic>
      <p:sp>
        <p:nvSpPr>
          <p:cNvPr id="76" name="Text 67"/>
          <p:cNvSpPr txBox="1"/>
          <p:nvPr/>
        </p:nvSpPr>
        <p:spPr>
          <a:xfrm>
            <a:off x="4727448" y="32095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/ Wildlife Departments</a:t>
            </a:r>
            <a:endParaRPr lang="en-US" sz="880" dirty="0"/>
          </a:p>
        </p:txBody>
      </p:sp>
      <p:sp>
        <p:nvSpPr>
          <p:cNvPr id="77" name="Shape 68"/>
          <p:cNvSpPr/>
          <p:nvPr/>
        </p:nvSpPr>
        <p:spPr>
          <a:xfrm>
            <a:off x="4480560" y="3433572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7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8109" y="3481121"/>
            <a:ext cx="87782" cy="87782"/>
          </a:xfrm>
          <a:prstGeom prst="rect">
            <a:avLst/>
          </a:prstGeom>
        </p:spPr>
      </p:pic>
      <p:sp>
        <p:nvSpPr>
          <p:cNvPr id="79" name="Text 69"/>
          <p:cNvSpPr txBox="1"/>
          <p:nvPr/>
        </p:nvSpPr>
        <p:spPr>
          <a:xfrm>
            <a:off x="4727448" y="342442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Quarantine</a:t>
            </a:r>
            <a:endParaRPr lang="en-US" sz="880" dirty="0"/>
          </a:p>
        </p:txBody>
      </p:sp>
      <p:sp>
        <p:nvSpPr>
          <p:cNvPr id="80" name="Shape 70"/>
          <p:cNvSpPr/>
          <p:nvPr/>
        </p:nvSpPr>
        <p:spPr>
          <a:xfrm>
            <a:off x="4480560" y="3648456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8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8109" y="3696005"/>
            <a:ext cx="87782" cy="87782"/>
          </a:xfrm>
          <a:prstGeom prst="rect">
            <a:avLst/>
          </a:prstGeom>
        </p:spPr>
      </p:pic>
      <p:sp>
        <p:nvSpPr>
          <p:cNvPr id="82" name="Text 71"/>
          <p:cNvSpPr txBox="1"/>
          <p:nvPr/>
        </p:nvSpPr>
        <p:spPr>
          <a:xfrm>
            <a:off x="4727448" y="36393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Revenue Intelligence</a:t>
            </a:r>
            <a:endParaRPr lang="en-US" sz="880" dirty="0"/>
          </a:p>
        </p:txBody>
      </p:sp>
      <p:sp>
        <p:nvSpPr>
          <p:cNvPr id="83" name="Text 72"/>
          <p:cNvSpPr txBox="1"/>
          <p:nvPr/>
        </p:nvSpPr>
        <p:spPr>
          <a:xfrm>
            <a:off x="3520440" y="3913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evidence supporting regulatory, enforcement and forensic investigations</a:t>
            </a:r>
            <a:endParaRPr lang="en-US" sz="900" dirty="0"/>
          </a:p>
        </p:txBody>
      </p:sp>
      <p:sp>
        <p:nvSpPr>
          <p:cNvPr id="84" name="Shape 73"/>
          <p:cNvSpPr/>
          <p:nvPr/>
        </p:nvSpPr>
        <p:spPr>
          <a:xfrm>
            <a:off x="6492240" y="1572768"/>
            <a:ext cx="2834640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545">
                <a:alpha val="12000"/>
              </a:srgbClr>
            </a:outerShdw>
          </a:effectLst>
        </p:spPr>
      </p:sp>
      <p:sp>
        <p:nvSpPr>
          <p:cNvPr id="85" name="Text 74"/>
          <p:cNvSpPr txBox="1"/>
          <p:nvPr/>
        </p:nvSpPr>
        <p:spPr>
          <a:xfrm>
            <a:off x="6629400" y="1664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MSIL DELIVERS</a:t>
            </a:r>
            <a:endParaRPr lang="en-US" sz="1100" dirty="0"/>
          </a:p>
        </p:txBody>
      </p:sp>
      <p:sp>
        <p:nvSpPr>
          <p:cNvPr id="86" name="Shape 75"/>
          <p:cNvSpPr/>
          <p:nvPr/>
        </p:nvSpPr>
        <p:spPr>
          <a:xfrm>
            <a:off x="6601968" y="1975104"/>
            <a:ext cx="1271016" cy="585216"/>
          </a:xfrm>
          <a:prstGeom prst="roundRect">
            <a:avLst>
              <a:gd name="adj" fmla="val 937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6665976" y="2112264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8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6809" y="2193097"/>
            <a:ext cx="149230" cy="149230"/>
          </a:xfrm>
          <a:prstGeom prst="rect">
            <a:avLst/>
          </a:prstGeom>
        </p:spPr>
      </p:pic>
      <p:sp>
        <p:nvSpPr>
          <p:cNvPr id="89" name="Text 77"/>
          <p:cNvSpPr txBox="1"/>
          <p:nvPr/>
        </p:nvSpPr>
        <p:spPr>
          <a:xfrm>
            <a:off x="7031736" y="2002536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SPECIES IDENTIFICATION</a:t>
            </a:r>
            <a:endParaRPr lang="en-US" sz="830" dirty="0"/>
          </a:p>
        </p:txBody>
      </p:sp>
      <p:sp>
        <p:nvSpPr>
          <p:cNvPr id="90" name="Shape 78"/>
          <p:cNvSpPr/>
          <p:nvPr/>
        </p:nvSpPr>
        <p:spPr>
          <a:xfrm>
            <a:off x="7946136" y="1975104"/>
            <a:ext cx="1271016" cy="585216"/>
          </a:xfrm>
          <a:prstGeom prst="roundRect">
            <a:avLst>
              <a:gd name="adj" fmla="val 937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1" name="Shape 79"/>
          <p:cNvSpPr/>
          <p:nvPr/>
        </p:nvSpPr>
        <p:spPr>
          <a:xfrm>
            <a:off x="8010144" y="2112264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9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0977" y="2193097"/>
            <a:ext cx="149230" cy="149230"/>
          </a:xfrm>
          <a:prstGeom prst="rect">
            <a:avLst/>
          </a:prstGeom>
        </p:spPr>
      </p:pic>
      <p:sp>
        <p:nvSpPr>
          <p:cNvPr id="93" name="Text 80"/>
          <p:cNvSpPr txBox="1"/>
          <p:nvPr/>
        </p:nvSpPr>
        <p:spPr>
          <a:xfrm>
            <a:off x="8375904" y="2002536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ADULTERATION &amp; SUBSTITUTION DETECTION</a:t>
            </a:r>
            <a:endParaRPr lang="en-US" sz="830" dirty="0"/>
          </a:p>
        </p:txBody>
      </p:sp>
      <p:sp>
        <p:nvSpPr>
          <p:cNvPr id="94" name="Shape 81"/>
          <p:cNvSpPr/>
          <p:nvPr/>
        </p:nvSpPr>
        <p:spPr>
          <a:xfrm>
            <a:off x="6601968" y="2633472"/>
            <a:ext cx="1271016" cy="585216"/>
          </a:xfrm>
          <a:prstGeom prst="roundRect">
            <a:avLst>
              <a:gd name="adj" fmla="val 937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5" name="Shape 82"/>
          <p:cNvSpPr/>
          <p:nvPr/>
        </p:nvSpPr>
        <p:spPr>
          <a:xfrm>
            <a:off x="6665976" y="2770632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9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6809" y="2851465"/>
            <a:ext cx="149230" cy="149230"/>
          </a:xfrm>
          <a:prstGeom prst="rect">
            <a:avLst/>
          </a:prstGeom>
        </p:spPr>
      </p:pic>
      <p:sp>
        <p:nvSpPr>
          <p:cNvPr id="97" name="Text 83"/>
          <p:cNvSpPr txBox="1"/>
          <p:nvPr/>
        </p:nvSpPr>
        <p:spPr>
          <a:xfrm>
            <a:off x="7031736" y="2660904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MISLABELLING DETECTION</a:t>
            </a:r>
            <a:endParaRPr lang="en-US" sz="830" dirty="0"/>
          </a:p>
        </p:txBody>
      </p:sp>
      <p:sp>
        <p:nvSpPr>
          <p:cNvPr id="98" name="Shape 84"/>
          <p:cNvSpPr/>
          <p:nvPr/>
        </p:nvSpPr>
        <p:spPr>
          <a:xfrm>
            <a:off x="7946136" y="2633472"/>
            <a:ext cx="1271016" cy="585216"/>
          </a:xfrm>
          <a:prstGeom prst="roundRect">
            <a:avLst>
              <a:gd name="adj" fmla="val 937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9" name="Shape 85"/>
          <p:cNvSpPr/>
          <p:nvPr/>
        </p:nvSpPr>
        <p:spPr>
          <a:xfrm>
            <a:off x="8010144" y="2770632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0977" y="2851465"/>
            <a:ext cx="149230" cy="149230"/>
          </a:xfrm>
          <a:prstGeom prst="rect">
            <a:avLst/>
          </a:prstGeom>
        </p:spPr>
      </p:pic>
      <p:sp>
        <p:nvSpPr>
          <p:cNvPr id="101" name="Text 86"/>
          <p:cNvSpPr txBox="1"/>
          <p:nvPr/>
        </p:nvSpPr>
        <p:spPr>
          <a:xfrm>
            <a:off x="8375904" y="2660904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 CONFORMITY</a:t>
            </a:r>
            <a:endParaRPr lang="en-US" sz="830" dirty="0"/>
          </a:p>
          <a:p>
            <a:pPr indent="0" marL="0">
              <a:buNone/>
            </a:pPr>
            <a:r>
              <a:rPr lang="en-US" sz="78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Porcine DNA detection</a:t>
            </a:r>
            <a:endParaRPr lang="en-US" sz="830" dirty="0"/>
          </a:p>
        </p:txBody>
      </p:sp>
      <p:sp>
        <p:nvSpPr>
          <p:cNvPr id="102" name="Shape 87"/>
          <p:cNvSpPr/>
          <p:nvPr/>
        </p:nvSpPr>
        <p:spPr>
          <a:xfrm>
            <a:off x="6601968" y="3291840"/>
            <a:ext cx="1271016" cy="585216"/>
          </a:xfrm>
          <a:prstGeom prst="roundRect">
            <a:avLst>
              <a:gd name="adj" fmla="val 937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6665976" y="342900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6809" y="3509833"/>
            <a:ext cx="149230" cy="149230"/>
          </a:xfrm>
          <a:prstGeom prst="rect">
            <a:avLst/>
          </a:prstGeom>
        </p:spPr>
      </p:pic>
      <p:sp>
        <p:nvSpPr>
          <p:cNvPr id="105" name="Text 89"/>
          <p:cNvSpPr txBox="1"/>
          <p:nvPr/>
        </p:nvSpPr>
        <p:spPr>
          <a:xfrm>
            <a:off x="7031736" y="3319272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SPECIES IDENTIFICATION</a:t>
            </a:r>
            <a:endParaRPr lang="en-US" sz="830" dirty="0"/>
          </a:p>
        </p:txBody>
      </p:sp>
      <p:sp>
        <p:nvSpPr>
          <p:cNvPr id="106" name="Shape 90"/>
          <p:cNvSpPr/>
          <p:nvPr/>
        </p:nvSpPr>
        <p:spPr>
          <a:xfrm>
            <a:off x="7946136" y="3291840"/>
            <a:ext cx="1271016" cy="585216"/>
          </a:xfrm>
          <a:prstGeom prst="roundRect">
            <a:avLst>
              <a:gd name="adj" fmla="val 937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7" name="Shape 91"/>
          <p:cNvSpPr/>
          <p:nvPr/>
        </p:nvSpPr>
        <p:spPr>
          <a:xfrm>
            <a:off x="8010144" y="342900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0977" y="3509833"/>
            <a:ext cx="149230" cy="149230"/>
          </a:xfrm>
          <a:prstGeom prst="rect">
            <a:avLst/>
          </a:prstGeom>
        </p:spPr>
      </p:pic>
      <p:sp>
        <p:nvSpPr>
          <p:cNvPr id="109" name="Text 92"/>
          <p:cNvSpPr txBox="1"/>
          <p:nvPr/>
        </p:nvSpPr>
        <p:spPr>
          <a:xfrm>
            <a:off x="8375904" y="3319272"/>
            <a:ext cx="795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 FOOD AUTHENTICATION</a:t>
            </a:r>
            <a:endParaRPr lang="en-US" sz="830" dirty="0"/>
          </a:p>
        </p:txBody>
      </p:sp>
      <p:sp>
        <p:nvSpPr>
          <p:cNvPr id="110" name="Shape 93"/>
          <p:cNvSpPr/>
          <p:nvPr/>
        </p:nvSpPr>
        <p:spPr>
          <a:xfrm>
            <a:off x="6601968" y="3968496"/>
            <a:ext cx="2615184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dash"/>
          </a:ln>
        </p:spPr>
      </p:sp>
      <p:sp>
        <p:nvSpPr>
          <p:cNvPr id="111" name="Shape 94"/>
          <p:cNvSpPr/>
          <p:nvPr/>
        </p:nvSpPr>
        <p:spPr>
          <a:xfrm>
            <a:off x="6665976" y="4005072"/>
            <a:ext cx="201168" cy="201168"/>
          </a:xfrm>
          <a:prstGeom prst="ellipse">
            <a:avLst/>
          </a:prstGeom>
          <a:solidFill>
            <a:srgbClr val="134B7F"/>
          </a:solidFill>
          <a:ln w="12700">
            <a:solidFill>
              <a:srgbClr val="134B7F"/>
            </a:solidFill>
            <a:prstDash val="solid"/>
          </a:ln>
        </p:spPr>
      </p:sp>
      <p:pic>
        <p:nvPicPr>
          <p:cNvPr id="11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18280" y="4057376"/>
            <a:ext cx="96561" cy="96561"/>
          </a:xfrm>
          <a:prstGeom prst="rect">
            <a:avLst/>
          </a:prstGeom>
        </p:spPr>
      </p:pic>
      <p:sp>
        <p:nvSpPr>
          <p:cNvPr id="113" name="Text 95"/>
          <p:cNvSpPr txBox="1"/>
          <p:nvPr/>
        </p:nvSpPr>
        <p:spPr>
          <a:xfrm>
            <a:off x="6940296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IDENTIFICATION</a:t>
            </a:r>
            <a:endParaRPr lang="en-US" sz="850" dirty="0"/>
          </a:p>
        </p:txBody>
      </p:sp>
      <p:sp>
        <p:nvSpPr>
          <p:cNvPr id="114" name="Shape 96"/>
          <p:cNvSpPr/>
          <p:nvPr/>
        </p:nvSpPr>
        <p:spPr>
          <a:xfrm>
            <a:off x="9509760" y="1572768"/>
            <a:ext cx="2316175" cy="2798064"/>
          </a:xfrm>
          <a:prstGeom prst="roundRect">
            <a:avLst>
              <a:gd name="adj" fmla="val 3158"/>
            </a:avLst>
          </a:prstGeom>
          <a:solidFill>
            <a:srgbClr val="0B2545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19050" dir="5400000">
              <a:srgbClr val="0B2545">
                <a:alpha val="12000"/>
              </a:srgbClr>
            </a:outerShdw>
          </a:effectLst>
        </p:spPr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92640" y="1755648"/>
            <a:ext cx="347472" cy="347472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10131552" y="1755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117" name="Shape 98"/>
          <p:cNvSpPr/>
          <p:nvPr/>
        </p:nvSpPr>
        <p:spPr>
          <a:xfrm>
            <a:off x="11259007" y="1700784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1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73124" y="1814901"/>
            <a:ext cx="210678" cy="210678"/>
          </a:xfrm>
          <a:prstGeom prst="rect">
            <a:avLst/>
          </a:prstGeom>
        </p:spPr>
      </p:pic>
      <p:sp>
        <p:nvSpPr>
          <p:cNvPr id="119" name="Text 99"/>
          <p:cNvSpPr txBox="1"/>
          <p:nvPr/>
        </p:nvSpPr>
        <p:spPr>
          <a:xfrm>
            <a:off x="9692640" y="2231136"/>
            <a:ext cx="1996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</a:t>
            </a:r>
            <a:endParaRPr lang="en-US" sz="1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1900" dirty="0"/>
          </a:p>
        </p:txBody>
      </p:sp>
      <p:sp>
        <p:nvSpPr>
          <p:cNvPr id="120" name="Text 100"/>
          <p:cNvSpPr txBox="1"/>
          <p:nvPr/>
        </p:nvSpPr>
        <p:spPr>
          <a:xfrm>
            <a:off x="9692640" y="3163824"/>
            <a:ext cx="1996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standardization, comparability and quality assurance in molecular meat species testing</a:t>
            </a:r>
            <a:endParaRPr lang="en-US" sz="1000" dirty="0"/>
          </a:p>
        </p:txBody>
      </p:sp>
      <p:sp>
        <p:nvSpPr>
          <p:cNvPr id="121" name="Shape 101"/>
          <p:cNvSpPr/>
          <p:nvPr/>
        </p:nvSpPr>
        <p:spPr>
          <a:xfrm>
            <a:off x="9692640" y="3858768"/>
            <a:ext cx="1950415" cy="329184"/>
          </a:xfrm>
          <a:prstGeom prst="roundRect">
            <a:avLst>
              <a:gd name="adj" fmla="val 27778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2" name="Text 102"/>
          <p:cNvSpPr txBox="1"/>
          <p:nvPr/>
        </p:nvSpPr>
        <p:spPr>
          <a:xfrm>
            <a:off x="9692640" y="3858768"/>
            <a:ext cx="1950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17034 pathway  →</a:t>
            </a:r>
            <a:endParaRPr lang="en-US" sz="1100" dirty="0"/>
          </a:p>
        </p:txBody>
      </p:sp>
      <p:sp>
        <p:nvSpPr>
          <p:cNvPr id="123" name="Shape 103"/>
          <p:cNvSpPr/>
          <p:nvPr/>
        </p:nvSpPr>
        <p:spPr>
          <a:xfrm>
            <a:off x="365760" y="4498848"/>
            <a:ext cx="89611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545">
                <a:alpha val="12000"/>
              </a:srgbClr>
            </a:outerShdw>
          </a:effectLst>
        </p:spPr>
      </p:sp>
      <p:sp>
        <p:nvSpPr>
          <p:cNvPr id="124" name="Shape 104"/>
          <p:cNvSpPr/>
          <p:nvPr/>
        </p:nvSpPr>
        <p:spPr>
          <a:xfrm>
            <a:off x="502920" y="4581144"/>
            <a:ext cx="256032" cy="256032"/>
          </a:xfrm>
          <a:prstGeom prst="ellipse">
            <a:avLst/>
          </a:prstGeom>
          <a:solidFill>
            <a:srgbClr val="134B7F"/>
          </a:solidFill>
          <a:ln w="12700">
            <a:solidFill>
              <a:srgbClr val="134B7F"/>
            </a:solidFill>
            <a:prstDash val="solid"/>
          </a:ln>
        </p:spPr>
      </p:sp>
      <p:pic>
        <p:nvPicPr>
          <p:cNvPr id="12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9488" y="4647712"/>
            <a:ext cx="122895" cy="122895"/>
          </a:xfrm>
          <a:prstGeom prst="rect">
            <a:avLst/>
          </a:prstGeom>
        </p:spPr>
      </p:pic>
      <p:sp>
        <p:nvSpPr>
          <p:cNvPr id="126" name="Text 105"/>
          <p:cNvSpPr txBox="1"/>
          <p:nvPr/>
        </p:nvSpPr>
        <p:spPr>
          <a:xfrm>
            <a:off x="822960" y="4581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INNOVATION TIMELINE</a:t>
            </a:r>
            <a:endParaRPr lang="en-US" sz="1050" dirty="0"/>
          </a:p>
        </p:txBody>
      </p:sp>
      <p:sp>
        <p:nvSpPr>
          <p:cNvPr id="127" name="Text 106"/>
          <p:cNvSpPr txBox="1"/>
          <p:nvPr/>
        </p:nvSpPr>
        <p:spPr>
          <a:xfrm>
            <a:off x="3794760" y="45811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|  Surveillance  |  Quantification  |  Food Safety  |  Standardization</a:t>
            </a:r>
            <a:endParaRPr lang="en-US" sz="900" dirty="0"/>
          </a:p>
        </p:txBody>
      </p:sp>
      <p:sp>
        <p:nvSpPr>
          <p:cNvPr id="128" name="Shape 107"/>
          <p:cNvSpPr/>
          <p:nvPr/>
        </p:nvSpPr>
        <p:spPr>
          <a:xfrm>
            <a:off x="1097280" y="4956048"/>
            <a:ext cx="7726680" cy="0"/>
          </a:xfrm>
          <a:prstGeom prst="line">
            <a:avLst/>
          </a:prstGeom>
          <a:noFill/>
          <a:ln w="19050">
            <a:solidFill>
              <a:srgbClr val="9FB6CC"/>
            </a:solidFill>
            <a:prstDash val="solid"/>
            <a:tailEnd type="triangle"/>
          </a:ln>
        </p:spPr>
      </p:sp>
      <p:sp>
        <p:nvSpPr>
          <p:cNvPr id="129" name="Shape 108"/>
          <p:cNvSpPr/>
          <p:nvPr/>
        </p:nvSpPr>
        <p:spPr>
          <a:xfrm>
            <a:off x="1033272" y="4892040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09"/>
          <p:cNvSpPr txBox="1"/>
          <p:nvPr/>
        </p:nvSpPr>
        <p:spPr>
          <a:xfrm>
            <a:off x="45720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PCR</a:t>
            </a:r>
            <a:endParaRPr lang="en-US" sz="900" dirty="0"/>
          </a:p>
        </p:txBody>
      </p:sp>
      <p:sp>
        <p:nvSpPr>
          <p:cNvPr id="131" name="Shape 110"/>
          <p:cNvSpPr/>
          <p:nvPr/>
        </p:nvSpPr>
        <p:spPr>
          <a:xfrm>
            <a:off x="2305812" y="4892040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Text 111"/>
          <p:cNvSpPr txBox="1"/>
          <p:nvPr/>
        </p:nvSpPr>
        <p:spPr>
          <a:xfrm>
            <a:off x="172974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 qPCR</a:t>
            </a:r>
            <a:endParaRPr lang="en-US" sz="900" dirty="0"/>
          </a:p>
        </p:txBody>
      </p:sp>
      <p:sp>
        <p:nvSpPr>
          <p:cNvPr id="133" name="Shape 112"/>
          <p:cNvSpPr/>
          <p:nvPr/>
        </p:nvSpPr>
        <p:spPr>
          <a:xfrm>
            <a:off x="3578352" y="4892040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Text 113"/>
          <p:cNvSpPr txBox="1"/>
          <p:nvPr/>
        </p:nvSpPr>
        <p:spPr>
          <a:xfrm>
            <a:off x="300228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HRMA</a:t>
            </a:r>
            <a:endParaRPr lang="en-US" sz="900" dirty="0"/>
          </a:p>
        </p:txBody>
      </p:sp>
      <p:sp>
        <p:nvSpPr>
          <p:cNvPr id="135" name="Shape 114"/>
          <p:cNvSpPr/>
          <p:nvPr/>
        </p:nvSpPr>
        <p:spPr>
          <a:xfrm>
            <a:off x="4850892" y="4892040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6" name="Text 115"/>
          <p:cNvSpPr txBox="1"/>
          <p:nvPr/>
        </p:nvSpPr>
        <p:spPr>
          <a:xfrm>
            <a:off x="427482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Microarray</a:t>
            </a:r>
            <a:endParaRPr lang="en-US" sz="900" dirty="0"/>
          </a:p>
        </p:txBody>
      </p:sp>
      <p:sp>
        <p:nvSpPr>
          <p:cNvPr id="137" name="Shape 116"/>
          <p:cNvSpPr/>
          <p:nvPr/>
        </p:nvSpPr>
        <p:spPr>
          <a:xfrm>
            <a:off x="6123432" y="4892040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17"/>
          <p:cNvSpPr txBox="1"/>
          <p:nvPr/>
        </p:nvSpPr>
        <p:spPr>
          <a:xfrm>
            <a:off x="554736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ddPCR</a:t>
            </a:r>
            <a:endParaRPr lang="en-US" sz="900" dirty="0"/>
          </a:p>
        </p:txBody>
      </p:sp>
      <p:sp>
        <p:nvSpPr>
          <p:cNvPr id="139" name="Shape 118"/>
          <p:cNvSpPr/>
          <p:nvPr/>
        </p:nvSpPr>
        <p:spPr>
          <a:xfrm>
            <a:off x="7395972" y="4892040"/>
            <a:ext cx="128016" cy="12801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0" name="Text 119"/>
          <p:cNvSpPr txBox="1"/>
          <p:nvPr/>
        </p:nvSpPr>
        <p:spPr>
          <a:xfrm>
            <a:off x="681990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</a:t>
            </a:r>
            <a:endParaRPr lang="en-US" sz="900" dirty="0"/>
          </a:p>
        </p:txBody>
      </p:sp>
      <p:sp>
        <p:nvSpPr>
          <p:cNvPr id="141" name="Shape 120"/>
          <p:cNvSpPr/>
          <p:nvPr/>
        </p:nvSpPr>
        <p:spPr>
          <a:xfrm>
            <a:off x="8668512" y="4892040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21"/>
          <p:cNvSpPr txBox="1"/>
          <p:nvPr/>
        </p:nvSpPr>
        <p:spPr>
          <a:xfrm>
            <a:off x="8092440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CRMs</a:t>
            </a:r>
            <a:endParaRPr lang="en-US" sz="900" dirty="0"/>
          </a:p>
        </p:txBody>
      </p:sp>
      <p:sp>
        <p:nvSpPr>
          <p:cNvPr id="143" name="Shape 122"/>
          <p:cNvSpPr/>
          <p:nvPr/>
        </p:nvSpPr>
        <p:spPr>
          <a:xfrm>
            <a:off x="502920" y="5266944"/>
            <a:ext cx="2116836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4" name="Text 123"/>
          <p:cNvSpPr txBox="1"/>
          <p:nvPr/>
        </p:nvSpPr>
        <p:spPr>
          <a:xfrm>
            <a:off x="502920" y="5266944"/>
            <a:ext cx="2116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Buffalo adulteration quantification by ddPCR</a:t>
            </a:r>
            <a:endParaRPr lang="en-US" sz="830" dirty="0"/>
          </a:p>
        </p:txBody>
      </p:sp>
      <p:sp>
        <p:nvSpPr>
          <p:cNvPr id="145" name="Shape 124"/>
          <p:cNvSpPr/>
          <p:nvPr/>
        </p:nvSpPr>
        <p:spPr>
          <a:xfrm>
            <a:off x="2692908" y="5266944"/>
            <a:ext cx="2116836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6" name="Text 125"/>
          <p:cNvSpPr txBox="1"/>
          <p:nvPr/>
        </p:nvSpPr>
        <p:spPr>
          <a:xfrm>
            <a:off x="2692908" y="5266944"/>
            <a:ext cx="2116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Sheep–goat duplex real-time PCR</a:t>
            </a:r>
            <a:endParaRPr lang="en-US" sz="830" dirty="0"/>
          </a:p>
        </p:txBody>
      </p:sp>
      <p:sp>
        <p:nvSpPr>
          <p:cNvPr id="147" name="Shape 126"/>
          <p:cNvSpPr/>
          <p:nvPr/>
        </p:nvSpPr>
        <p:spPr>
          <a:xfrm>
            <a:off x="4882896" y="5266944"/>
            <a:ext cx="2116836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8" name="Text 127"/>
          <p:cNvSpPr txBox="1"/>
          <p:nvPr/>
        </p:nvSpPr>
        <p:spPr>
          <a:xfrm>
            <a:off x="4882896" y="5266944"/>
            <a:ext cx="2116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/ complex-food authentication</a:t>
            </a:r>
            <a:endParaRPr lang="en-US" sz="830" dirty="0"/>
          </a:p>
        </p:txBody>
      </p:sp>
      <p:sp>
        <p:nvSpPr>
          <p:cNvPr id="149" name="Shape 128"/>
          <p:cNvSpPr/>
          <p:nvPr/>
        </p:nvSpPr>
        <p:spPr>
          <a:xfrm>
            <a:off x="7072884" y="5266944"/>
            <a:ext cx="2116836" cy="201168"/>
          </a:xfrm>
          <a:prstGeom prst="roundRect">
            <a:avLst>
              <a:gd name="adj" fmla="val 45455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50" name="Text 129"/>
          <p:cNvSpPr txBox="1"/>
          <p:nvPr/>
        </p:nvSpPr>
        <p:spPr>
          <a:xfrm>
            <a:off x="7072884" y="5266944"/>
            <a:ext cx="2116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Reference Materials</a:t>
            </a:r>
            <a:endParaRPr lang="en-US" sz="830" dirty="0"/>
          </a:p>
        </p:txBody>
      </p:sp>
      <p:sp>
        <p:nvSpPr>
          <p:cNvPr id="151" name="Shape 130"/>
          <p:cNvSpPr/>
          <p:nvPr/>
        </p:nvSpPr>
        <p:spPr>
          <a:xfrm>
            <a:off x="9509760" y="4498848"/>
            <a:ext cx="231617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19050" dir="5400000">
              <a:srgbClr val="0B2545">
                <a:alpha val="12000"/>
              </a:srgbClr>
            </a:outerShdw>
          </a:effectLst>
        </p:spPr>
      </p:sp>
      <p:sp>
        <p:nvSpPr>
          <p:cNvPr id="152" name="Shape 131"/>
          <p:cNvSpPr/>
          <p:nvPr/>
        </p:nvSpPr>
        <p:spPr>
          <a:xfrm>
            <a:off x="9646920" y="4590288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32508" y="4675876"/>
            <a:ext cx="158008" cy="158008"/>
          </a:xfrm>
          <a:prstGeom prst="rect">
            <a:avLst/>
          </a:prstGeom>
        </p:spPr>
      </p:pic>
      <p:sp>
        <p:nvSpPr>
          <p:cNvPr id="154" name="Text 132"/>
          <p:cNvSpPr txBox="1"/>
          <p:nvPr/>
        </p:nvSpPr>
        <p:spPr>
          <a:xfrm>
            <a:off x="10058400" y="4572000"/>
            <a:ext cx="1676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CAPACITY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050" dirty="0"/>
          </a:p>
        </p:txBody>
      </p:sp>
      <p:sp>
        <p:nvSpPr>
          <p:cNvPr id="155" name="Text 133"/>
          <p:cNvSpPr txBox="1"/>
          <p:nvPr/>
        </p:nvSpPr>
        <p:spPr>
          <a:xfrm>
            <a:off x="9646920" y="4974336"/>
            <a:ext cx="20875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on meat speciation, authenticity, FSSAI methods and hands-on molecular techniques</a:t>
            </a:r>
            <a:endParaRPr lang="en-US" sz="880" dirty="0"/>
          </a:p>
        </p:txBody>
      </p:sp>
      <p:sp>
        <p:nvSpPr>
          <p:cNvPr id="156" name="Shape 134"/>
          <p:cNvSpPr/>
          <p:nvPr/>
        </p:nvSpPr>
        <p:spPr>
          <a:xfrm>
            <a:off x="365760" y="5614416"/>
            <a:ext cx="11460175" cy="658368"/>
          </a:xfrm>
          <a:prstGeom prst="roundRect">
            <a:avLst>
              <a:gd name="adj" fmla="val 11111"/>
            </a:avLst>
          </a:prstGeom>
          <a:solidFill>
            <a:srgbClr val="134B7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7" name="Shape 135"/>
          <p:cNvSpPr/>
          <p:nvPr/>
        </p:nvSpPr>
        <p:spPr>
          <a:xfrm>
            <a:off x="502920" y="576986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5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3263" y="5860207"/>
            <a:ext cx="166787" cy="166787"/>
          </a:xfrm>
          <a:prstGeom prst="rect">
            <a:avLst/>
          </a:prstGeom>
        </p:spPr>
      </p:pic>
      <p:sp>
        <p:nvSpPr>
          <p:cNvPr id="159" name="Text 136"/>
          <p:cNvSpPr txBox="1"/>
          <p:nvPr/>
        </p:nvSpPr>
        <p:spPr>
          <a:xfrm>
            <a:off x="914400" y="561441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00" dirty="0"/>
          </a:p>
        </p:txBody>
      </p:sp>
      <p:pic>
        <p:nvPicPr>
          <p:cNvPr id="16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30552" y="5861304"/>
            <a:ext cx="164592" cy="164592"/>
          </a:xfrm>
          <a:prstGeom prst="rect">
            <a:avLst/>
          </a:prstGeom>
        </p:spPr>
      </p:pic>
      <p:sp>
        <p:nvSpPr>
          <p:cNvPr id="161" name="Text 137"/>
          <p:cNvSpPr txBox="1"/>
          <p:nvPr/>
        </p:nvSpPr>
        <p:spPr>
          <a:xfrm>
            <a:off x="2350008" y="5669280"/>
            <a:ext cx="1247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 Accredited</a:t>
            </a:r>
            <a:endParaRPr lang="en-US" sz="900" dirty="0"/>
          </a:p>
        </p:txBody>
      </p:sp>
      <p:sp>
        <p:nvSpPr>
          <p:cNvPr id="162" name="Shape 138"/>
          <p:cNvSpPr/>
          <p:nvPr/>
        </p:nvSpPr>
        <p:spPr>
          <a:xfrm>
            <a:off x="3651961" y="5760720"/>
            <a:ext cx="0" cy="365760"/>
          </a:xfrm>
          <a:prstGeom prst="line">
            <a:avLst/>
          </a:prstGeom>
          <a:noFill/>
          <a:ln w="9525">
            <a:solidFill>
              <a:srgbClr val="3F6E9C"/>
            </a:solidFill>
            <a:prstDash val="solid"/>
          </a:ln>
        </p:spPr>
      </p:sp>
      <p:pic>
        <p:nvPicPr>
          <p:cNvPr id="16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43401" y="5861304"/>
            <a:ext cx="164592" cy="164592"/>
          </a:xfrm>
          <a:prstGeom prst="rect">
            <a:avLst/>
          </a:prstGeom>
        </p:spPr>
      </p:pic>
      <p:sp>
        <p:nvSpPr>
          <p:cNvPr id="164" name="Text 139"/>
          <p:cNvSpPr txBox="1"/>
          <p:nvPr/>
        </p:nvSpPr>
        <p:spPr>
          <a:xfrm>
            <a:off x="3962857" y="5669280"/>
            <a:ext cx="1247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Referral / Primary Laboratory Recognition</a:t>
            </a:r>
            <a:endParaRPr lang="en-US" sz="900" dirty="0"/>
          </a:p>
        </p:txBody>
      </p:sp>
      <p:sp>
        <p:nvSpPr>
          <p:cNvPr id="165" name="Shape 140"/>
          <p:cNvSpPr/>
          <p:nvPr/>
        </p:nvSpPr>
        <p:spPr>
          <a:xfrm>
            <a:off x="5264810" y="5760720"/>
            <a:ext cx="0" cy="365760"/>
          </a:xfrm>
          <a:prstGeom prst="line">
            <a:avLst/>
          </a:prstGeom>
          <a:noFill/>
          <a:ln w="9525">
            <a:solidFill>
              <a:srgbClr val="3F6E9C"/>
            </a:solidFill>
            <a:prstDash val="solid"/>
          </a:ln>
        </p:spPr>
      </p:sp>
      <p:pic>
        <p:nvPicPr>
          <p:cNvPr id="16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56250" y="5861304"/>
            <a:ext cx="164592" cy="164592"/>
          </a:xfrm>
          <a:prstGeom prst="rect">
            <a:avLst/>
          </a:prstGeom>
        </p:spPr>
      </p:pic>
      <p:sp>
        <p:nvSpPr>
          <p:cNvPr id="167" name="Text 141"/>
          <p:cNvSpPr txBox="1"/>
          <p:nvPr/>
        </p:nvSpPr>
        <p:spPr>
          <a:xfrm>
            <a:off x="5575706" y="5669280"/>
            <a:ext cx="1247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Referral Laboratory</a:t>
            </a:r>
            <a:endParaRPr lang="en-US" sz="900" dirty="0"/>
          </a:p>
        </p:txBody>
      </p:sp>
      <p:sp>
        <p:nvSpPr>
          <p:cNvPr id="168" name="Shape 142"/>
          <p:cNvSpPr/>
          <p:nvPr/>
        </p:nvSpPr>
        <p:spPr>
          <a:xfrm>
            <a:off x="6877660" y="5760720"/>
            <a:ext cx="0" cy="365760"/>
          </a:xfrm>
          <a:prstGeom prst="line">
            <a:avLst/>
          </a:prstGeom>
          <a:noFill/>
          <a:ln w="9525">
            <a:solidFill>
              <a:srgbClr val="3F6E9C"/>
            </a:solidFill>
            <a:prstDash val="solid"/>
          </a:ln>
        </p:spPr>
      </p:sp>
      <p:pic>
        <p:nvPicPr>
          <p:cNvPr id="16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69100" y="5861304"/>
            <a:ext cx="164592" cy="164592"/>
          </a:xfrm>
          <a:prstGeom prst="rect">
            <a:avLst/>
          </a:prstGeom>
        </p:spPr>
      </p:pic>
      <p:sp>
        <p:nvSpPr>
          <p:cNvPr id="170" name="Text 143"/>
          <p:cNvSpPr txBox="1"/>
          <p:nvPr/>
        </p:nvSpPr>
        <p:spPr>
          <a:xfrm>
            <a:off x="7188556" y="5669280"/>
            <a:ext cx="1247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NETSCoFAN – Lead Centre for Foods of Animal Origin</a:t>
            </a:r>
            <a:endParaRPr lang="en-US" sz="900" dirty="0"/>
          </a:p>
        </p:txBody>
      </p:sp>
      <p:sp>
        <p:nvSpPr>
          <p:cNvPr id="171" name="Shape 144"/>
          <p:cNvSpPr/>
          <p:nvPr/>
        </p:nvSpPr>
        <p:spPr>
          <a:xfrm>
            <a:off x="8490509" y="5760720"/>
            <a:ext cx="0" cy="365760"/>
          </a:xfrm>
          <a:prstGeom prst="line">
            <a:avLst/>
          </a:prstGeom>
          <a:noFill/>
          <a:ln w="9525">
            <a:solidFill>
              <a:srgbClr val="3F6E9C"/>
            </a:solidFill>
            <a:prstDash val="solid"/>
          </a:ln>
        </p:spPr>
      </p:sp>
      <p:pic>
        <p:nvPicPr>
          <p:cNvPr id="17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81949" y="5861304"/>
            <a:ext cx="164592" cy="164592"/>
          </a:xfrm>
          <a:prstGeom prst="rect">
            <a:avLst/>
          </a:prstGeom>
        </p:spPr>
      </p:pic>
      <p:sp>
        <p:nvSpPr>
          <p:cNvPr id="173" name="Text 145"/>
          <p:cNvSpPr txBox="1"/>
          <p:nvPr/>
        </p:nvSpPr>
        <p:spPr>
          <a:xfrm>
            <a:off x="8801405" y="5669280"/>
            <a:ext cx="1247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FAPAS Proficiency Testing</a:t>
            </a:r>
            <a:endParaRPr lang="en-US" sz="900" dirty="0"/>
          </a:p>
        </p:txBody>
      </p:sp>
      <p:sp>
        <p:nvSpPr>
          <p:cNvPr id="174" name="Shape 146"/>
          <p:cNvSpPr/>
          <p:nvPr/>
        </p:nvSpPr>
        <p:spPr>
          <a:xfrm>
            <a:off x="10103358" y="5760720"/>
            <a:ext cx="0" cy="365760"/>
          </a:xfrm>
          <a:prstGeom prst="line">
            <a:avLst/>
          </a:prstGeom>
          <a:noFill/>
          <a:ln w="9525">
            <a:solidFill>
              <a:srgbClr val="3F6E9C"/>
            </a:solidFill>
            <a:prstDash val="solid"/>
          </a:ln>
        </p:spPr>
      </p:sp>
      <p:pic>
        <p:nvPicPr>
          <p:cNvPr id="17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94798" y="5861304"/>
            <a:ext cx="164592" cy="164592"/>
          </a:xfrm>
          <a:prstGeom prst="rect">
            <a:avLst/>
          </a:prstGeom>
        </p:spPr>
      </p:pic>
      <p:sp>
        <p:nvSpPr>
          <p:cNvPr id="176" name="Text 147"/>
          <p:cNvSpPr txBox="1"/>
          <p:nvPr/>
        </p:nvSpPr>
        <p:spPr>
          <a:xfrm>
            <a:off x="10414254" y="5669280"/>
            <a:ext cx="1247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Eat Right Research Team Award</a:t>
            </a:r>
            <a:endParaRPr lang="en-US" sz="900" dirty="0"/>
          </a:p>
        </p:txBody>
      </p:sp>
      <p:sp>
        <p:nvSpPr>
          <p:cNvPr id="177" name="Text 148"/>
          <p:cNvSpPr txBox="1"/>
          <p:nvPr/>
        </p:nvSpPr>
        <p:spPr>
          <a:xfrm>
            <a:off x="365760" y="6345936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research laboratory to nationally recognised testing facility — advancing authenticity, accountability, food safety and scientific integrity.”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ICAR–National Meat Research Institute, Hyderabad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ICAR–MSIL: From Molecular Science to National Food Authenticity</dc:title>
  <dc:subject>PptxGenJS Presentation</dc:subject>
  <dc:creator>PptxGenJS</dc:creator>
  <cp:lastModifiedBy>PptxGenJS</cp:lastModifiedBy>
  <cp:revision>1</cp:revision>
  <dcterms:created xsi:type="dcterms:W3CDTF">2026-09-25T06:58:30Z</dcterms:created>
  <dcterms:modified xsi:type="dcterms:W3CDTF">2026-09-25T06:58:30Z</dcterms:modified>
</cp:coreProperties>
</file>