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priority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#1 Transgene + Instability Authentication</c:v>
                  </c:pt>
                  <c:pt idx="1">
                    <c:v>#4 Digital Differentiation Index</c:v>
                  </c:pt>
                  <c:pt idx="2">
                    <c:v>#3 Livestock CNV-Hotspot Panel</c:v>
                  </c:pt>
                  <c:pt idx="3">
                    <c:v>#6 DNA Integrity Index</c:v>
                  </c:pt>
                  <c:pt idx="4">
                    <c:v>#2 mtDNA:nDNA Culture Signature</c:v>
                  </c:pt>
                  <c:pt idx="5">
                    <c:v>#5 Mycoplasma Matrix Triplex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9</c:v>
                </c:pt>
                <c:pt idx="2">
                  <c:v>8</c:v>
                </c:pt>
                <c:pt idx="3">
                  <c:v>6.5</c:v>
                </c:pt>
                <c:pt idx="4">
                  <c:v>6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626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AFA"/>
        </a:solidFill>
        <a:ln>
          <a:noFill/>
        </a:ln>
        <a:effectLst/>
      </c:spPr>
    </c:plotArea>
    <c:plotVisOnly val="1"/>
    <c:dispBlanksAs val="span"/>
  </c:chart>
  <c:spPr>
    <a:solidFill>
      <a:srgbClr val="F5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508760"/>
            <a:ext cx="0" cy="4206240"/>
          </a:xfrm>
          <a:prstGeom prst="line">
            <a:avLst/>
          </a:prstGeom>
          <a:noFill/>
          <a:ln w="19050">
            <a:solidFill>
              <a:srgbClr val="2748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5715000"/>
            <a:ext cx="2743200" cy="0"/>
          </a:xfrm>
          <a:prstGeom prst="line">
            <a:avLst/>
          </a:prstGeom>
          <a:noFill/>
          <a:ln w="19050">
            <a:solidFill>
              <a:srgbClr val="2748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75320" y="1051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 amplitude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656064" y="4764024"/>
            <a:ext cx="621792" cy="621792"/>
          </a:xfrm>
          <a:prstGeom prst="ellipse">
            <a:avLst/>
          </a:prstGeom>
          <a:solidFill>
            <a:srgbClr val="0F3B41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0" y="39776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9546336" y="3099816"/>
            <a:ext cx="841248" cy="8412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Shape 6"/>
          <p:cNvSpPr/>
          <p:nvPr/>
        </p:nvSpPr>
        <p:spPr>
          <a:xfrm>
            <a:off x="9473184" y="2066544"/>
            <a:ext cx="987552" cy="9875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317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DYE · MULTIPLE TARGETS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6974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Single-FAM Amplitude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Multiplexing in ddPCR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40080" y="452628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literature review and research roadmap for meat authentication and cultivated-meat / muscle-organoid quality control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supervisor discussion  ·  BiGeo ddPCR / Food-Authentication Project  ·  11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676656" cy="67665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89280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concept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258568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single-dye amplitude multiplexing actually works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0" y="169164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947672"/>
            <a:ext cx="676656" cy="67665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199632" y="1947672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40880" y="189280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published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2258568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mature literature — but not for this application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364992"/>
            <a:ext cx="676656" cy="67665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364992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45920" y="331012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missing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3675888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confirmed gap in cultivated-meat / organoid QC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310896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9632" y="3364992"/>
            <a:ext cx="676656" cy="67665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199632" y="3364992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40880" y="331012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paradox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3675888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species DNA can't authenticate cultivated meat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4782312"/>
            <a:ext cx="676656" cy="67665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782312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645920" y="472744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ranked ideas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45920" y="5093208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Ranked, then novelty-checked on the top 3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0" y="452628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9632" y="4782312"/>
            <a:ext cx="676656" cy="67665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6199632" y="4782312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040880" y="472744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project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40880" y="5093208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risks, backup, and reading list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FAM channel, several targets, ranked by brightness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3794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73352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ddPCR droplet either has target or not — but the </a:t>
            </a:r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end-point brightness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 positive droplet is tunable.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88950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24912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Diluting a FAM probe/primer pair produces a </a:t>
            </a:r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dimmer, but still clearly positive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droplet cluster.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94106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776472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2–4 targets at different concentrations in the </a:t>
            </a:r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FAM channel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each forms its own amplitude band.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99262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828032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mature, patented technique — Bio-Rad's own 4-target GMO assay stacks </a:t>
            </a:r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targets per dye channel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this way.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37960" y="169164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0" y="189280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Schematic FAM amplitude histogram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0" y="4754880"/>
            <a:ext cx="4434840" cy="502920"/>
          </a:xfrm>
          <a:prstGeom prst="rect">
            <a:avLst/>
          </a:prstGeom>
          <a:solidFill>
            <a:srgbClr val="E4EF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475488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droplets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0" y="4160520"/>
            <a:ext cx="4434840" cy="594360"/>
          </a:xfrm>
          <a:prstGeom prst="rect">
            <a:avLst/>
          </a:prstGeom>
          <a:solidFill>
            <a:srgbClr val="9FD8C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4160520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 ·  low-concentration probe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0" y="3447288"/>
            <a:ext cx="4434840" cy="713232"/>
          </a:xfrm>
          <a:prstGeom prst="rect">
            <a:avLst/>
          </a:prstGeom>
          <a:solidFill>
            <a:srgbClr val="3FAE9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3447288"/>
            <a:ext cx="4160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 ·  mid-concentration probe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0" y="2578608"/>
            <a:ext cx="4434840" cy="868680"/>
          </a:xfrm>
          <a:prstGeom prst="rect">
            <a:avLst/>
          </a:prstGeom>
          <a:solidFill>
            <a:srgbClr val="016C7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2578608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 ·  high-concentration probe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12280" y="2377440"/>
            <a:ext cx="0" cy="2880360"/>
          </a:xfrm>
          <a:prstGeom prst="line">
            <a:avLst/>
          </a:prstGeom>
          <a:noFill/>
          <a:ln w="12700">
            <a:solidFill>
              <a:srgbClr val="9DBD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251460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↑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LANDSCAPE ·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literature is mature — for other domains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Amplitude-multiplexing fundamentals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Whale, Huggett &amp; Tzonev (2016) define the field's taxonomy: spectral, amplitude-, and amplicon-size multiplexing.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920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25146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4-target single-well GMO assay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26280" y="30175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Dobnik et al. (2016) stack 2 GM-maize targets per dye channel by probe concentration — the closest published analogue to “FAM amplitude coding.”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1920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25146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Single-color CNV / SNV detection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75320" y="30175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Miotke, Lau, Rumma &amp; Ji (2013) show one channel can carry several quantitative amplitude tiers in a clinical context.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2976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8920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Meat-species ddPCR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" y="53949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mature field (Cai et al. 2014 onward) — but every assay targets species DNA, at LOQ down to 0.01%.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40690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42976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26280" y="48920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Cluster-classification tooling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26280" y="53949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dPCP, data-gridding, and k-NN machine-learning classifiers all target the “rain” / overlap problem.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46720" y="40690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75320" y="42976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75320" y="48920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standards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75320" y="53949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dMIQE 2020 guidelines require classification to be reported — but set no quantitative separation threshold.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LANDSCAPE ·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nobody has connected it to cultivated meat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663440" cy="3566160"/>
          </a:xfrm>
          <a:prstGeom prst="roundRect">
            <a:avLst>
              <a:gd name="adj" fmla="val 2564"/>
            </a:avLst>
          </a:prstGeom>
          <a:solidFill>
            <a:srgbClr val="10353B"/>
          </a:solidFill>
          <a:ln w="12700">
            <a:solidFill>
              <a:srgbClr val="1D4C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4884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868680" y="397764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7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papers found combining ddPCR amplitude multiplexing with cultivated meat, muscle organoids, or cell-based‑meat QC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23560" y="2011680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5897880" y="1828800"/>
            <a:ext cx="5760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search across PubMed/PMC, Crossref-indexed publishers, Nature, ScienceDirect, Wiley, ACS, MDPI, Frontiers, Oxford Academic, bioRxiv (2020–2026 + foundational earlier work)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23560" y="3182112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5897880" y="2999232"/>
            <a:ext cx="5760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Muscle-organoid and cultivated-meat differentiation studies (PAX7, MYOD1, MYOG, PPARγ, FABP4) use RT-qPCR almost exclusively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23560" y="4352544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5897880" y="4169664"/>
            <a:ext cx="5760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ddPCR genomic-stability monitoring (chromosome 20q hotspot) exists — but only in human iPSCs, never in livestock cell lines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 OF THE TECHNIQUE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field itself says is still unsolved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82296" cy="9601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standardized separation metric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121408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dMIQE (2020) requires classification to be reported, but defines no minimum quantitative distance between amplitude clusters.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737360"/>
            <a:ext cx="82296" cy="9601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82880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2 tiers per channel, formally validated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2121408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paper found reliably resolves more than ~2 amplitude tiers in a single FAM channel with a defined error rate.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880360"/>
            <a:ext cx="82296" cy="9601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97180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to 4.5× signal loss on cooking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3264408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Heat-induced DNA fragmentation cuts ddPCR readings sharply — tier-boundary stability under degradation is untested.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2880360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2880360"/>
            <a:ext cx="82296" cy="9601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97180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Inhibitors can shift tiers, not just counts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46520" y="3264408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matrix inhibitors alter signal distribution/amplitude rather than just droplet number — a specific risk for tiered assays.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023360"/>
            <a:ext cx="82296" cy="9601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11480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Gating is still semi-manual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4407408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and data-gridding tools beat manual gating, but none are validated on food-matrix or &gt;2-tier data.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4023360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4023360"/>
            <a:ext cx="82296" cy="9601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11480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inter-instrument study found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46520" y="4407408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Same-platform, multi-unit amplitude reproducibility has not been published for this design pattern.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PARADOX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species DNA can't authenticate cultivated meat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88920" y="2377440"/>
            <a:ext cx="2834640" cy="2834640"/>
          </a:xfrm>
          <a:prstGeom prst="ellipse">
            <a:avLst/>
          </a:prstGeom>
          <a:solidFill>
            <a:srgbClr val="028090">
              <a:alpha val="65000"/>
            </a:srgbClr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69080" y="2377440"/>
            <a:ext cx="2834640" cy="2834640"/>
          </a:xfrm>
          <a:prstGeom prst="ellipse">
            <a:avLst/>
          </a:prstGeom>
          <a:solidFill>
            <a:srgbClr val="02C39A">
              <a:alpha val="65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40280" y="34747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beef DNA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897880" y="34747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Cultivated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beef DNA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931920" y="32918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 taurus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nuclear DNA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identical 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544068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7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Species-specific ddPCR assays — the entire existing meat-authentication toolkit — were built to answer “which species?”, not “which production system?” They structurally cannot make this call.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052560" y="178308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10353B"/>
          </a:solidFill>
          <a:ln w="12700">
            <a:solidFill>
              <a:srgbClr val="1D4C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81160" y="201168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BFE3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cultured meat industry is not exempt from the threats of food fraud … new markers must be identified.”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81160" y="53949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Checkmeat review, Food Sci. Anim. Resour. 2023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REFRAMING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authentication needs a different biomarker class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199339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Immortalization transgenes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hTERT / CDK4 sequences present only in engineered cell lines (e.g. iBSC1) — absent by definition from any animal.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80760" y="17373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20116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040880" y="199339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mtDNA : nDNA ratio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55080" y="26517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treated as measurement noise in species-quantification papers — unexplored as a culture-condition signature.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08760" y="418795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Genomic-instability CNV hotspots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84632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Passage-driven drift, validated by ddPCR in human iPSCs — never adapted to livestock cell banks.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393192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4206240"/>
            <a:ext cx="502920" cy="502920"/>
          </a:xfrm>
          <a:prstGeom prst="ellipse">
            <a:avLst/>
          </a:prstGeom>
          <a:solidFill>
            <a:srgbClr val="057A6E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040880" y="418795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Epigenetic / methylation drift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55080" y="484632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Culture-age signature; ddPCR methylation-clock precedent exists for human age prediction, unused here.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IDEAS, RANKED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Composite priority across novelty, feasibility, cost &amp; fit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406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636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composite (novelty · publishability · real-world relevance · feasibility · cost · time · sample access · lab fit · ddPCR fit · follow-up potential) — not a validated numeric score.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229600" y="1691640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0B2027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1874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field of 10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503920" y="238658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8732520" y="22402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 Digital Epigenetic Clock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503920" y="284378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8"/>
          <p:cNvSpPr/>
          <p:nvPr/>
        </p:nvSpPr>
        <p:spPr>
          <a:xfrm>
            <a:off x="8732520" y="26974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 CRISPR-Edit Zygosity Test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503920" y="330098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8732520" y="31546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 Cross-Line Contamination Panel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503920" y="375818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2"/>
          <p:cNvSpPr/>
          <p:nvPr/>
        </p:nvSpPr>
        <p:spPr>
          <a:xfrm>
            <a:off x="8732520" y="36118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 Proliferation PAT Biomarker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503920" y="48920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8FB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rationale, scoring table and all 20 detail fields per idea are in the companion review document.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COMMITTING BENCH 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check on the top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43434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0" y="2103120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2103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 — Transgene + Genomic-</a:t>
            </a:r>
            <a:endParaRPr lang="en-US" sz="14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Instability Authentication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building block (ddPCR transgene detection; ddPCR CNV monitoring; amplitude multiplexing) is published separately — the combination, and its use as a cultivated-meat authentication test, was not found anywhere.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566160" cy="43434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23560" y="2103120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2103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32918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 — Digital</a:t>
            </a:r>
            <a:endParaRPr lang="en-US" sz="14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Differentiation Index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41605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Cell-population-ratio ddPCR is precedented in clinical hematology (2 targets, 2 channels) — but never applied to cultivated meat, and never at 3+ targets amplitude-stacked in one channel.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66160" cy="43434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18320" y="2103120"/>
            <a:ext cx="1005840" cy="10058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9418320" y="2103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YELLOW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66760" y="32918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 — Livestock</a:t>
            </a:r>
            <a:endParaRPr lang="en-US" sz="14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CNV-Hotspot Panel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41605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near-identical method already exists — in human iPSCs (chromosome 20q). This idea translates and consolidates it into livestock cells, an incremental, not from-scratch, contribution.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Transgene-authentication ddPCR assay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D7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single-FAM, amplitude-tiered ddPCR assay authenticating cultivated meat via immortalization-transgene detection relative to a host reference gene — independent of species DNA.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2743200"/>
            <a:ext cx="7863840" cy="1170432"/>
          </a:xfrm>
          <a:prstGeom prst="roundRect">
            <a:avLst>
              <a:gd name="adj" fmla="val 5469"/>
            </a:avLst>
          </a:prstGeom>
          <a:solidFill>
            <a:srgbClr val="10353B"/>
          </a:solidFill>
          <a:ln w="12700">
            <a:solidFill>
              <a:srgbClr val="1D4C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871216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06040" y="2871216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validated molecular test distinguishes cultivated from conventional meat of the same species — a live, near-term regulatory gap as cultivated meat reaches market.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4069080"/>
            <a:ext cx="7863840" cy="1170432"/>
          </a:xfrm>
          <a:prstGeom prst="roundRect">
            <a:avLst>
              <a:gd name="adj" fmla="val 5469"/>
            </a:avLst>
          </a:prstGeom>
          <a:solidFill>
            <a:srgbClr val="10353B"/>
          </a:solidFill>
          <a:ln w="12700">
            <a:solidFill>
              <a:srgbClr val="1D4C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197096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06040" y="4197096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2-tier single-FAM assay (transgene-junction probe, low conc. + bovine reference gene, high conc., same channel) reliably detects and quantifies transgene-positive material against a conventional-beef background, including in admixture.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5394960"/>
            <a:ext cx="7863840" cy="1170432"/>
          </a:xfrm>
          <a:prstGeom prst="roundRect">
            <a:avLst>
              <a:gd name="adj" fmla="val 5469"/>
            </a:avLst>
          </a:prstGeom>
          <a:solidFill>
            <a:srgbClr val="10353B"/>
          </a:solidFill>
          <a:ln w="12700">
            <a:solidFill>
              <a:srgbClr val="1D4C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522976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different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6040" y="5522976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application of ddPCR — amplitude-multiplexed, single-channel — to the exact authentication question the field's own 2023 review calls unsolved.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32520" y="1600200"/>
            <a:ext cx="2880360" cy="4617720"/>
          </a:xfrm>
          <a:prstGeom prst="roundRect">
            <a:avLst>
              <a:gd name="adj" fmla="val 2540"/>
            </a:avLst>
          </a:prstGeom>
          <a:solidFill>
            <a:srgbClr val="10353B"/>
          </a:solidFill>
          <a:ln w="12700">
            <a:solidFill>
              <a:srgbClr val="1D4C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06840" y="2249424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923544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Novelty: GREEN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06840" y="2843784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9235440" y="2697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iBSC1 (public)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06840" y="3438144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3291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medium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06840" y="4032504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9235440" y="3886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medium-long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06840" y="4626864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9235440" y="4480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Journals: Food Chem., Food Control, npj Sci. Food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RECOMMENDATION, CONTINUED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0120" y="2011680"/>
            <a:ext cx="0" cy="3566160"/>
          </a:xfrm>
          <a:prstGeom prst="line">
            <a:avLst/>
          </a:prstGeom>
          <a:noFill/>
          <a:ln w="25400">
            <a:solidFill>
              <a:srgbClr val="DCEA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1801368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" y="1801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7556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probes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0" y="1728216"/>
            <a:ext cx="7086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 probes for the hTERT/CDK4 transgene junction (low conc.) and a bovine single-copy reference gene (high conc.), same channel.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0664" y="2514600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" y="25146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2468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Titrate &amp; validate separation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2441448"/>
            <a:ext cx="7086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iBSC1 gDNA (positive) vs. conventional beef gDNA (negative); quantify tier separation with a formal statistic.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" y="3227832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" y="32278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821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calibration curve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3154680"/>
            <a:ext cx="7086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Spiked admixture series, 0.01%–100% transgene-positive DNA in conventional-beef background → LOD / LOQ.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0664" y="3941064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" y="39410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389534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Stress-test the matrix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06240" y="3867912"/>
            <a:ext cx="7086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vs. cooked (time/temperature series) vs. frozen-thawed — benchmark against the ~4.5× degradation figure in the meat-ddPCR literature.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0664" y="4654296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" y="46542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17320" y="460857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06240" y="4581144"/>
            <a:ext cx="7086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Inter-run (and inter-instrument, if accessible) replication.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0664" y="5367528"/>
            <a:ext cx="438912" cy="43891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" y="5367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17320" y="532180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Stretch goal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06240" y="5294376"/>
            <a:ext cx="7086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3rd amplitude tier for a candidate genomic-instability locus, once the core 2-tier assay is validated.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RECOMMENDATION, CONTINUED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— and the fallback if any of them bite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risks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86000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authenticates transgenic / immortalized-line cultivated meat — not all production methods use engineered lines.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337560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transgene-junction sequences for commercial products may be proprietary; iBSC1 (public) is the proof-of-concept system.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4572000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389120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Amplitude-tier separation under heavy degradation (well-cooked, processed product) is unproven — exactly where testing matters most.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73736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plan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37960" y="2468880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2286000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scope is judged too narrow: extend into a multi-marker toolkit by adding the mtDNA:nDNA ratio and/or DNA-integrity-index tiers as companions.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37960" y="3520440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3337560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Checkmeat review itself calls for multiple complementary markers, not one universal test — this is the scientifically defensible framing either way.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37960" y="4572000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4389120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iBSC1 access or probe design stalls: fall back cleanly to Idea #4 (Digital Differentiation Index) — same lab, same skillset, ranked #2 overall.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SUPERVISOR MEETING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papers worth reading first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1168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98448" y="182880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Mariano et al., “Checkmeat” 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19456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Sci. Anim. Resour. 2023 — states the core problem outright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492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73368" y="201168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22008" y="182880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Whale, Huggett &amp; Tzonev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22008" y="219456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Biomol. Detect. Quantif. 2016 — the field's multiplexing taxonomy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816352"/>
            <a:ext cx="53492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0906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090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98448" y="2907792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Dobnik et al., 4-target GMO ddPCR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98448" y="3273552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Sci. Rep. 2016 — closest worked example of FAM amplitude-stacking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2816352"/>
            <a:ext cx="53492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73368" y="30906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373368" y="3090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22008" y="2907792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Miotke, Lau, Rumma &amp; Ji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22008" y="3273552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Anal. Chem. 2013 — single-color multi-tier quantification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895344"/>
            <a:ext cx="53492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416966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169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98448" y="398678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Huggett et al., dMIQE 2020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98448" y="435254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Clin. Chem. 2020 — reporting standard; the separation-metric gap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72200" y="3895344"/>
            <a:ext cx="53492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73368" y="416966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6373368" y="4169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22008" y="398678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Stout et al., immortalized iBSC1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22008" y="435254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 Synth. Biol. 2023 — the transgene + cell-line source material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974336"/>
            <a:ext cx="53492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9808" y="524865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" y="5248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98448" y="5065776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hPSC chromosome 20q ddPCR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298448" y="5431536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bioRxiv 2023 — the human-only CNV-hotspot precedent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72200" y="4974336"/>
            <a:ext cx="53492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38100" dir="5400000">
              <a:srgbClr val="0B2027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73368" y="524865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1" name="Text 39"/>
          <p:cNvSpPr/>
          <p:nvPr/>
        </p:nvSpPr>
        <p:spPr>
          <a:xfrm>
            <a:off x="6373368" y="5248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922008" y="5065776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 et al., meat-species ddPCR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22008" y="5431536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Chem. 2014 — foundational meat ddPCR benchmark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48640" y="626364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20-paper list with DOIs, plus every citation's details, is in the companion review document.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for your supervisor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0353B"/>
          </a:solidFill>
          <a:ln w="12700">
            <a:solidFill>
              <a:srgbClr val="1D4C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have (or can we get) access to iBSC1 or an equivalent immortalized livestock line, and conventional-beef reference material?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9718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0353B"/>
          </a:solidFill>
          <a:ln w="12700">
            <a:solidFill>
              <a:srgbClr val="1D4C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200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306324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core-facility support available for the CNV-hotspot discovery sub-step (low-pass sequencing), or should we scope that out for a first paper?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40690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0353B"/>
          </a:solidFill>
          <a:ln w="12700">
            <a:solidFill>
              <a:srgbClr val="1D4C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2976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416052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we pilot Idea #4 (Digital Differentiation Index) in parallel, as a lower-risk, faster-turnaround result while the transgene assay is validated?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51663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0353B"/>
          </a:solidFill>
          <a:ln w="12700">
            <a:solidFill>
              <a:srgbClr val="1D4C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3949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394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525780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realistic timeline / funding window for the wet-lab phase, given the medium-long estimate on the primary project?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6355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review: docs/single-dye-amplitude-multiplexed-ddpcr-review.md  ·  PR #19, Swamy7218-thub/BiGeo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BiGeo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Single-FAM Amplitude Multiplexing in ddPCR</dc:title>
  <dc:subject>PptxGenJS Presentation</dc:subject>
  <dc:creator>Claude</dc:creator>
  <cp:lastModifiedBy>Claude</cp:lastModifiedBy>
  <cp:revision>1</cp:revision>
  <dcterms:created xsi:type="dcterms:W3CDTF">2026-08-11T11:37:48Z</dcterms:created>
  <dcterms:modified xsi:type="dcterms:W3CDTF">2026-08-11T11:37:48Z</dcterms:modified>
</cp:coreProperties>
</file>