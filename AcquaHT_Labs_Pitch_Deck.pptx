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05840"/>
            <a:ext cx="10177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CLIMATE-TECH · WATER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101772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Helvetica Neue"/>
              </a:rPr>
              <a:t>Making Water
From Air.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794760"/>
            <a:ext cx="10177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elvetica Neue"/>
              </a:rPr>
              <a:t>Solar-powered Atmospheric Water Generators
for a water-scarce world — starting with India.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66344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Swamynathan Jerra, Founder &amp; CEO · AcquaHT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5486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163M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5989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Indians lack safe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5486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5989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less energy than 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5486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₹2/L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5989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delivered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The water crisis is here.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177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2.1 billion people cannot access safe drinking water today. Every existing solution makes the problem worse.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3F5C"/>
                </a:solidFill>
                <a:latin typeface="Helvetica Neue"/>
              </a:rPr>
              <a:t>2.1B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people lack safe
water 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2004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3F5C"/>
                </a:solidFill>
                <a:latin typeface="Helvetica Neue"/>
              </a:rPr>
              <a:t>163M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4160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Indians drink
contaminated water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004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3F5C"/>
                </a:solidFill>
                <a:latin typeface="Helvetica Neue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60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global water deficit
projected by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2004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3F5C"/>
                </a:solidFill>
                <a:latin typeface="Helvetica Neue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4160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Indian cities face
groundwater depletion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10177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F5C"/>
                </a:solidFill>
                <a:latin typeface="Helvetica Neue"/>
              </a:rPr>
              <a:t>Groundwater refills in 15,000–75,000 years.  Bottled water carries 240,000 nanoplastics per litre.  Existing AWGs burn 500–600 Wh/L — 3× our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Helvetica Neue"/>
              </a:rPr>
              <a:t>India: the largest underserved
water market on Earth.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3F5C"/>
                </a:solidFill>
                <a:latin typeface="Helvetica Neue"/>
              </a:rPr>
              <a:t>163M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926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Helvetica Neue"/>
              </a:rPr>
              <a:t>Indians drink water below WHO safety thresholds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3F5C"/>
                </a:solidFill>
                <a:latin typeface="Helvetica Neue"/>
              </a:rPr>
              <a:t>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931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Helvetica Neue"/>
              </a:rPr>
              <a:t>of rural households have no piped water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3F5C"/>
                </a:solidFill>
                <a:latin typeface="Helvetica Neue"/>
              </a:rPr>
              <a:t>₹1.5T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937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Helvetica Neue"/>
              </a:rPr>
              <a:t>annual economic loss from water scarcity — 6% of India's GDP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98932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F5C"/>
                </a:solidFill>
                <a:latin typeface="Helvetica Neue"/>
              </a:rPr>
              <a:t>Primary market: Coastal AP, Telangana, Tamil Nadu, Kerala — 110M+ people in high-humidity, water-stressed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Helvetica Neue"/>
              </a:rPr>
              <a:t>Every existing solution has a fatal flaw.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F5C"/>
                </a:solidFill>
                <a:latin typeface="Helvetica Neue"/>
              </a:rPr>
              <a:t>Piped
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38% of rural India has no last-mile network.
₹2–5L per household to extend.
Jal Jeevan Mission 7+ years behind.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1945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F5C"/>
                </a:solidFill>
                <a:latin typeface="Helvetica Neue"/>
              </a:rPr>
              <a:t>Bottled
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063240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240,000 nanoplastics per litre.
Fails during floods — peak demand, zero supply.
₹15–20/L. Unaffordable for 60% of target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F5C"/>
                </a:solidFill>
                <a:latin typeface="Helvetica Neue"/>
              </a:rPr>
              <a:t>Conventional
AWGs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63240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500–600 Wh/L — grid-dependent, expensive.
Fails below 50% RH — excludes inland regions.
No IoT, no service ecosystem in India.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F5C"/>
                </a:solidFill>
                <a:latin typeface="Helvetica Neue"/>
              </a:rPr>
              <a:t>RO + Borewell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063240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Groundwater replenishes in 75,000 years.
21 cities projected to run dry by 2030.
Table dropping 0.3m/year in coastal 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Helvetica Neue"/>
              </a:rPr>
              <a:t>We pull water directly from air.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177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elvetica Neue"/>
              </a:rPr>
              <a:t>No pipes.  No plastic.  No groundwater extraction.
Just solar energy and atmospheric humidity.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≤260 Wh/L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Energy use
(vs 500–600 rival)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657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221 L/day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663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Water output
per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657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₹2–4/L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663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Cost delivered
vs ₹15–20 bottled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03504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Helvetica Neue"/>
              </a:rPr>
              <a:t>Solar-Hybrid Power  ·  Atmospheric Condensation  ·  Multi-Stage Purification  ·  IoT Remote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111"/>
                </a:solidFill>
                <a:latin typeface="Helvetica Neue"/>
              </a:rPr>
              <a:t>Air in. Safe water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1  Air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94560"/>
            <a:ext cx="7589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Pre-filters remove dust, bacteria, pollen, VOCs. Works 30–95% RH, 10–45°C.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72384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2  Condensation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072384"/>
            <a:ext cx="7589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Refrigeration cools air below dew point. COP up to 4.0 L/kWh — 40% more efficient than industry average.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3  Purification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950208"/>
            <a:ext cx="7589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Sediment → Pre-Carbon → RO → UF → Post-Carbon → Minerals → Ozonization. Exceeds WHO &amp; BIS standards.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280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4 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828032"/>
            <a:ext cx="7589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Food-grade SS304 tank. Optional sugarcane-pulp bottles. Zero plastic. Zero nanoplastics.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705856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5  IoT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705856"/>
            <a:ext cx="7589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ESP32 + cloud dashboard. Real-time TDS, RH, water level, fault alerts. Remote servicing cuts maintenance 60%.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492240"/>
            <a:ext cx="10177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F5C"/>
                </a:solidFill>
                <a:latin typeface="Helvetica Neue"/>
              </a:rPr>
              <a:t>Validated: ISB AIC · MeitY TIDE 2.0 IIM Calcutta · IIM Shillong International Water Conference (1st Prize)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111"/>
                </a:solidFill>
                <a:latin typeface="Helvetica Neue"/>
              </a:rPr>
              <a:t>Three products.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148840"/>
            <a:ext cx="324612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1762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AcquaHT-80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Households &amp;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80 L/day  ·  5 kW  ·  4.0 L/kWh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F5C"/>
                </a:solidFill>
                <a:latin typeface="Helvetica Neue"/>
              </a:rPr>
              <a:t>₹2.8L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Rural family clusters, PHCs, NGO water kiosks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148840"/>
            <a:ext cx="324612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762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AcquaHT-160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432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Commercial &amp; 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46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150 L/day  ·  9 kW  ·  4.0 L/kWh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947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F5C"/>
                </a:solidFill>
                <a:latin typeface="Helvetica Neue"/>
              </a:rPr>
              <a:t>₹3.2L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4805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Schools, hostels, small hotels, corporate campuses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48840"/>
            <a:ext cx="324612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1762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AcquaHT-240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7432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Industrial &amp; Govt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246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250 L/day  ·  15 kW  ·  4.0 L/kWh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7947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F5C"/>
                </a:solidFill>
                <a:latin typeface="Helvetica Neue"/>
              </a:rPr>
              <a:t>₹3.5L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4805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Municipalities, disaster relief, industrial facilities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617220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3F5C"/>
                </a:solidFill>
                <a:latin typeface="Helvetica Neue"/>
              </a:rPr>
              <a:t>All models: Wi-Fi control  ·  Auto-defrost  ·  IP54 rated  ·  Filter replacement every 3–6 months  ·  Operating range 10–45°C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Helvetica Neue"/>
              </a:rPr>
              <a:t>Three forces are converging.
This window opens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F5C"/>
                </a:solidFill>
                <a:latin typeface="Helvetica Neue"/>
              </a:rPr>
              <a:t>Climate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India's monsoon variability up 42% in 15 years.
2024 hottest year on record; atmospheric humidity at all-time highs.
Water-stress events cost India ₹2.5T/year.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30175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F5C"/>
                </a:solidFill>
                <a:latin typeface="Helvetica Neue"/>
              </a:rPr>
              <a:t>Solar Cost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6576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Indian solar module prices down 85% since 2015.
PM Kusum scheme provides subsidised solar for rural installs.
Off-grid solar now cheaper than diesel in 70% of rural India.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0175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F5C"/>
                </a:solidFill>
                <a:latin typeface="Helvetica Neue"/>
              </a:rPr>
              <a:t>Policy &amp; Market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6576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Jal Jeevan Mission: ₹3.6L Crore committed to water access.
NITI Aayog declared water a national emergency; budget doubled.
Smart Cities + state govts tendering decentralised water infra.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30936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F5C"/>
                </a:solidFill>
                <a:latin typeface="Helvetica Neue"/>
              </a:rPr>
              <a:t>2025–2027 is the defining deployment window for AWG in India.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111"/>
                </a:solidFill>
                <a:latin typeface="Helvetica Neue"/>
              </a:rPr>
              <a:t>India first. Then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11111"/>
                </a:solidFill>
                <a:latin typeface="Helvetica Neue"/>
              </a:rPr>
              <a:t>$15.3B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Global AWG market by 2030
(CAGR 19.2%)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788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11111"/>
                </a:solidFill>
                <a:latin typeface="Helvetica Neue"/>
              </a:rPr>
              <a:t>$2.8B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9776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India AWG addressable market
coastal + semi-arid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88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11111"/>
                </a:solidFill>
                <a:latin typeface="Helvetica Neue"/>
              </a:rPr>
              <a:t>₹47Cr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9776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3-year revenue target
500 units by FY2028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10177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Revenue by Segment (FY2028 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F5C"/>
                </a:solidFill>
                <a:latin typeface="Helvetica Neue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26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Government / Municipalities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623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F5C"/>
                </a:solidFill>
                <a:latin typeface="Helvetica Neue"/>
              </a:rPr>
              <a:t>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6126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Hospitality (Hotels / Resorts)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F5C"/>
                </a:solidFill>
                <a:latin typeface="Helvetica Neue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6126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NGO / Social Sector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5623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F5C"/>
                </a:solidFill>
                <a:latin typeface="Helvetica Neue"/>
              </a:rPr>
              <a:t>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6126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Commercial / Industrial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Helvetica Neue"/>
              </a:rPr>
              <a:t>Multiple revenue streams. Recurring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F5C"/>
                </a:solidFill>
                <a:latin typeface="Helvetica Neue"/>
              </a:rPr>
              <a:t>Unit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Helvetica Neue"/>
              </a:rPr>
              <a:t>₹2.8–3.5L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F5C"/>
                </a:solidFill>
                <a:latin typeface="Helvetica Neue"/>
              </a:rPr>
              <a:t>28–32%
gross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One-time hardware. Households, hotels, NGOs, industrial.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F5C"/>
                </a:solidFill>
                <a:latin typeface="Helvetica Neue"/>
              </a:rPr>
              <a:t>IoT Subscription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Helvetica Neue"/>
              </a:rPr>
              <a:t>₹800–1,200
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520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F5C"/>
                </a:solidFill>
                <a:latin typeface="Helvetica Neue"/>
              </a:rPr>
              <a:t>~65%
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5196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Cloud dashboard, remote diagnostics, predictive maintenance. Auto-renewing.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F5C"/>
                </a:solidFill>
                <a:latin typeface="Helvetica Neue"/>
              </a:rPr>
              <a:t>Bottled Water 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Helvetica Neue"/>
              </a:rPr>
              <a:t>₹4–6/litre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20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F5C"/>
                </a:solidFill>
                <a:latin typeface="Helvetica Neue"/>
              </a:rPr>
              <a:t>~40%
gross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5196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Sugarcane-pulp bottles. Zero nanoplastics. Healthcare &amp; hospitality.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F5C"/>
                </a:solidFill>
                <a:latin typeface="Helvetica Neue"/>
              </a:rPr>
              <a:t>Govt Deployments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Helvetica Neue"/>
              </a:rPr>
              <a:t>Tiered /
grant-linked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520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F5C"/>
                </a:solidFill>
                <a:latin typeface="Helvetica Neue"/>
              </a:rPr>
              <a:t>Milestone-
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25196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Municipalities, Jal Jeevan Mission, state water boards.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17220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F5C"/>
                </a:solidFill>
                <a:latin typeface="Helvetica Neue"/>
              </a:rPr>
              <a:t>Unit Economics (AcquaHT-80):  COGS ~₹2.0L  ·  ASP ₹2.8–3.5L  ·  Gross Margin 28–32%  ·  Customer payback: 18–24 months vs. bottled water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8016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MVP built. IP in filing.
We've already won rooms that took others years.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ISB AIC Social Impact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290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12 of 700 applicants selected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MeitY TIDE 2.0 — IIM Calcutta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34290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Entrepreneur-in-Residence · equity-free grant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Mercedes-Benz beVisioneers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290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Selected from 1,000 global innovators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IIM Shillong + Meghalaya Govt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4290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1st Prize ₹2L + 3-year incubation + state water board intro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UN Habitat Youth 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Top 40 · 12 countries · multilateral fund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297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UNDP / Citi Youth Co:Lab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754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National Springboard Final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97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Intinta Innovator — TSIC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54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Telangana State Innovation Cell · state pilot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297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T-Hub · NVIDIA Inception · IIT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754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Active incubation · hardware labs · cloud credits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Helvetica Neue"/>
              </a:rPr>
              <a:t>Founder-market fit at every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Swamynathan Jerra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Helvetica Neue"/>
              </a:rPr>
              <a:t>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EiR IIM Calcutta · Mercedes-Benz beVisioneers · Ex: TGIC, inSIG 2025
B.Tech Mechanical Eng. Grew up in Siddipet, Telangana — lived the problem firsthand.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Vaidhatri Sanugula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Helvetica Neue"/>
              </a:rPr>
              <a:t>Co-Founder — Water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M.Sc Biotechnology. Leads purification R&amp;D, WHO compliance, water testing.
Designed multi-stage filtration: &gt;6-log pathogen kill.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Sumanth Malyala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Helvetica Neue"/>
              </a:rPr>
              <a:t>Co-Founder — R&amp;D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632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B.Tech Mechanical Eng. Leads condensation efficiency &amp; hardware prototyping.
Optimised AWG COP from 2.5 → 4.0 L/kWh in 18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F5C"/>
                </a:solidFill>
                <a:latin typeface="Helvetica Neue"/>
              </a:rPr>
              <a:t>Sai Smaran Nalla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Helvetica Neue"/>
              </a:rPr>
              <a:t>Co-Founder — BD &amp; IoT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0632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B.Tech Computer Science. Built ESP32 cloud monitoring stack from scratch.
Manages T-Hub, NVIDIA Inception, Microsoft Founders Hub, govt channels.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17220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3F5C"/>
                </a:solidFill>
                <a:latin typeface="Helvetica Neue"/>
              </a:rPr>
              <a:t>IIT Hyderabad  ·  T-Hub  ·  NVIDIA Inception  ·  Microsoft Founders Hub  ·  STPI IoT OpenLab  ·  MeitY TIDE 2.0  ·  +2 Technical Interns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111"/>
                </a:solidFill>
                <a:latin typeface="Helvetica Neue"/>
              </a:rPr>
              <a:t>Path to ₹15 Crore revenue by FY2028.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3108960"/>
            <a:ext cx="228600" cy="228600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86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MVP built
IP in filing</a:t>
            </a:r>
          </a:p>
        </p:txBody>
      </p:sp>
      <p:sp>
        <p:nvSpPr>
          <p:cNvPr id="8" name="Oval 7"/>
          <p:cNvSpPr/>
          <p:nvPr/>
        </p:nvSpPr>
        <p:spPr>
          <a:xfrm>
            <a:off x="3813048" y="3108960"/>
            <a:ext cx="228600" cy="228600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3429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3886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First pilot
Patents filed</a:t>
            </a:r>
          </a:p>
        </p:txBody>
      </p:sp>
      <p:sp>
        <p:nvSpPr>
          <p:cNvPr id="11" name="Oval 10"/>
          <p:cNvSpPr/>
          <p:nvPr/>
        </p:nvSpPr>
        <p:spPr>
          <a:xfrm>
            <a:off x="5888736" y="3108960"/>
            <a:ext cx="228600" cy="228600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3429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Q1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3886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Growth-stage
tranche</a:t>
            </a:r>
          </a:p>
        </p:txBody>
      </p:sp>
      <p:sp>
        <p:nvSpPr>
          <p:cNvPr id="14" name="Oval 13"/>
          <p:cNvSpPr/>
          <p:nvPr/>
        </p:nvSpPr>
        <p:spPr>
          <a:xfrm>
            <a:off x="7964424" y="3108960"/>
            <a:ext cx="228600" cy="228600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3429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Q3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3886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First govt
tender win</a:t>
            </a:r>
          </a:p>
        </p:txBody>
      </p:sp>
      <p:sp>
        <p:nvSpPr>
          <p:cNvPr id="17" name="Oval 16"/>
          <p:cNvSpPr/>
          <p:nvPr/>
        </p:nvSpPr>
        <p:spPr>
          <a:xfrm>
            <a:off x="10040112" y="3108960"/>
            <a:ext cx="228600" cy="228600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3429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F5C"/>
                </a:solidFill>
                <a:latin typeface="Helvetica Neue"/>
              </a:rPr>
              <a:t>FY2028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886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Series A
₹2.5 Cr raise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200400"/>
            <a:ext cx="10177272" cy="36576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Helvetica Neue"/>
              </a:rPr>
              <a:t>Unit Economics:  COGS ~₹2.0L  ·  ASP ₹2.8–3.5L  ·  Gross Margin 28–32%  ·  IoT subscription margin ~65%  ·  Customer payback 18–24 months vs. bottled water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Helvetica Neue"/>
              </a:rPr>
              <a:t>Every unit is a measurable
development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F5C"/>
                </a:solidFill>
                <a:latin typeface="Helvetica Neue"/>
              </a:rPr>
              <a:t>40,150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safe water produced per unit/year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F5C"/>
                </a:solidFill>
                <a:latin typeface="Helvetica Neue"/>
              </a:rPr>
              <a:t>40,000+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single-use plastic bottles eliminated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F5C"/>
                </a:solidFill>
                <a:latin typeface="Helvetica Neue"/>
              </a:rPr>
              <a:t>~50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people given reliable water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F5C"/>
                </a:solidFill>
                <a:latin typeface="Helvetica Neue"/>
              </a:rPr>
              <a:t>1.2 tCO₂e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carbon offset vs. diesel pumping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F5C"/>
                </a:solidFill>
                <a:latin typeface="Helvetica Neue"/>
              </a:rPr>
              <a:t>At 500 units (FY2028):  25,000+ people with daily safe water  ·  20M L/yr produced  ·  20M+ plastic bottles eliminated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SDG 6  Clean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5257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SDG 3  Good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5257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SDG 13  Climate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5257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SDG 11  Sustainable Cities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5257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SDG 10  Reduced Inequalities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2636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3F5C"/>
                </a:solidFill>
                <a:latin typeface="Helvetica Neue"/>
              </a:rPr>
              <a:t>Atmospheric water replenishes in 5–7 days. Groundwater takes 75,000 years.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F5C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111"/>
                </a:solidFill>
                <a:latin typeface="Helvetica Neue"/>
              </a:rPr>
              <a:t>Raising ₹10 Lakh Seed 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Helvetica Neue"/>
              </a:rPr>
              <a:t>Complete IP filings, finish integrations, ship first pilot — unlocking a milestone-linked growth-stage tranche of ₹50L–₹1Cr.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F5C"/>
                </a:solidFill>
                <a:latin typeface="Helvetica Neue"/>
              </a:rPr>
              <a:t>40%  ₹4.0L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Helvetica Neue"/>
              </a:rPr>
              <a:t>IP &amp; Patents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Provisional + utility filings on solar-hybrid AWG architecture and IoT stack.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F5C"/>
                </a:solidFill>
                <a:latin typeface="Helvetica Neue"/>
              </a:rPr>
              <a:t>30%  ₹3.0L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Helvetica Neue"/>
              </a:rPr>
              <a:t>Integrations &amp; MVP-to-Pilot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0690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ESP32 cloud stack, sensor calibration, sugarcane-bottle line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F5C"/>
                </a:solidFill>
                <a:latin typeface="Helvetica Neue"/>
              </a:rPr>
              <a:t>20%  ₹2.0L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Helvetica Neue"/>
              </a:rPr>
              <a:t>Compliance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0690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BIS certification, WHO water-quality lab testing, field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F5C"/>
                </a:solidFill>
                <a:latin typeface="Helvetica Neue"/>
              </a:rPr>
              <a:t>10%  ₹1.0L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Helvetica Neue"/>
              </a:rPr>
              <a:t>First Pilot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40690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Helvetica Neue"/>
              </a:rPr>
              <a:t>1 anchor unit deployed with NGO/institutional partner. Live field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217920"/>
            <a:ext cx="10177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3F5C"/>
                </a:solidFill>
                <a:latin typeface="Helvetica Neue"/>
              </a:rPr>
              <a:t>Growth-stage triggers (6–9 months): 1–2 pilot units live  ·  ≥1 patent filed  ·  ≥1 institutional LOI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77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Helvetica Neue"/>
              </a:rPr>
              <a:t>Clean water shouldn't depend
on your pin code.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566160"/>
            <a:ext cx="10177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elvetica Neue"/>
              </a:rPr>
              <a:t>We are solving India's water crisis from the air down.
Join 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70916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Swamynathan Jerra  ·  admin@acquahtlabs.in  ·  acquahtlabs.in  ·  Hyderabad, Telangana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440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2.1B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172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people without
safe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5440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$15B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6172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market by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440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19.2%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172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CAGR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5440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6172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is the 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