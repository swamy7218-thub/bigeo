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772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PIER71 SMART PORT CHALLENGE 2026  ·  MARITIME GREEN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6015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Helvetica Neue"/>
              </a:rPr>
              <a:t>Making Water
From Air —
At Sea.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Helvetica Neue"/>
              </a:rPr>
              <a:t>Solar-powered Atmospheric Water Generation for vessels,
offshore platforms, ports, and island communities.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 Neue"/>
              </a:rPr>
              <a:t>Swamynathan Jerra, Founder &amp; CEO  ·  AcquaHT Labs  ·  Hyderabad,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530352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50T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58978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freshwater/day per
large vessel (avg)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530352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≤260Wh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58978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per litre — 40% less
energy than 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530352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S$250K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58978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PIER71 product
development grant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F5C"/>
                </a:solidFill>
                <a:latin typeface="Helvetica Neue"/>
              </a:rPr>
              <a:t>STRATEGIC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111"/>
                </a:solidFill>
                <a:latin typeface="Helvetica Neue"/>
              </a:rPr>
              <a:t>AcquaHT is built for exactly
what PIER71 is looking for.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4389120" cy="50292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49240" y="2743200"/>
            <a:ext cx="6080760" cy="50292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0720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PIER71 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2807208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AcquaHT Alignment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73552"/>
            <a:ext cx="4389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49240" y="3273552"/>
            <a:ext cx="6080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Maritime Green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337560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Solar-AWG eliminates diesel pumping &amp; plastic bottles onboard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803904"/>
            <a:ext cx="438912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49240" y="3803904"/>
            <a:ext cx="608076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6791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Decarbonisation &amp; IMO 2050 goals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867912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Zero-emissions freshwater — no diesel evaporators, no fuel burn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334256"/>
            <a:ext cx="4389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49240" y="4334256"/>
            <a:ext cx="6080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9826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Water &amp; resource sustainability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398264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Air-sourced water; zero seawater draw; no brine discharge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864608"/>
            <a:ext cx="438912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240" y="4864608"/>
            <a:ext cx="608076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92861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Resilient supply for remote 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4928616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Off-grid, autonomous, IoT-monitored — works with no shore supply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394960"/>
            <a:ext cx="4389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9240" y="5394960"/>
            <a:ext cx="6080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589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ASEAN + island nation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5458968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High-humidity tropics is our peak efficiency zone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925312"/>
            <a:ext cx="438912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49240" y="5925312"/>
            <a:ext cx="608076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9893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Startup Track — early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5989320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ISB, MeitY, IIM, RKVY, T-Hub — 9 programmes, 2 prizes, grants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F5C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11111"/>
                </a:solidFill>
                <a:latin typeface="Helvetica Neue"/>
              </a:rPr>
              <a:t>Water is the invisible
operational crisis at sea.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3F5C"/>
                </a:solidFill>
                <a:latin typeface="Helvetica Neue"/>
              </a:rPr>
              <a:t>50T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freshwater consumed
per vessel per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8728" y="2788920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3F5C"/>
                </a:solidFill>
                <a:latin typeface="Helvetica Neue"/>
              </a:rPr>
              <a:t>$180–
$350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728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per tonne — shore
water resupply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3056" y="2788920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3F5C"/>
                </a:solidFill>
                <a:latin typeface="Helvetica Neue"/>
              </a:rPr>
              <a:t>600Wh/L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3056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energy draw of
conventional AWGs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7384" y="2788920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3F5C"/>
                </a:solidFill>
                <a:latin typeface="Helvetica Neue"/>
              </a:rPr>
              <a:t>2.1B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7384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people globally
lack safe water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·  Large vessels carry 200–500T water tanks — replenished at port or via costly supply vessels.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64608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·  Offshore oil &amp; gas platforms: desalination plant failures halt operations; resupply costs exceed $1,500/tonne in remote fields.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0096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·  Island port communities: no piped grid; 100% dependent on tankers or energy-intensive RO — costs 3–8× mainland rates.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15584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·  IMO 2050 mandates: operators must cut lifecycle emissions — onboard diesel evaporators are directly in the crosshairs.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F5C"/>
                </a:solidFill>
                <a:latin typeface="Helvetica Neue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11111"/>
                </a:solidFill>
                <a:latin typeface="Helvetica Neue"/>
              </a:rPr>
              <a:t>Six high-value deployment segments.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333756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942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Commercial Vessels
&amp; Tankers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06624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Replace diesel evaporators. Reduce port water
resupply cost. No brine discharge.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6552" y="2194560"/>
            <a:ext cx="333756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224942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Offshore Oil &amp; Gas
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2706624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Backup + primary freshwater for platforms
in humid tropics. Zero logistics dependency.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18704" y="2194560"/>
            <a:ext cx="333756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0144" y="224942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Smart Ports &amp;
Terminals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8704" y="2706624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Potable water for port workers &amp; visiting crews.
Reduce tanker deliveries by 60–80%.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79391"/>
            <a:ext cx="333756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34255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Island &amp; Coastal
Communities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91455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Off-grid water for island ports &amp; fishing
harbours. Solar-powered, IoT-managed.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6552" y="4279391"/>
            <a:ext cx="333756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4334255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Shipyards &amp;
Drydock Facilities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4791455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Continuous water supply during construction
&amp; maintenance without grid dependency.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18704" y="4279391"/>
            <a:ext cx="333756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4334255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Naval &amp; Coast
Guard Vessels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18704" y="4791455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Field-deployable backup water supply.
Humid tropical theatre — ideal conditions.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F5C"/>
                </a:solidFill>
                <a:latin typeface="Helvetica Neue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111"/>
                </a:solidFill>
                <a:latin typeface="Helvetica Neue"/>
              </a:rPr>
              <a:t>Every existing maritime water
solution has a fatal flaw.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60320"/>
            <a:ext cx="246888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151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Reverse Osmosis
(Watermakers)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90672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·  Requires high-pressure seawater intake
·  Fails in harbours (turbidity / fouling)
·  Produces brine — regulated discharge
·  400–600 Wh/L energy draw</a:t>
            </a:r>
          </a:p>
        </p:txBody>
      </p:sp>
      <p:sp>
        <p:nvSpPr>
          <p:cNvPr id="8" name="Rectangle 7"/>
          <p:cNvSpPr/>
          <p:nvPr/>
        </p:nvSpPr>
        <p:spPr>
          <a:xfrm>
            <a:off x="3538728" y="2560320"/>
            <a:ext cx="246888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26151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Diesel Evaporators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3090672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·  Directly burns fossil fuel — IMO crosshairs
·  Fails at low vessel speed or anchor
·  High maintenance, skilled crew required
·  No path to IMO 2050 compliance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560320"/>
            <a:ext cx="246888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26151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Shore Water Supply
(Port Delivery)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3090672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·  $180–$350/tonne + logistics overhead
·  Supply vessels add port congestion
·  Unreliable in remote/island ports
·  Zero resilience during emergencies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87384" y="2560320"/>
            <a:ext cx="246888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78824" y="26151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Conventional AWGs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3090672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·  500–600 Wh/L — grid-dependent
·  Fails below 50% RH — not marine-rated
·  No IoT / no remote monitoring
·  Not certified for marine environments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0080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F5C"/>
                </a:solidFill>
                <a:latin typeface="Helvetica Neue"/>
              </a:rPr>
              <a:t>The gap: a solar-hybrid AWG rated for marine environments, that works at 30–95% RH, costs ≤₹4/L, and needs no shore supply.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Helvetica Neue"/>
              </a:rPr>
              <a:t>We pull clean water
directly from ocean air.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Helvetica Neue"/>
              </a:rPr>
              <a:t>No seawater intake.  No brine discharge.  No diesel burn.  No shore supply dependency.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≤260 Wh/L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 Neue"/>
              </a:rPr>
              <a:t>Energy draw
(vs 500–600 rivals)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8728" y="3931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30–95% 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728" y="4709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 Neue"/>
              </a:rPr>
              <a:t>Operational range
(tropical sea air: 70–90%)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3056" y="3931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221 L/day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3056" y="4709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 Neue"/>
              </a:rPr>
              <a:t>Output per unit
(scalable, modular)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7384" y="3931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₹2–4/L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7384" y="4709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 Neue"/>
              </a:rPr>
              <a:t>Delivered cost
vs ₹15–20 bottled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 Neue"/>
              </a:rPr>
              <a:t>Solar-Hybrid Power  ·  Condensation AWG  ·  Multi-Stage Purification  ·  ESP32 IoT Cloud  ·  Marine-Grade Enclosure (roadmap)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F5C"/>
                </a:solidFill>
                <a:latin typeface="Helvetica Neue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11111"/>
                </a:solidFill>
                <a:latin typeface="Helvetica Neue"/>
              </a:rPr>
              <a:t>Air in. WHO-grade water 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03704"/>
            <a:ext cx="2148840" cy="71323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58568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1  Air 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203704"/>
            <a:ext cx="8092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Pre-filters remove dust, bacteria, pollen, salt aerosols, VOCs. Range: 30–95% RH, 10–45°C. Marine-adapted inlet (IP54+, corrosion-resistant).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90672"/>
            <a:ext cx="2148840" cy="71323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45536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2  Condensation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090672"/>
            <a:ext cx="8092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Refrigeration cools air below dew point. COP up to 4.0 L/kWh — 40% more efficient than industry average. No seawater contact.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977640"/>
            <a:ext cx="2148840" cy="71323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32504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3  Purification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977640"/>
            <a:ext cx="8092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Sediment → Pre-Carbon → RO → UF → Post-Carbon → Minerals → Ozonization. Exceeds WHO &amp; BIS drinking water standards.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864608"/>
            <a:ext cx="2148840" cy="71323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919472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4  Solar-Hybrid 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864608"/>
            <a:ext cx="8092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MPPT solar controller + battery buffer. Operates fully off-grid. Zero fuel burn. IMO 2050-aligned from day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751576"/>
            <a:ext cx="2148840" cy="71323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80644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5  IoT &amp; Remote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751576"/>
            <a:ext cx="8092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ESP32 + cloud dashboard. TDS, RH, temperature, water level, fault alerts in real time. Remote servicing cuts maintenance cost 60%.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922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3F5C"/>
                </a:solidFill>
                <a:latin typeface="Helvetica Neue"/>
              </a:rPr>
              <a:t>Validated: ISB AIC · MeitY TIDE 2.0 IIM Calcutta · IIM Shillong 1st Prize · RKVY RAFTAAR Grant · T-Works Hardware Lab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F5C"/>
                </a:solidFill>
                <a:latin typeface="Helvetica Neue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111"/>
                </a:solidFill>
                <a:latin typeface="Helvetica Neue"/>
              </a:rPr>
              <a:t>A $15B+ market.
Maritime is the underpenetrated frontier.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F5C"/>
                </a:solidFill>
                <a:latin typeface="Helvetica Neue"/>
              </a:rPr>
              <a:t>$15.3B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Helvetica Neue"/>
              </a:rPr>
              <a:t>Global AWG
Market by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11111"/>
                </a:solidFill>
                <a:latin typeface="Helvetica Neue"/>
              </a:rPr>
              <a:t>CAGR 19.2% — Spherical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728" y="27432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F5C"/>
                </a:solidFill>
                <a:latin typeface="Helvetica Neue"/>
              </a:rPr>
              <a:t>$2.4B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8728" y="37033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Helvetica Neue"/>
              </a:rPr>
              <a:t>Marine Water
Treatment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4297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11111"/>
                </a:solidFill>
                <a:latin typeface="Helvetica Neue"/>
              </a:rPr>
              <a:t>Growing at 6.5% CAGR — Verified Market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3056" y="27432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F5C"/>
                </a:solidFill>
                <a:latin typeface="Helvetica Neue"/>
              </a:rPr>
              <a:t>$78.6B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37033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Helvetica Neue"/>
              </a:rPr>
              <a:t>Ballast Water
Treatment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4297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11111"/>
                </a:solidFill>
                <a:latin typeface="Helvetica Neue"/>
              </a:rPr>
              <a:t>IMO mandates driving fast adoption — Market Data 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7384" y="27432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F5C"/>
                </a:solidFill>
                <a:latin typeface="Helvetica Neue"/>
              </a:rPr>
              <a:t>98,000+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7384" y="37033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Helvetica Neue"/>
              </a:rPr>
              <a:t>Commercial
Vessels Globally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4297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11111"/>
                </a:solidFill>
                <a:latin typeface="Helvetica Neue"/>
              </a:rPr>
              <a:t>Each needing 20–50T freshwater/day (IMO Fleet Register)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F5C"/>
                </a:solidFill>
                <a:latin typeface="Helvetica Neue"/>
              </a:rPr>
              <a:t>AcquaHT SOM (3-Year):  500 units across maritime sector → ₹47 Cr revenue by FY2028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F5C"/>
                </a:solidFill>
                <a:latin typeface="Helvetica Neue"/>
              </a:rPr>
              <a:t>28%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63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Helvetica Neue"/>
              </a:rPr>
              <a:t>Offshore Platforms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8" y="5760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F5C"/>
                </a:solidFill>
                <a:latin typeface="Helvetica Neue"/>
              </a:rP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6263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Helvetica Neue"/>
              </a:rPr>
              <a:t>Island / Coastal 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5760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F5C"/>
                </a:solidFill>
                <a:latin typeface="Helvetica Neue"/>
              </a:rPr>
              <a:t>22%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6" y="6263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Helvetica Neue"/>
              </a:rPr>
              <a:t>Commercial Vessels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5760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F5C"/>
                </a:solidFill>
                <a:latin typeface="Helvetica Neue"/>
              </a:rPr>
              <a:t>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1464" y="6263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Helvetica Neue"/>
              </a:rPr>
              <a:t>Naval / Coast 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5760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F5C"/>
                </a:solidFill>
                <a:latin typeface="Helvetica Neue"/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6263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Helvetica Neue"/>
              </a:rPr>
              <a:t>Shipyards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F5C"/>
                </a:solidFill>
                <a:latin typeface="Helvetica Neue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111"/>
                </a:solidFill>
                <a:latin typeface="Helvetica Neue"/>
              </a:rPr>
              <a:t>Hardware + SaaS + WaaS.
Recurring revenue from day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06040"/>
            <a:ext cx="246888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609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Unit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Helvetica Neue"/>
              </a:rPr>
              <a:t>₹3.2–3.5L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3F5C"/>
                </a:solidFill>
                <a:latin typeface="Helvetica Neue"/>
              </a:rPr>
              <a:t>28–32%
gross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One-time hardware to vessels, platforms, ports, shipyards. Marine-edition premium pricing.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8728" y="2606040"/>
            <a:ext cx="246888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6609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IoT Subscription
(WaaS)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3154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Helvetica Neue"/>
              </a:rPr>
              <a:t>₹1,000–2,000
/month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931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3F5C"/>
                </a:solidFill>
                <a:latin typeface="Helvetica Neue"/>
              </a:rPr>
              <a:t>~65%
gross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4617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Water-as-a-Service. Remote monitoring, predictive maintenance, compliance reporting for IMO audits.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2606040"/>
            <a:ext cx="246888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26609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Bottled Water
B2B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3154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Helvetica Neue"/>
              </a:rPr>
              <a:t>₹4–6/litre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3931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3F5C"/>
                </a:solidFill>
                <a:latin typeface="Helvetica Neue"/>
              </a:rPr>
              <a:t>~40%
gross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4617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Sugarcane-pulp bottles. Zero nanoplastics. Cruise lines, naval mess, offshore catering.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87384" y="2606040"/>
            <a:ext cx="246888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78824" y="26609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Govt &amp; Port
Contracts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7384" y="3154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Helvetica Neue"/>
              </a:rPr>
              <a:t>Tiered /
grant-linked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3931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3F5C"/>
                </a:solidFill>
                <a:latin typeface="Helvetica Neue"/>
              </a:rPr>
              <a:t>Milestone-
based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4617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Jal Jeevan, port authorities, coast guard. Largest ticket. Long-term anchor contracts.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9224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F5C"/>
                </a:solidFill>
                <a:latin typeface="Helvetica Neue"/>
              </a:rPr>
              <a:t>Unit Economics:  COGS ~₹2.2L  ·  ASP ₹3.2–3.5L  ·  Gross Margin 28–32%  ·  IoT ~65%  ·  Payback 18–24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F5C"/>
                </a:solidFill>
                <a:latin typeface="Helvetica Neue"/>
              </a:rPr>
              <a:t>GAP ANALYSIS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111"/>
                </a:solidFill>
                <a:latin typeface="Helvetica Neue"/>
              </a:rPr>
              <a:t>Where we are today.
Exactly what PIER71 POC funding closes.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3108960" cy="50292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07208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Current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87368" y="2743200"/>
            <a:ext cx="3291840" cy="50292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78808" y="280720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7443216" y="2743200"/>
            <a:ext cx="3657600" cy="50292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34656" y="280720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PIER71-Funded Bridge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73552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375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Tested on land (Telangana field)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7368" y="3273552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33375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Marine-rated enclosure (IP66, anti-corr)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3273552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4656" y="3337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T-Works + PIER71 POC → marine prototype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03904"/>
            <a:ext cx="310896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6791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30–95% RH operational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87368" y="3803904"/>
            <a:ext cx="329184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8808" y="386791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Saltwater air condensation optimisation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43216" y="3803904"/>
            <a:ext cx="365760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34656" y="386791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Material science + field test at Singapore 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334256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398264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ESP32 IoT cloud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87368" y="4334256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8808" y="4398264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AIS / NMEA vessel data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43216" y="4334256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34656" y="4398264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Marine IoT stack — connect to ship systems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864608"/>
            <a:ext cx="310896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928616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BIS / WHO water compliance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87368" y="4864608"/>
            <a:ext cx="329184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78808" y="4928616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MPA / IMO water quality certification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43216" y="4864608"/>
            <a:ext cx="365760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4656" y="4928616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Singapore lab testing during SPC Accelerate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394960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458968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India pilot (NGO, schools)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87368" y="5394960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78808" y="545896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Maritime sector pilot (vessel / port)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43216" y="539496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34656" y="545896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PIER71 corporate partner intro → pilot MOU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5925312"/>
            <a:ext cx="310896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9893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Individual unit sales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87368" y="5925312"/>
            <a:ext cx="329184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78808" y="59893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Fleet / port-wide subscription model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43216" y="5925312"/>
            <a:ext cx="3657600" cy="5029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34656" y="598932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WaaS pricing + contract structure for fleets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F5C"/>
                </a:solidFill>
                <a:latin typeface="Helvetica Neue"/>
              </a:rPr>
              <a:t>TECHNOLOGY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11111"/>
                </a:solidFill>
                <a:latin typeface="Helvetica Neue"/>
              </a:rPr>
              <a:t>Four phases. PIER71 accelerates Phase 2.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468880" cy="6400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Phase 1
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Land-validated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· AWG-80/160/240 tested in Telangana
· ESP32 IoT cloud operational
· WHO/BIS water quality compliance
· 9 accelerators / grants validated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8728" y="2194560"/>
            <a:ext cx="2468880" cy="6400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24028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Phase 2
Q4 2026
(SPC Accelerate)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926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Maritime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347472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· IP66 marine enclosure
· Saltwater-air condensation tuning
· AIS/NMEA maritime IoT integration
· MPA/IMO water cert — Singapore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2194560"/>
            <a:ext cx="2468880" cy="6400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224028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Phase 3
Q2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2926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First Maritime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347472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· Vessel / offshore platform pilot
· Port authority MOU signed
· Water-as-a-Service fleet pricing
· Series A raise ₹2.5 Cr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87384" y="2194560"/>
            <a:ext cx="2468880" cy="64008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78824" y="224028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Phase 4
FY2028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7384" y="2926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Scale Across ASEAN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7384" y="347472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· Singapore hub + India manufacturing
· 500 units deployed
· ₹47 Cr revenue target
· IMO Green Ship certification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49224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F5C"/>
                </a:solidFill>
                <a:latin typeface="Helvetica Neue"/>
              </a:rPr>
              <a:t>PIER71 S$100K POC grant unlocks Phase 2 entirely. S$250K product dev grant funds Phase 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F5C"/>
                </a:solidFill>
                <a:latin typeface="Helvetica Neue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111"/>
                </a:solidFill>
                <a:latin typeface="Helvetica Neue"/>
              </a:rPr>
              <a:t>Three forces converge in 2025–27.
This is the maritime water window.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333756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8094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IMO 2050 Mandate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56432"/>
            <a:ext cx="3337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IMO's net-zero strategy requires shipping to eliminate fossil-fuel water generation by 2050. Diesel evaporators are directly targeted. Operators need compliant alternatives now — not in 2040.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6552" y="2926080"/>
            <a:ext cx="333756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298094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Solar Cost Collapse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3456432"/>
            <a:ext cx="3337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Solar module prices down 85% since 2015. Off-grid solar is now cheaper than diesel in most tropical maritime zones. AWG energy cost dropped with it. Our ₹2/L becomes sub-₹1.5/L by 2027.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18704" y="2926080"/>
            <a:ext cx="333756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0144" y="298094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ASEAN Freshwater Stress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8704" y="3456432"/>
            <a:ext cx="3337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Singapore water price increased 18% in 2024. Island nations in Indonesia, Philippines, and Maldives face acute supply risk. Humidity in these zones: 75–90% RH year-round — peak efficiency for AcquaHT.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49224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F5C"/>
                </a:solidFill>
                <a:latin typeface="Helvetica Neue"/>
              </a:rPr>
              <a:t>2025–2027 is the deployment window. PIER71 is the platform to enter Singapore and ASEAN markets at speed.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9 programmes. 2 prizes.
Grant-backed. Field-tested.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T-Hub Regional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1012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Hyderabad's premier startup hub — most recent selection. Regional programme cohort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4448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ISB AIC Social Impact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331012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12 of 700 applicants. Direct ISB faculty mentorship + impact investor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MeitY TIDE 2.0 — IIM Calcutta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331012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Entrepreneur-in-Residence. Equity-free grant + IIM Calcutta lab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24544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RKVY RAFTAAR Grant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24544" y="331012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Government of India agri-tech grant — equity-free capital for hardware R&amp;D.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IIM Jammu Accelerator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Accelerator programme — business strategy mentorship + institutional network.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BITS Pilani IDEATE Cohort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449884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Deep-tech cohort. Engineering validation and peer review from BITS faculty.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T-Works Prototype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449884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Telangana's advanced manufacturing lab — hardware prototyping and testing support.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4544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AIC RAISE Liftoff Cohort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449884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AI + sustainability-focused accelerator. Product-market fit validation.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IIM Shillong + Meghalaya Govt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8756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1st Prize ₹2L + 3-year incubation + direct state water board introduction.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5257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Mercedes-Benz beVisioneers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568756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Selected from 1,000 global innovators. Mentorship + international summit.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5257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UN Habitat Youth Assembly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568756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Top 40 global. 12 countries. Multilateral water fund access.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544" y="5257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UNDP / Citi Youth Co:Lab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544" y="568756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National Springboard Final 50. UNDP development programme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F5C"/>
                </a:solidFill>
                <a:latin typeface="Helvetica Neue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Helvetica Neue"/>
              </a:rPr>
              <a:t>Founder-market fit.
Built and tested in the field.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60320"/>
            <a:ext cx="246888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151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Swamynathan Jerra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906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5C"/>
                </a:solidFill>
                <a:latin typeface="Helvetica Neue"/>
              </a:rPr>
              <a:t>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EiR IIM Calcutta · T-Hub · Mercedes-Benz beVisioneers
B.Tech Mechanical Eng. Grew up water-insecure in Telangana.
Leads strategy, fundraising, and govt channels.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8728" y="2560320"/>
            <a:ext cx="246888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6151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Vaidhatri Sanugula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30906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5C"/>
                </a:solidFill>
                <a:latin typeface="Helvetica Neue"/>
              </a:rPr>
              <a:t>Co-Founder — Water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36118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M.Sc Biotechnology
WHO/BIS compliance, purification R&amp;D.
Designed &gt;6-log pathogen kill filtration stack.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2560320"/>
            <a:ext cx="246888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26151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Sumanth Malyala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30906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5C"/>
                </a:solidFill>
                <a:latin typeface="Helvetica Neue"/>
              </a:rPr>
              <a:t>Co-Founder — R&amp;D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36118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B.Tech Mechanical Eng
Condensation efficiency, solar-hybrid, hardware.
COP improved 2.5 → 4.0 L/kWh in 18 months.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87384" y="2560320"/>
            <a:ext cx="2468880" cy="457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78824" y="26151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Sai Smaran Nalla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7384" y="30906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5C"/>
                </a:solidFill>
                <a:latin typeface="Helvetica Neue"/>
              </a:rPr>
              <a:t>Co-Founder — BD &amp; IoT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7384" y="36118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B.Tech Computer Science
ESP32 cloud stack from scratch.
Manages T-Hub, NVIDIA Inception, govt tenders.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49224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3F5C"/>
                </a:solidFill>
                <a:latin typeface="Helvetica Neue"/>
              </a:rPr>
              <a:t>Institutional: IIT Hyderabad · T-Hub · NVIDIA Inception · Microsoft Founders Hub · STPI IoT OpenLab · MeitY TIDE 2.0  ·  +2 Technical Interns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F5C"/>
                </a:solidFill>
                <a:latin typeface="Helvetica Neue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Helvetica Neue"/>
              </a:rPr>
              <a:t>Path to ₹47 Crore revenue
by FY2028 — maritime-led.</a:t>
            </a:r>
          </a:p>
        </p:txBody>
      </p:sp>
      <p:sp>
        <p:nvSpPr>
          <p:cNvPr id="5" name="Oval 4"/>
          <p:cNvSpPr/>
          <p:nvPr/>
        </p:nvSpPr>
        <p:spPr>
          <a:xfrm>
            <a:off x="1737360" y="3154680"/>
            <a:ext cx="201168" cy="201168"/>
          </a:xfrm>
          <a:prstGeom prst="ellipse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9 programmes
IP in filing
MVP validated</a:t>
            </a:r>
          </a:p>
        </p:txBody>
      </p:sp>
      <p:sp>
        <p:nvSpPr>
          <p:cNvPr id="8" name="Oval 7"/>
          <p:cNvSpPr/>
          <p:nvPr/>
        </p:nvSpPr>
        <p:spPr>
          <a:xfrm>
            <a:off x="3886200" y="3154680"/>
            <a:ext cx="201168" cy="201168"/>
          </a:xfrm>
          <a:prstGeom prst="ellipse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3474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Q4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9319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SPC Accelerate
Marine prototype
Singapore pilot MOU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0" y="3154680"/>
            <a:ext cx="201168" cy="201168"/>
          </a:xfrm>
          <a:prstGeom prst="ellipse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3474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Q1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9319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Patents filed
MPA cert
Series A raise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154680"/>
            <a:ext cx="201168" cy="201168"/>
          </a:xfrm>
          <a:prstGeom prst="ellipse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3474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Q3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9319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First maritime
pilot live
Fleet pricing</a:t>
            </a:r>
          </a:p>
        </p:txBody>
      </p:sp>
      <p:sp>
        <p:nvSpPr>
          <p:cNvPr id="17" name="Oval 16"/>
          <p:cNvSpPr/>
          <p:nvPr/>
        </p:nvSpPr>
        <p:spPr>
          <a:xfrm>
            <a:off x="10332720" y="3154680"/>
            <a:ext cx="201168" cy="201168"/>
          </a:xfrm>
          <a:prstGeom prst="ellipse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3474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FY2028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9319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500 units
₹47 Cr revenue
ASEAN expansion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218688"/>
            <a:ext cx="10360152" cy="36576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Helvetica Neue"/>
              </a:rPr>
              <a:t>Unit Economics:  COGS ~₹2.2L  ·  ASP ₹3.2–3.5L  ·  Gross Margin 28–32%  ·  IoT margin ~65%  ·  Payback 18–24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PIER71 S$100K (POC) closes the gap between land MVP and maritime prototype in one programme cycle.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F5C"/>
                </a:solidFill>
                <a:latin typeface="Helvetica Neue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Helvetica Neue"/>
              </a:rPr>
              <a:t>Every unit is a measurable
SDG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3F5C"/>
                </a:solidFill>
                <a:latin typeface="Helvetica Neue"/>
              </a:rPr>
              <a:t>40,150 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safe water
produced/unit/year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8728" y="2834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3F5C"/>
                </a:solidFill>
                <a:latin typeface="Helvetica Neue"/>
              </a:rPr>
              <a:t>40,000+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728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single-use bottles
eliminated/unit/year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3056" y="2834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3F5C"/>
                </a:solidFill>
                <a:latin typeface="Helvetica Neue"/>
              </a:rPr>
              <a:t>1.2 tCO₂e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3056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carbon offset
vs diesel pumping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7384" y="2834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3F5C"/>
                </a:solidFill>
                <a:latin typeface="Helvetica Neue"/>
              </a:rPr>
              <a:t>~50 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7384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given reliable daily
water access per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5C"/>
                </a:solidFill>
                <a:latin typeface="Helvetica Neue"/>
              </a:rPr>
              <a:t>At 500 units (FY2028 target):  25,000+ people with daily safe water  ·  20M L/yr produced  ·  20M+ bottles eliminated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SDG 6  Clean Water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53492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SDG 3  Good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53492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SDG 13  Climate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1464" y="53492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SDG 14  Life Below Water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53492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Helvetica Neue"/>
              </a:rPr>
              <a:t>SDG 11  Sustainable Cities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6364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F5C"/>
                </a:solidFill>
                <a:latin typeface="Helvetica Neue"/>
              </a:rPr>
              <a:t>SDG 14 (Life Below Water) is directly relevant to PIER71 — zero brine discharge, no seawater extraction.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F5C"/>
                </a:solidFill>
                <a:latin typeface="Helvetica Neue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Helvetica Neue"/>
              </a:rPr>
              <a:t>Applying for PIER71 Startup Track.
S$100K POC grant.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  <a:latin typeface="Helvetica Neue"/>
              </a:rPr>
              <a:t>AcquaHT is applying to the PIER71 Smart Port Challenge 2026 under the Maritime Green Technologies theme.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F5C"/>
                </a:solidFill>
                <a:latin typeface="Helvetica Neue"/>
              </a:rPr>
              <a:t>S$40K
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Helvetica Neue"/>
              </a:rPr>
              <a:t>Marine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IP66 enclosure, corrosion-resistant materials, saltwater-air condensation optimisation.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8728" y="3337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F5C"/>
                </a:solidFill>
                <a:latin typeface="Helvetica Neue"/>
              </a:rPr>
              <a:t>S$30K
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Helvetica Neue"/>
              </a:rPr>
              <a:t>Maritime Certification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46634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MPA / IMO water quality lab testing. Singapore BCA/NEA compliance certification.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3337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F5C"/>
                </a:solidFill>
                <a:latin typeface="Helvetica Neue"/>
              </a:rPr>
              <a:t>S$20K
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Helvetica Neue"/>
              </a:rPr>
              <a:t>IoT Maritime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46634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AIS / NMEA vessel data integration. Fleet dashboard. Remote monitoring for ship operators.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7384" y="3337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F5C"/>
                </a:solidFill>
                <a:latin typeface="Helvetica Neue"/>
              </a:rPr>
              <a:t>S$10K
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Helvetica Neue"/>
              </a:rPr>
              <a:t>Pilot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7384" y="46634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Helvetica Neue"/>
              </a:rPr>
              <a:t>1 anchor pilot with PIER71 corporate partner — vessel, port terminal, or offshore facility.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465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F5C"/>
                </a:solidFill>
                <a:latin typeface="Helvetica Neue"/>
              </a:rPr>
              <a:t>What we bring to PIER71:  Land-validated MVP  ·  9 programmes &amp; grants  ·  Full team  ·  IP in filing  ·  Immediate deployment readiness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Helvetica Neue"/>
              </a:rPr>
              <a:t>The ocean is surrounded
by water no one can drink.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290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Helvetica Neue"/>
              </a:rPr>
              <a:t>We change that — from the air down.
Join us at PIER71.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Swamynathan Jerra  ·  admin@acquahtlabs.in  ·  acquahtlabs.in  ·  Hyderabad,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Helvetica Neue"/>
              </a:rPr>
              <a:t>$15.3B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 Neue"/>
              </a:rPr>
              <a:t>AWG market
by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8728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Helvetica Neue"/>
              </a:rPr>
              <a:t>19.2%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728" y="6035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 Neue"/>
              </a:rPr>
              <a:t>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3056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Helvetica Neue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3056" y="6035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 Neue"/>
              </a:rPr>
              <a:t>programmes
&amp; grants won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7384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Helvetica Neue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7384" y="6035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 Neue"/>
              </a:rPr>
              <a:t>is the window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